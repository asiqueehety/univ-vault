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66"/>
  </p:notesMasterIdLst>
  <p:handoutMasterIdLst>
    <p:handoutMasterId r:id="rId67"/>
  </p:handoutMasterIdLst>
  <p:sldIdLst>
    <p:sldId id="342" r:id="rId2"/>
    <p:sldId id="416" r:id="rId3"/>
    <p:sldId id="417" r:id="rId4"/>
    <p:sldId id="443" r:id="rId5"/>
    <p:sldId id="444" r:id="rId6"/>
    <p:sldId id="445" r:id="rId7"/>
    <p:sldId id="446" r:id="rId8"/>
    <p:sldId id="447" r:id="rId9"/>
    <p:sldId id="458" r:id="rId10"/>
    <p:sldId id="329" r:id="rId11"/>
    <p:sldId id="459" r:id="rId12"/>
    <p:sldId id="317" r:id="rId13"/>
    <p:sldId id="318" r:id="rId14"/>
    <p:sldId id="415" r:id="rId15"/>
    <p:sldId id="460" r:id="rId16"/>
    <p:sldId id="319" r:id="rId17"/>
    <p:sldId id="448" r:id="rId18"/>
    <p:sldId id="320" r:id="rId19"/>
    <p:sldId id="331" r:id="rId20"/>
    <p:sldId id="321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53" r:id="rId29"/>
    <p:sldId id="454" r:id="rId30"/>
    <p:sldId id="455" r:id="rId31"/>
    <p:sldId id="456" r:id="rId32"/>
    <p:sldId id="457" r:id="rId33"/>
    <p:sldId id="347" r:id="rId34"/>
    <p:sldId id="264" r:id="rId35"/>
    <p:sldId id="449" r:id="rId36"/>
    <p:sldId id="450" r:id="rId37"/>
    <p:sldId id="452" r:id="rId38"/>
    <p:sldId id="345" r:id="rId39"/>
    <p:sldId id="373" r:id="rId40"/>
    <p:sldId id="375" r:id="rId41"/>
    <p:sldId id="334" r:id="rId42"/>
    <p:sldId id="265" r:id="rId43"/>
    <p:sldId id="348" r:id="rId44"/>
    <p:sldId id="377" r:id="rId45"/>
    <p:sldId id="267" r:id="rId46"/>
    <p:sldId id="268" r:id="rId47"/>
    <p:sldId id="350" r:id="rId48"/>
    <p:sldId id="414" r:id="rId49"/>
    <p:sldId id="404" r:id="rId50"/>
    <p:sldId id="270" r:id="rId51"/>
    <p:sldId id="274" r:id="rId52"/>
    <p:sldId id="357" r:id="rId53"/>
    <p:sldId id="411" r:id="rId54"/>
    <p:sldId id="412" r:id="rId55"/>
    <p:sldId id="413" r:id="rId56"/>
    <p:sldId id="418" r:id="rId57"/>
    <p:sldId id="280" r:id="rId58"/>
    <p:sldId id="282" r:id="rId59"/>
    <p:sldId id="283" r:id="rId60"/>
    <p:sldId id="359" r:id="rId61"/>
    <p:sldId id="290" r:id="rId62"/>
    <p:sldId id="302" r:id="rId63"/>
    <p:sldId id="423" r:id="rId64"/>
    <p:sldId id="330" r:id="rId6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3">
          <p15:clr>
            <a:srgbClr val="A4A3A4"/>
          </p15:clr>
        </p15:guide>
        <p15:guide id="2" pos="5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0033CC"/>
    <a:srgbClr val="FFCCFF"/>
    <a:srgbClr val="99CCFF"/>
    <a:srgbClr val="CC3300"/>
    <a:srgbClr val="FF0000"/>
    <a:srgbClr val="3333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9" autoAdjust="0"/>
    <p:restoredTop sz="88172" autoAdjust="0"/>
  </p:normalViewPr>
  <p:slideViewPr>
    <p:cSldViewPr snapToGrid="0">
      <p:cViewPr varScale="1">
        <p:scale>
          <a:sx n="77" d="100"/>
          <a:sy n="77" d="100"/>
        </p:scale>
        <p:origin x="1579" y="72"/>
      </p:cViewPr>
      <p:guideLst>
        <p:guide orient="horz" pos="733"/>
        <p:guide pos="58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505" tIns="49753" rIns="99505" bIns="49753" numCol="1" anchor="t" anchorCtr="0" compatLnSpc="1">
            <a:prstTxWarp prst="textNoShape">
              <a:avLst/>
            </a:prstTxWarp>
          </a:bodyPr>
          <a:lstStyle>
            <a:lvl1pPr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505" tIns="49753" rIns="99505" bIns="49753" numCol="1" anchor="t" anchorCtr="0" compatLnSpc="1">
            <a:prstTxWarp prst="textNoShape">
              <a:avLst/>
            </a:prstTxWarp>
          </a:bodyPr>
          <a:lstStyle>
            <a:lvl1pPr algn="r"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4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505" tIns="49753" rIns="99505" bIns="49753" numCol="1" anchor="b" anchorCtr="0" compatLnSpc="1">
            <a:prstTxWarp prst="textNoShape">
              <a:avLst/>
            </a:prstTxWarp>
          </a:bodyPr>
          <a:lstStyle>
            <a:lvl1pPr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4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505" tIns="49753" rIns="99505" bIns="49753" numCol="1" anchor="b" anchorCtr="0" compatLnSpc="1">
            <a:prstTxWarp prst="textNoShape">
              <a:avLst/>
            </a:prstTxWarp>
          </a:bodyPr>
          <a:lstStyle>
            <a:lvl1pPr algn="r" defTabSz="995363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A911996-7E0E-485D-9C66-4A2479D7BD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14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9505" tIns="49753" rIns="99505" bIns="49753" numCol="1" anchor="ctr" anchorCtr="0" compatLnSpc="1">
            <a:prstTxWarp prst="textNoShape">
              <a:avLst/>
            </a:prstTxWarp>
          </a:bodyPr>
          <a:lstStyle>
            <a:lvl1pPr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9505" tIns="49753" rIns="99505" bIns="49753" numCol="1" anchor="ctr" anchorCtr="0" compatLnSpc="1">
            <a:prstTxWarp prst="textNoShape">
              <a:avLst/>
            </a:prstTxWarp>
          </a:bodyPr>
          <a:lstStyle>
            <a:lvl1pPr algn="r"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9505" tIns="49753" rIns="99505" bIns="497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9505" tIns="49753" rIns="99505" bIns="49753" numCol="1" anchor="b" anchorCtr="0" compatLnSpc="1">
            <a:prstTxWarp prst="textNoShape">
              <a:avLst/>
            </a:prstTxWarp>
          </a:bodyPr>
          <a:lstStyle>
            <a:lvl1pPr defTabSz="995363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9505" tIns="49753" rIns="99505" bIns="49753" numCol="1" anchor="b" anchorCtr="0" compatLnSpc="1">
            <a:prstTxWarp prst="textNoShape">
              <a:avLst/>
            </a:prstTxWarp>
          </a:bodyPr>
          <a:lstStyle>
            <a:lvl1pPr algn="r" defTabSz="995363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1CAA60D-9F1A-41D3-ADAA-7471F180BE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115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9AFF69D-A8E3-4C1A-B43C-C946A7FFFDEE}" type="slidenum">
              <a:rPr lang="en-US" sz="1300" smtClean="0">
                <a:latin typeface="Times New Roman" panose="02020603050405020304" pitchFamily="18" charset="0"/>
              </a:rPr>
              <a:pPr/>
              <a:t>1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89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1C07DE-DA20-4217-B91C-55FA724E7BD2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603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17C4D0E-10BE-41E0-A0AF-FD2B0011F8A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414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15C7E4C-29A1-4ED6-8D81-6DB7BB775B79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882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AEC5DC-5E4F-4639-8D2D-6BB23BF9650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6338" y="693738"/>
            <a:ext cx="4643437" cy="3482975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893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71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A450BD-08BE-4C06-8125-BBFA1D5AB41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33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539C29-DF58-4677-B4D9-0CC127174E2D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3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2CACEA-96F7-41D9-A638-F44E853DC1F9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07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A18F2D-D4E4-4C99-9424-81DA77918E26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990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485296F-6F12-427C-9759-2F6370B6E6D7}" type="slidenum">
              <a:rPr lang="en-US" sz="1300" smtClean="0">
                <a:latin typeface="Times New Roman" panose="02020603050405020304" pitchFamily="18" charset="0"/>
              </a:rPr>
              <a:pPr/>
              <a:t>53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34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E3438B7-8CA7-450B-A4D1-627E703D83C3}" type="slidenum">
              <a:rPr lang="en-US" sz="1300" smtClean="0">
                <a:latin typeface="Times New Roman" panose="02020603050405020304" pitchFamily="18" charset="0"/>
              </a:rPr>
              <a:pPr/>
              <a:t>54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034" tIns="48018" rIns="96034" bIns="4801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92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95363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59F3578-B8B6-4542-AB5F-EBA876B626CD}" type="slidenum">
              <a:rPr lang="en-US" sz="1300" smtClean="0">
                <a:latin typeface="Times New Roman" panose="02020603050405020304" pitchFamily="18" charset="0"/>
              </a:rPr>
              <a:pPr/>
              <a:t>55</a:t>
            </a:fld>
            <a:endParaRPr 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034" tIns="48018" rIns="96034" bIns="48018"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68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D97341-0F75-4F31-8AC6-A8FB213BD549}" type="slidenum">
              <a:rPr lang="en-US"/>
              <a:pPr/>
              <a:t>56</a:t>
            </a:fld>
            <a:endParaRPr lang="en-US"/>
          </a:p>
        </p:txBody>
      </p:sp>
      <p:sp>
        <p:nvSpPr>
          <p:cNvPr id="65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14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8DF86E-0385-4E7C-82B3-654758E8AEBF}" type="slidenum">
              <a:rPr lang="en-US" altLang="en-US" sz="1200"/>
              <a:pPr/>
              <a:t>63</a:t>
            </a:fld>
            <a:endParaRPr lang="en-US" altLang="en-US" sz="1200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73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95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5CCC8-962D-4619-8270-5FC907D9E7DA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D9D82-B601-4D26-8C89-A5F495EFD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01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9A36B-48D0-4C93-A34C-93A668B80EF9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11C7E-4C1B-450A-9A49-37A0401F8B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84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C0DCE-517F-471D-8731-96D5DBDE2CB5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529A9-A004-4528-B73D-BBA01FB3BE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94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9B3AD1-2968-4DAD-8663-9664E12D519F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D91F2-9775-4133-A633-CCBC6BF09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15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71B57-1288-441E-A76F-B00066E49B10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39827-FC9F-4972-A4A2-C127F88CF8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2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29A58-415B-41EA-8825-1A4F1484C9F5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1A1-A59C-45AB-95D4-0570908F8C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7F6BF-90E2-4217-9CFD-809D7F37EDC1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F1FED71-D23B-4309-93FC-73FEA42E84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D06B2-6BE7-48A5-8326-45441EF4B6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B4E10-1433-4D8B-ACCF-55B96330858C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82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D8EF3-3934-4853-9BC2-D3530B175D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3D09B-ED85-4E9A-AE2B-26D67A316C23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80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F925-71C4-46FF-8A7A-6CEB6F2D6630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E1919-2B48-4BE2-9CB5-9179A36D2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14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" name="Rectangle 21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1B09C-B04B-49A7-887C-9AF5E7718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46FE0-95F3-4A3F-BF74-234BD631D21F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Azhar, KUET</a:t>
            </a:r>
          </a:p>
        </p:txBody>
      </p:sp>
    </p:spTree>
    <p:extLst>
      <p:ext uri="{BB962C8B-B14F-4D97-AF65-F5344CB8AC3E}">
        <p14:creationId xmlns:p14="http://schemas.microsoft.com/office/powerpoint/2010/main" val="2009201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65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215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0094843-F5D7-409E-827B-B34954A6E4C8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>
                <a:solidFill>
                  <a:srgbClr val="7B9899"/>
                </a:solidFill>
              </a:defRPr>
            </a:lvl1pPr>
          </a:lstStyle>
          <a:p>
            <a:pPr>
              <a:defRPr/>
            </a:pPr>
            <a:fld id="{44C806C5-2A2C-48C5-BC5F-A1AE53D545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6" r:id="rId1"/>
    <p:sldLayoutId id="2147484447" r:id="rId2"/>
    <p:sldLayoutId id="2147484448" r:id="rId3"/>
    <p:sldLayoutId id="2147484449" r:id="rId4"/>
    <p:sldLayoutId id="2147484450" r:id="rId5"/>
    <p:sldLayoutId id="2147484451" r:id="rId6"/>
    <p:sldLayoutId id="2147484452" r:id="rId7"/>
    <p:sldLayoutId id="2147484453" r:id="rId8"/>
    <p:sldLayoutId id="2147484454" r:id="rId9"/>
    <p:sldLayoutId id="2147484455" r:id="rId10"/>
    <p:sldLayoutId id="2147484456" r:id="rId11"/>
    <p:sldLayoutId id="214748445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anose="05020102010507070707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anose="05000000000000000000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k. m. </a:t>
            </a:r>
            <a:r>
              <a:rPr lang="en-US" dirty="0" err="1"/>
              <a:t>azharul</a:t>
            </a:r>
            <a:r>
              <a:rPr lang="en-US" dirty="0"/>
              <a:t> </a:t>
            </a:r>
            <a:r>
              <a:rPr lang="en-US" dirty="0" err="1"/>
              <a:t>hasan</a:t>
            </a:r>
            <a:endParaRPr lang="en-US" dirty="0"/>
          </a:p>
          <a:p>
            <a:pPr>
              <a:defRPr/>
            </a:pPr>
            <a:r>
              <a:rPr lang="en-US" dirty="0"/>
              <a:t>Dept. of </a:t>
            </a:r>
            <a:r>
              <a:rPr lang="en-US" dirty="0" err="1"/>
              <a:t>cse</a:t>
            </a:r>
            <a:r>
              <a:rPr lang="en-US" dirty="0"/>
              <a:t>, </a:t>
            </a:r>
            <a:r>
              <a:rPr lang="en-US" dirty="0" err="1"/>
              <a:t>kuet</a:t>
            </a:r>
            <a:endParaRPr lang="en-US" dirty="0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3">
                    <a:shade val="75000"/>
                  </a:schemeClr>
                </a:solidFill>
              </a:rPr>
              <a:t>Relational  Database Design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026122-1F5A-441E-93C2-A04333F96AFB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5D9D82-B601-4D26-8C89-A5F495EFD46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Pitfalls in Relational Database Design</a:t>
            </a:r>
          </a:p>
        </p:txBody>
      </p:sp>
      <p:sp>
        <p:nvSpPr>
          <p:cNvPr id="1843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614F134-93F4-4664-9749-D19041623B5A}" type="slidenum">
              <a:rPr lang="en-US" smtClean="0">
                <a:solidFill>
                  <a:srgbClr val="7B9899"/>
                </a:solidFill>
              </a:rPr>
              <a:pPr/>
              <a:t>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18437" name="Rectangle 3"/>
          <p:cNvSpPr txBox="1">
            <a:spLocks noChangeArrowheads="1"/>
          </p:cNvSpPr>
          <p:nvPr/>
        </p:nvSpPr>
        <p:spPr bwMode="auto">
          <a:xfrm>
            <a:off x="301625" y="1447801"/>
            <a:ext cx="8610600" cy="4788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47688" indent="-2730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822325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096963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3716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r>
              <a:rPr lang="en-US" dirty="0"/>
              <a:t>Relational database design requires to find  </a:t>
            </a:r>
          </a:p>
          <a:p>
            <a:pPr lvl="1"/>
            <a:r>
              <a:rPr lang="en-US" dirty="0"/>
              <a:t>a “good” collection of relation schemas.</a:t>
            </a:r>
          </a:p>
          <a:p>
            <a:r>
              <a:rPr lang="en-US" dirty="0"/>
              <a:t>  A bad design may lead to </a:t>
            </a:r>
          </a:p>
          <a:p>
            <a:pPr lvl="1"/>
            <a:r>
              <a:rPr lang="en-US" dirty="0" smtClean="0"/>
              <a:t>repetition </a:t>
            </a:r>
            <a:r>
              <a:rPr lang="en-US" dirty="0"/>
              <a:t>of information.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nability </a:t>
            </a:r>
            <a:r>
              <a:rPr lang="en-US" dirty="0"/>
              <a:t>to represent certain or all information.</a:t>
            </a:r>
          </a:p>
          <a:p>
            <a:r>
              <a:rPr lang="en-US" dirty="0"/>
              <a:t>Design Goals: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avoid </a:t>
            </a:r>
            <a:r>
              <a:rPr lang="en-US" dirty="0">
                <a:solidFill>
                  <a:srgbClr val="FF0000"/>
                </a:solidFill>
              </a:rPr>
              <a:t>redundant </a:t>
            </a:r>
            <a:r>
              <a:rPr lang="en-US" dirty="0"/>
              <a:t>data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 smtClean="0">
                <a:solidFill>
                  <a:srgbClr val="FF0000"/>
                </a:solidFill>
              </a:rPr>
              <a:t>nsure </a:t>
            </a:r>
            <a:r>
              <a:rPr lang="en-US" dirty="0">
                <a:solidFill>
                  <a:srgbClr val="FF0000"/>
                </a:solidFill>
              </a:rPr>
              <a:t>that relationships </a:t>
            </a:r>
            <a:r>
              <a:rPr lang="en-US" dirty="0"/>
              <a:t>among attributes </a:t>
            </a:r>
            <a:endParaRPr lang="en-US" dirty="0" smtClean="0"/>
          </a:p>
          <a:p>
            <a:pPr lvl="1"/>
            <a:r>
              <a:rPr lang="en-US" dirty="0"/>
              <a:t>f</a:t>
            </a:r>
            <a:r>
              <a:rPr lang="en-US" dirty="0" smtClean="0"/>
              <a:t>acilitate </a:t>
            </a:r>
            <a:r>
              <a:rPr lang="en-US" dirty="0"/>
              <a:t>the checking of </a:t>
            </a:r>
            <a:r>
              <a:rPr lang="en-US" dirty="0">
                <a:solidFill>
                  <a:srgbClr val="FF0000"/>
                </a:solidFill>
              </a:rPr>
              <a:t>updates</a:t>
            </a:r>
            <a:r>
              <a:rPr lang="en-US" dirty="0"/>
              <a:t> for violation of database </a:t>
            </a:r>
            <a:r>
              <a:rPr lang="en-US" dirty="0">
                <a:solidFill>
                  <a:srgbClr val="FF0000"/>
                </a:solidFill>
              </a:rPr>
              <a:t>integrity constraints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0F1ECC-175A-4E8A-A4F6-46D8B2D5E70F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Pitfall Example</a:t>
            </a:r>
            <a:endParaRPr lang="en-US" dirty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3143F7D-B7BF-45E9-9AC8-A2C5B14A4E70}" type="slidenum">
              <a:rPr lang="en-US" smtClean="0">
                <a:solidFill>
                  <a:srgbClr val="7B9899"/>
                </a:solidFill>
              </a:rPr>
              <a:pPr/>
              <a:t>3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19461" name="Rectangle 3"/>
          <p:cNvSpPr txBox="1">
            <a:spLocks noChangeArrowheads="1"/>
          </p:cNvSpPr>
          <p:nvPr/>
        </p:nvSpPr>
        <p:spPr bwMode="auto">
          <a:xfrm>
            <a:off x="218661" y="1309688"/>
            <a:ext cx="8714324" cy="5030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tabLst>
                <a:tab pos="625475" algn="l"/>
                <a:tab pos="2574925" algn="l"/>
              </a:tabLst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47688" indent="-2730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tabLst>
                <a:tab pos="625475" algn="l"/>
                <a:tab pos="2574925" algn="l"/>
              </a:tabLst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822325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096963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tabLst>
                <a:tab pos="625475" algn="l"/>
                <a:tab pos="2574925" algn="l"/>
              </a:tabLst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371600" indent="-228600">
              <a:spcBef>
                <a:spcPct val="20000"/>
              </a:spcBef>
              <a:buClr>
                <a:srgbClr val="8FB08C"/>
              </a:buClr>
              <a:buChar char="•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1828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286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2743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200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tabLst>
                <a:tab pos="625475" algn="l"/>
                <a:tab pos="2574925" algn="l"/>
              </a:tabLst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r>
              <a:rPr lang="en-US" sz="1800" dirty="0"/>
              <a:t>Consider the relation </a:t>
            </a:r>
            <a:r>
              <a:rPr lang="en-US" sz="1800" dirty="0" smtClean="0"/>
              <a:t>schema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 	   </a:t>
            </a:r>
            <a:r>
              <a:rPr lang="en-US" sz="1800" i="1" dirty="0"/>
              <a:t>Lending-schema </a:t>
            </a:r>
            <a:r>
              <a:rPr lang="en-US" sz="1800" dirty="0"/>
              <a:t>= (</a:t>
            </a:r>
            <a:r>
              <a:rPr lang="en-US" sz="1800" i="1" dirty="0"/>
              <a:t>branch-name, branch-city, assets, </a:t>
            </a:r>
            <a:br>
              <a:rPr lang="en-US" sz="1800" i="1" dirty="0"/>
            </a:br>
            <a:r>
              <a:rPr lang="en-US" sz="1800" i="1" dirty="0"/>
              <a:t>		      customer-name, loan-number, amount)</a:t>
            </a:r>
          </a:p>
          <a:p>
            <a:pPr>
              <a:buFont typeface="Monotype Sorts" pitchFamily="2" charset="2"/>
              <a:buNone/>
            </a:pPr>
            <a:endParaRPr lang="en-US" sz="1800" i="1" dirty="0"/>
          </a:p>
          <a:p>
            <a:pPr>
              <a:buFont typeface="Monotype Sorts" pitchFamily="2" charset="2"/>
              <a:buNone/>
            </a:pPr>
            <a:endParaRPr lang="en-US" sz="1800" i="1" dirty="0"/>
          </a:p>
          <a:p>
            <a:pPr>
              <a:buFont typeface="Monotype Sorts" pitchFamily="2" charset="2"/>
              <a:buNone/>
            </a:pPr>
            <a:endParaRPr lang="en-US" sz="1800" dirty="0"/>
          </a:p>
          <a:p>
            <a:pPr>
              <a:buFont typeface="Monotype Sorts" pitchFamily="2" charset="2"/>
              <a:buNone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Redundancy:</a:t>
            </a:r>
          </a:p>
          <a:p>
            <a:pPr lvl="1"/>
            <a:r>
              <a:rPr lang="en-US" sz="1600" dirty="0"/>
              <a:t>Data for </a:t>
            </a:r>
            <a:r>
              <a:rPr lang="en-US" sz="1600" i="1" dirty="0"/>
              <a:t>branch-name, branch-city, </a:t>
            </a:r>
            <a:r>
              <a:rPr lang="en-US" sz="1600" dirty="0"/>
              <a:t>assets are repeated for each loan that a branch makes</a:t>
            </a:r>
          </a:p>
          <a:p>
            <a:pPr lvl="2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Wastes space </a:t>
            </a:r>
          </a:p>
          <a:p>
            <a:pPr lvl="2"/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Complicates updating, introducing possibility of inconsistency of </a:t>
            </a:r>
            <a:r>
              <a:rPr lang="en-US" sz="1400" i="1" dirty="0">
                <a:solidFill>
                  <a:schemeClr val="accent6">
                    <a:lumMod val="75000"/>
                  </a:schemeClr>
                </a:solidFill>
              </a:rPr>
              <a:t>assets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accent6">
                    <a:lumMod val="75000"/>
                  </a:schemeClr>
                </a:solidFill>
              </a:rPr>
              <a:t>value as many rows to update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800" dirty="0"/>
              <a:t>Null values</a:t>
            </a:r>
          </a:p>
          <a:p>
            <a:pPr lvl="1"/>
            <a:r>
              <a:rPr lang="en-US" sz="1600" dirty="0"/>
              <a:t>Cannot store information about a branch if no loans exist </a:t>
            </a:r>
          </a:p>
          <a:p>
            <a:pPr lvl="1"/>
            <a:r>
              <a:rPr lang="en-US" sz="1600" dirty="0"/>
              <a:t>Can use null values, but they are difficult to handle.</a:t>
            </a:r>
          </a:p>
          <a:p>
            <a:pPr lvl="1"/>
            <a:endParaRPr lang="en-US" sz="1600" dirty="0"/>
          </a:p>
        </p:txBody>
      </p:sp>
      <p:pic>
        <p:nvPicPr>
          <p:cNvPr id="194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" t="18605" r="1163" b="52428"/>
          <a:stretch>
            <a:fillRect/>
          </a:stretch>
        </p:blipFill>
        <p:spPr bwMode="auto">
          <a:xfrm>
            <a:off x="654050" y="2281238"/>
            <a:ext cx="7607300" cy="14176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9A94AE-71D7-409E-9A3C-95FFB9828290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60839"/>
            <a:ext cx="8534400" cy="4468656"/>
          </a:xfrm>
        </p:spPr>
        <p:txBody>
          <a:bodyPr/>
          <a:lstStyle/>
          <a:p>
            <a:r>
              <a:rPr lang="en-US" altLang="en-US" sz="2000" dirty="0"/>
              <a:t>The only way to avoid the repetition-of-information problem  is </a:t>
            </a:r>
          </a:p>
          <a:p>
            <a:pPr lvl="1"/>
            <a:r>
              <a:rPr lang="en-US" altLang="en-US" sz="2000" dirty="0"/>
              <a:t>to decompose it into two schemas.</a:t>
            </a:r>
          </a:p>
          <a:p>
            <a:r>
              <a:rPr lang="en-US" altLang="en-US" sz="2000" dirty="0"/>
              <a:t>Not all decompositions are good. </a:t>
            </a:r>
          </a:p>
          <a:p>
            <a:endParaRPr lang="en-US" altLang="en-US" sz="2000" dirty="0"/>
          </a:p>
          <a:p>
            <a:r>
              <a:rPr lang="en-US" altLang="en-US" sz="2000" dirty="0"/>
              <a:t> Suppose we decompose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i="1" dirty="0"/>
              <a:t>       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employee(ID, name, street, city, salary)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/>
              <a:t>       into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/>
              <a:t>	       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employee1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ID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name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	       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employee2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name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altLang="en-US" sz="2000" i="1" dirty="0">
                <a:solidFill>
                  <a:schemeClr val="accent6">
                    <a:lumMod val="75000"/>
                  </a:schemeClr>
                </a:solidFill>
              </a:rPr>
              <a:t>street, city, salary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FF0000"/>
                </a:solidFill>
              </a:rPr>
              <a:t>      The problem arises when we have two employees with the same name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06A23D-AE84-48E2-8709-EBF7D05E3966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6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A Lossy Decomposition</a:t>
            </a:r>
          </a:p>
        </p:txBody>
      </p:sp>
      <p:pic>
        <p:nvPicPr>
          <p:cNvPr id="11267" name="Picture 5" descr="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066" y="1543987"/>
            <a:ext cx="6145134" cy="47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62BEA9-2F2A-4319-9DD0-4D97D3E1D6CE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2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Lossless Decomposition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483533"/>
            <a:ext cx="8534400" cy="4160964"/>
          </a:xfrm>
        </p:spPr>
        <p:txBody>
          <a:bodyPr/>
          <a:lstStyle/>
          <a:p>
            <a:r>
              <a:rPr lang="en-US" altLang="en-US" sz="2000" dirty="0"/>
              <a:t>Let </a:t>
            </a:r>
            <a:r>
              <a:rPr lang="en-US" altLang="en-US" sz="2000" i="1" dirty="0"/>
              <a:t>R</a:t>
            </a:r>
            <a:r>
              <a:rPr lang="en-US" altLang="en-US" sz="2000" dirty="0"/>
              <a:t> be a relation schema and let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1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2 </a:t>
            </a:r>
            <a:r>
              <a:rPr lang="en-US" altLang="en-US" sz="2000" dirty="0"/>
              <a:t>form a decomposition of R . That is R =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1 </a:t>
            </a:r>
            <a:r>
              <a:rPr lang="en-US" altLang="en-US" sz="2000" dirty="0" smtClean="0">
                <a:sym typeface="Symbol"/>
              </a:rPr>
              <a:t></a:t>
            </a:r>
            <a:r>
              <a:rPr lang="en-US" altLang="en-US" sz="2000" i="1" dirty="0" smtClean="0"/>
              <a:t>R</a:t>
            </a:r>
            <a:r>
              <a:rPr lang="en-US" altLang="en-US" sz="2000" i="1" baseline="-25000" dirty="0" smtClean="0"/>
              <a:t>2</a:t>
            </a:r>
            <a:endParaRPr lang="en-US" altLang="en-US" sz="2000" dirty="0"/>
          </a:p>
          <a:p>
            <a:pPr lvl="1"/>
            <a:r>
              <a:rPr lang="en-US" altLang="en-US" sz="1500" dirty="0"/>
              <a:t>We say that the decomposition is a </a:t>
            </a:r>
            <a:r>
              <a:rPr lang="en-US" altLang="en-US" sz="1500" b="1" dirty="0">
                <a:solidFill>
                  <a:srgbClr val="002060"/>
                </a:solidFill>
              </a:rPr>
              <a:t>lossless decomposition  </a:t>
            </a:r>
            <a:r>
              <a:rPr lang="en-US" altLang="en-US" sz="1500" dirty="0"/>
              <a:t>if there is no loss of information by replacing  R with the two relation schemas</a:t>
            </a:r>
            <a:r>
              <a:rPr lang="en-US" altLang="en-US" sz="1500" i="1" dirty="0"/>
              <a:t> R</a:t>
            </a:r>
            <a:r>
              <a:rPr lang="en-US" altLang="en-US" sz="1500" i="1" baseline="-25000" dirty="0"/>
              <a:t>1 </a:t>
            </a:r>
            <a:r>
              <a:rPr lang="en-US" altLang="en-US" sz="1600" dirty="0" smtClean="0">
                <a:sym typeface="Symbol"/>
              </a:rPr>
              <a:t></a:t>
            </a:r>
            <a:r>
              <a:rPr lang="en-US" altLang="en-US" sz="1500" i="1" dirty="0" smtClean="0"/>
              <a:t>R</a:t>
            </a:r>
            <a:r>
              <a:rPr lang="en-US" altLang="en-US" sz="1500" i="1" baseline="-25000" dirty="0" smtClean="0"/>
              <a:t>2</a:t>
            </a:r>
            <a:r>
              <a:rPr lang="en-US" altLang="en-US" sz="1500" dirty="0" smtClean="0"/>
              <a:t> </a:t>
            </a:r>
            <a:endParaRPr lang="en-US" altLang="en-US" sz="1500" dirty="0"/>
          </a:p>
          <a:p>
            <a:pPr lvl="1"/>
            <a:r>
              <a:rPr lang="en-US" altLang="en-US" sz="1500" dirty="0">
                <a:sym typeface="Symbol" panose="05050102010706020507" pitchFamily="18" charset="2"/>
              </a:rPr>
              <a:t>Formally,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 </a:t>
            </a:r>
            <a:r>
              <a:rPr lang="en-US" altLang="en-US" sz="2000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aseline="-5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(r)    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 </a:t>
            </a:r>
            <a:r>
              <a:rPr lang="en-US" altLang="en-US" sz="2000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aseline="-50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en-US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lvl="1"/>
            <a:r>
              <a:rPr lang="en-US" altLang="en-US" sz="1500" dirty="0">
                <a:sym typeface="Symbol" panose="05050102010706020507" pitchFamily="18" charset="2"/>
              </a:rPr>
              <a:t>And,  conversely a decomposition is lossy if we get a superset of r</a:t>
            </a:r>
            <a:endParaRPr lang="en-US" altLang="en-US" sz="1500" i="1" dirty="0"/>
          </a:p>
          <a:p>
            <a:pPr lvl="1">
              <a:buFont typeface="Monotype Sorts" pitchFamily="-84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 r     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(r)</a:t>
            </a:r>
            <a:endParaRPr lang="en-US" altLang="en-US" sz="1700" dirty="0"/>
          </a:p>
        </p:txBody>
      </p:sp>
      <p:sp>
        <p:nvSpPr>
          <p:cNvPr id="12292" name="Freeform 19"/>
          <p:cNvSpPr>
            <a:spLocks/>
          </p:cNvSpPr>
          <p:nvPr/>
        </p:nvSpPr>
        <p:spPr bwMode="auto">
          <a:xfrm>
            <a:off x="2187386" y="3089657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Freeform 19"/>
          <p:cNvSpPr>
            <a:spLocks/>
          </p:cNvSpPr>
          <p:nvPr/>
        </p:nvSpPr>
        <p:spPr bwMode="auto">
          <a:xfrm>
            <a:off x="2510928" y="3732232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17366E-1065-4661-B46D-4FB94715296B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87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79375" y="493574"/>
            <a:ext cx="7651193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of Lossless Decomposition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458860"/>
            <a:ext cx="7541522" cy="830961"/>
          </a:xfrm>
        </p:spPr>
        <p:txBody>
          <a:bodyPr/>
          <a:lstStyle/>
          <a:p>
            <a:pPr>
              <a:tabLst>
                <a:tab pos="2336800" algn="l"/>
                <a:tab pos="3765550" algn="l"/>
              </a:tabLst>
            </a:pPr>
            <a:r>
              <a:rPr lang="en-US" altLang="en-US" sz="1700" dirty="0"/>
              <a:t>Decomposition of </a:t>
            </a:r>
            <a:r>
              <a:rPr lang="en-US" altLang="en-US" sz="1700" i="1" dirty="0"/>
              <a:t>R = (A, B, C)</a:t>
            </a:r>
            <a:br>
              <a:rPr lang="en-US" altLang="en-US" sz="1700" i="1" dirty="0"/>
            </a:br>
            <a:r>
              <a:rPr lang="en-US" altLang="en-US" sz="1700" i="1" dirty="0"/>
              <a:t>	R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 = (A, B)	R</a:t>
            </a:r>
            <a:r>
              <a:rPr lang="en-US" altLang="en-US" sz="1700" baseline="-25000" dirty="0"/>
              <a:t>2</a:t>
            </a:r>
            <a:r>
              <a:rPr lang="en-US" altLang="en-US" sz="1700" i="1" dirty="0"/>
              <a:t> = (B, C)</a:t>
            </a:r>
            <a:endParaRPr lang="en-US" altLang="en-US" sz="1700" dirty="0"/>
          </a:p>
        </p:txBody>
      </p:sp>
      <p:pic>
        <p:nvPicPr>
          <p:cNvPr id="13316" name="Picture 30" descr="C:\Users\as668\Desktop\Judi\7_02 fig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848" y="3039068"/>
            <a:ext cx="4100004" cy="272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8B9C8B-590D-460C-B567-97893033EBA7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4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25" y="185738"/>
            <a:ext cx="8372475" cy="598487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Normalization Theory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212" y="1321984"/>
            <a:ext cx="8372475" cy="2919083"/>
          </a:xfrm>
        </p:spPr>
        <p:txBody>
          <a:bodyPr/>
          <a:lstStyle/>
          <a:p>
            <a:r>
              <a:rPr lang="en-US" altLang="en-US" sz="2000" dirty="0"/>
              <a:t>Decide whether a particular relation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in </a:t>
            </a:r>
            <a:r>
              <a:rPr lang="ja-JP" altLang="en-US" sz="2000" dirty="0">
                <a:latin typeface="Arial" panose="020B0604020202020204" pitchFamily="34" charset="0"/>
              </a:rPr>
              <a:t>“</a:t>
            </a:r>
            <a:r>
              <a:rPr lang="en-US" altLang="ja-JP" sz="2000" dirty="0"/>
              <a:t>good</a:t>
            </a:r>
            <a:r>
              <a:rPr lang="ja-JP" altLang="en-US" sz="2000" dirty="0">
                <a:latin typeface="Arial" panose="020B0604020202020204" pitchFamily="34" charset="0"/>
              </a:rPr>
              <a:t>”</a:t>
            </a:r>
            <a:r>
              <a:rPr lang="en-US" altLang="ja-JP" sz="2000" dirty="0"/>
              <a:t> form.</a:t>
            </a:r>
          </a:p>
          <a:p>
            <a:r>
              <a:rPr lang="en-US" altLang="en-US" sz="2000" dirty="0"/>
              <a:t>In the case that a relation </a:t>
            </a:r>
            <a:r>
              <a:rPr lang="en-US" altLang="en-US" sz="2000" i="1" dirty="0"/>
              <a:t>R</a:t>
            </a:r>
            <a:r>
              <a:rPr lang="en-US" altLang="en-US" sz="2000" dirty="0"/>
              <a:t> is not in </a:t>
            </a:r>
            <a:r>
              <a:rPr lang="ja-JP" altLang="en-US" sz="2000" dirty="0">
                <a:latin typeface="Arial" panose="020B0604020202020204" pitchFamily="34" charset="0"/>
              </a:rPr>
              <a:t>“</a:t>
            </a:r>
            <a:r>
              <a:rPr lang="en-US" altLang="ja-JP" sz="2000" dirty="0"/>
              <a:t>good</a:t>
            </a:r>
            <a:r>
              <a:rPr lang="ja-JP" altLang="en-US" sz="2000" dirty="0">
                <a:latin typeface="Arial" panose="020B0604020202020204" pitchFamily="34" charset="0"/>
              </a:rPr>
              <a:t>”</a:t>
            </a:r>
            <a:r>
              <a:rPr lang="en-US" altLang="ja-JP" sz="2000" dirty="0"/>
              <a:t> form, decompose it into  set of relations {</a:t>
            </a:r>
            <a:r>
              <a:rPr lang="en-US" altLang="ja-JP" sz="2000" i="1" dirty="0"/>
              <a:t>R</a:t>
            </a:r>
            <a:r>
              <a:rPr lang="en-US" altLang="ja-JP" sz="2000" baseline="-25000" dirty="0"/>
              <a:t>1</a:t>
            </a:r>
            <a:r>
              <a:rPr lang="en-US" altLang="ja-JP" sz="2000" i="1" dirty="0"/>
              <a:t>, R</a:t>
            </a:r>
            <a:r>
              <a:rPr lang="en-US" altLang="ja-JP" sz="2000" baseline="-25000" dirty="0"/>
              <a:t>2</a:t>
            </a:r>
            <a:r>
              <a:rPr lang="en-US" altLang="ja-JP" sz="2000" i="1" dirty="0"/>
              <a:t>, ..., R</a:t>
            </a:r>
            <a:r>
              <a:rPr lang="en-US" altLang="ja-JP" sz="2000" i="1" baseline="-25000" dirty="0"/>
              <a:t>n</a:t>
            </a:r>
            <a:r>
              <a:rPr lang="en-US" altLang="ja-JP" sz="2000" dirty="0"/>
              <a:t>} such that </a:t>
            </a:r>
          </a:p>
          <a:p>
            <a:pPr lvl="1"/>
            <a:r>
              <a:rPr lang="en-US" altLang="en-US" sz="2000" dirty="0"/>
              <a:t>Each relation is in good form </a:t>
            </a:r>
          </a:p>
          <a:p>
            <a:pPr lvl="1"/>
            <a:r>
              <a:rPr lang="en-US" altLang="en-US" sz="2000" dirty="0"/>
              <a:t>The decomposition is a lossless decomposition</a:t>
            </a:r>
          </a:p>
          <a:p>
            <a:r>
              <a:rPr lang="en-US" altLang="en-US" sz="2000" dirty="0"/>
              <a:t>The theory is based on:</a:t>
            </a:r>
          </a:p>
          <a:p>
            <a:pPr lvl="1"/>
            <a:r>
              <a:rPr lang="en-US" altLang="en-US" sz="2000" dirty="0"/>
              <a:t>Functional dependencies</a:t>
            </a:r>
          </a:p>
          <a:p>
            <a:pPr lvl="1"/>
            <a:r>
              <a:rPr lang="en-US" altLang="en-US" sz="2000" dirty="0"/>
              <a:t>Multivalued dependencies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B6832E-F740-4B7B-9854-6AA1EAF348B7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40879" y="4778826"/>
            <a:ext cx="31453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+mn-lt"/>
              </a:rPr>
              <a:t>Database normalization is a </a:t>
            </a:r>
            <a:r>
              <a:rPr lang="en-GB" dirty="0" smtClean="0">
                <a:solidFill>
                  <a:srgbClr val="0070C0"/>
                </a:solidFill>
                <a:latin typeface="+mn-lt"/>
              </a:rPr>
              <a:t>process 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of organizing data in a relational database to reduce redundancy and improve data integrity.</a:t>
            </a:r>
            <a:endParaRPr 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6200" y="4532605"/>
            <a:ext cx="497867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rgbClr val="0070C0"/>
                </a:solidFill>
                <a:latin typeface="+mn-lt"/>
              </a:rPr>
              <a:t>Redundancy </a:t>
            </a:r>
            <a:r>
              <a:rPr lang="en-GB" b="1" dirty="0">
                <a:solidFill>
                  <a:srgbClr val="0070C0"/>
                </a:solidFill>
                <a:latin typeface="+mn-lt"/>
              </a:rPr>
              <a:t>is minimized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GB" dirty="0" smtClean="0">
                <a:solidFill>
                  <a:srgbClr val="0070C0"/>
                </a:solidFill>
                <a:latin typeface="+mn-lt"/>
              </a:rPr>
              <a:t>: 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avoids storing the same data in multiple places.</a:t>
            </a:r>
          </a:p>
          <a:p>
            <a:r>
              <a:rPr lang="en-GB" b="1" dirty="0">
                <a:solidFill>
                  <a:srgbClr val="0070C0"/>
                </a:solidFill>
                <a:latin typeface="+mn-lt"/>
              </a:rPr>
              <a:t>Data anomalies are prevented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GB" dirty="0" smtClean="0">
                <a:solidFill>
                  <a:srgbClr val="0070C0"/>
                </a:solidFill>
                <a:latin typeface="+mn-lt"/>
              </a:rPr>
              <a:t>: 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reduces problems during insert, update, or delete operations.</a:t>
            </a:r>
          </a:p>
          <a:p>
            <a:r>
              <a:rPr lang="en-GB" b="1" dirty="0">
                <a:solidFill>
                  <a:srgbClr val="0070C0"/>
                </a:solidFill>
                <a:latin typeface="+mn-lt"/>
              </a:rPr>
              <a:t>Data integrity is </a:t>
            </a:r>
            <a:r>
              <a:rPr lang="en-GB" b="1" dirty="0" smtClean="0">
                <a:solidFill>
                  <a:srgbClr val="0070C0"/>
                </a:solidFill>
                <a:latin typeface="+mn-lt"/>
              </a:rPr>
              <a:t>ensured :</a:t>
            </a:r>
            <a:r>
              <a:rPr lang="en-GB" dirty="0" smtClean="0">
                <a:solidFill>
                  <a:srgbClr val="0070C0"/>
                </a:solidFill>
                <a:latin typeface="+mn-lt"/>
              </a:rPr>
              <a:t> </a:t>
            </a:r>
            <a:r>
              <a:rPr lang="en-GB" dirty="0">
                <a:solidFill>
                  <a:srgbClr val="0070C0"/>
                </a:solidFill>
                <a:latin typeface="+mn-lt"/>
              </a:rPr>
              <a:t>keeps data consistent and accurate.</a:t>
            </a:r>
          </a:p>
        </p:txBody>
      </p:sp>
    </p:spTree>
    <p:extLst>
      <p:ext uri="{BB962C8B-B14F-4D97-AF65-F5344CB8AC3E}">
        <p14:creationId xmlns:p14="http://schemas.microsoft.com/office/powerpoint/2010/main" val="309326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 If a database is not normalized, it may suffer </a:t>
            </a:r>
            <a:r>
              <a:rPr lang="en-US" dirty="0" smtClean="0"/>
              <a:t>from</a:t>
            </a:r>
            <a:endParaRPr lang="en-US" dirty="0"/>
          </a:p>
          <a:p>
            <a:pPr lvl="1"/>
            <a:r>
              <a:rPr lang="en-US" dirty="0"/>
              <a:t>Insertion </a:t>
            </a:r>
            <a:r>
              <a:rPr lang="en-US" dirty="0" smtClean="0"/>
              <a:t>anomalies</a:t>
            </a:r>
          </a:p>
          <a:p>
            <a:pPr lvl="2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can’t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insert data without other unnecessary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dirty="0" smtClean="0"/>
              <a:t>Update anomalies </a:t>
            </a:r>
          </a:p>
          <a:p>
            <a:pPr lvl="2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same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 updated in multiple places →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inconsistency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en-US" dirty="0"/>
              <a:t>Deletion anomalies </a:t>
            </a:r>
            <a:endParaRPr lang="en-US" dirty="0" smtClean="0"/>
          </a:p>
          <a:p>
            <a:pPr lvl="2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deleting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one record unintentionally removes important related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F9A36B-48D0-4C93-A34C-93A668B80EF9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Azhar, KUET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0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34963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First Normal Form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3659" y="1358427"/>
            <a:ext cx="8788400" cy="4854575"/>
          </a:xfrm>
        </p:spPr>
        <p:txBody>
          <a:bodyPr/>
          <a:lstStyle/>
          <a:p>
            <a:pPr eaLnBrk="1" hangingPunct="1"/>
            <a:r>
              <a:rPr lang="en-US" sz="2000" dirty="0"/>
              <a:t>Domain is </a:t>
            </a:r>
            <a:r>
              <a:rPr lang="en-US" sz="2000" dirty="0">
                <a:solidFill>
                  <a:schemeClr val="tx2"/>
                </a:solidFill>
              </a:rPr>
              <a:t>atomic</a:t>
            </a:r>
            <a:r>
              <a:rPr lang="en-US" sz="2000" dirty="0"/>
              <a:t> if its elements are considered to be indivisible units </a:t>
            </a:r>
          </a:p>
          <a:p>
            <a:pPr lvl="1" eaLnBrk="1" hangingPunct="1"/>
            <a:r>
              <a:rPr lang="en-GB" sz="1800" dirty="0"/>
              <a:t>attribute would not be able to hold various values- </a:t>
            </a:r>
          </a:p>
          <a:p>
            <a:pPr lvl="1" eaLnBrk="1" hangingPunct="1"/>
            <a:r>
              <a:rPr lang="en-GB" sz="1800" dirty="0"/>
              <a:t>it will only be able to hold an attribute of a single value.</a:t>
            </a:r>
            <a:endParaRPr lang="en-US" sz="1800" dirty="0"/>
          </a:p>
          <a:p>
            <a:pPr lvl="1" eaLnBrk="1" hangingPunct="1"/>
            <a:r>
              <a:rPr lang="en-US" sz="2000" dirty="0"/>
              <a:t>Examples of </a:t>
            </a:r>
            <a:r>
              <a:rPr lang="en-US" sz="2000" dirty="0">
                <a:solidFill>
                  <a:srgbClr val="FF0000"/>
                </a:solidFill>
              </a:rPr>
              <a:t>non-atomic domains</a:t>
            </a:r>
            <a:r>
              <a:rPr lang="en-US" sz="2000" dirty="0"/>
              <a:t>:</a:t>
            </a:r>
          </a:p>
          <a:p>
            <a:pPr lvl="2" eaLnBrk="1" hangingPunct="1"/>
            <a:r>
              <a:rPr lang="en-US" sz="1800" dirty="0"/>
              <a:t>Set of names,  composite attributes</a:t>
            </a:r>
          </a:p>
          <a:p>
            <a:pPr lvl="2" eaLnBrk="1" hangingPunct="1"/>
            <a:r>
              <a:rPr lang="en-US" sz="1800" dirty="0"/>
              <a:t>Identification numbers like CSE1101  that can be broken up into parts</a:t>
            </a:r>
          </a:p>
          <a:p>
            <a:pPr eaLnBrk="1" hangingPunct="1"/>
            <a:r>
              <a:rPr lang="en-US" sz="2000" dirty="0"/>
              <a:t>A relational schema R is in </a:t>
            </a:r>
            <a:r>
              <a:rPr lang="en-US" sz="2000" dirty="0">
                <a:solidFill>
                  <a:schemeClr val="tx2"/>
                </a:solidFill>
              </a:rPr>
              <a:t>first normal form</a:t>
            </a:r>
            <a:r>
              <a:rPr lang="en-US" sz="2000" dirty="0"/>
              <a:t> if the domains of all attributes of R are atomic</a:t>
            </a:r>
          </a:p>
          <a:p>
            <a:pPr eaLnBrk="1" hangingPunct="1"/>
            <a:r>
              <a:rPr lang="en-US" sz="2000" dirty="0"/>
              <a:t>Non-atomic values complicate storage and encourage redundant storage of data</a:t>
            </a:r>
          </a:p>
          <a:p>
            <a:pPr lvl="1" eaLnBrk="1" hangingPunct="1"/>
            <a:r>
              <a:rPr lang="en-US" sz="1800" dirty="0"/>
              <a:t> Composite attribute address makes non atomic, children (if name is entered) in employee relation non atomic. 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DB657B8-79D5-4D56-9360-6C173CA853FE}" type="slidenum">
              <a:rPr lang="en-US" smtClean="0">
                <a:solidFill>
                  <a:srgbClr val="7B9899"/>
                </a:solidFill>
              </a:rPr>
              <a:pPr/>
              <a:t>10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4D33CC-F083-41ED-9B46-D06F1B0B0850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First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82945" y="2735471"/>
            <a:ext cx="8503920" cy="907274"/>
          </a:xfrm>
        </p:spPr>
        <p:txBody>
          <a:bodyPr/>
          <a:lstStyle/>
          <a:p>
            <a:pPr lvl="0"/>
            <a:r>
              <a:rPr lang="en-US" sz="2000" dirty="0"/>
              <a:t>Multiple values in one column (</a:t>
            </a:r>
            <a:r>
              <a:rPr lang="en-US" sz="2000" dirty="0" smtClean="0"/>
              <a:t>Course Description)</a:t>
            </a:r>
            <a:endParaRPr lang="en-US" sz="2000" dirty="0"/>
          </a:p>
          <a:p>
            <a:pPr lvl="0"/>
            <a:r>
              <a:rPr lang="en-US" sz="2000" dirty="0"/>
              <a:t>Redundant instructor info (Dr. Khan appears multiple times).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F9A36B-48D0-4C93-A34C-93A668B80EF9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Azhar, KUET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377914"/>
              </p:ext>
            </p:extLst>
          </p:nvPr>
        </p:nvGraphicFramePr>
        <p:xfrm>
          <a:off x="419238" y="1652755"/>
          <a:ext cx="8174039" cy="8983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4394"/>
                <a:gridCol w="1560444"/>
                <a:gridCol w="5029201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StudentID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StudentName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Course</a:t>
                      </a:r>
                      <a:r>
                        <a:rPr lang="en-US" sz="1600" baseline="0" dirty="0" smtClean="0">
                          <a:effectLst/>
                        </a:rPr>
                        <a:t> Description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Ali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DBMS - Dr. Rahman (12345), AI - Dr. Khan (67890)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Riya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AI - Dr. Khan (67890), Networking - Dr. Das (11111)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554133"/>
              </p:ext>
            </p:extLst>
          </p:nvPr>
        </p:nvGraphicFramePr>
        <p:xfrm>
          <a:off x="406885" y="3823557"/>
          <a:ext cx="8186392" cy="12439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7905"/>
                <a:gridCol w="1689653"/>
                <a:gridCol w="1540565"/>
                <a:gridCol w="1759226"/>
                <a:gridCol w="1789043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StudentID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StudentName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Course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Instructor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InstructorPhone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Ali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DBMS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Dr. Rahman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12345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Ali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AI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Dr. Khan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67890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102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Riya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AI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Dr. Khan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67890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102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Riya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Networking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Dr. Das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11111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9238" y="5554745"/>
            <a:ext cx="3767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Atomic values but still redundancy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177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4925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4656" y="1468438"/>
            <a:ext cx="8527700" cy="4771588"/>
          </a:xfrm>
        </p:spPr>
        <p:txBody>
          <a:bodyPr/>
          <a:lstStyle/>
          <a:p>
            <a:pPr eaLnBrk="1" hangingPunct="1"/>
            <a:r>
              <a:rPr lang="en-US" sz="2000" dirty="0"/>
              <a:t>Constraints on the set of legal relations.</a:t>
            </a:r>
          </a:p>
          <a:p>
            <a:pPr eaLnBrk="1" hangingPunct="1"/>
            <a:r>
              <a:rPr lang="en-US" sz="2000" dirty="0"/>
              <a:t>The value for a certain set of attributes </a:t>
            </a:r>
            <a:r>
              <a:rPr lang="en-US" sz="2000" dirty="0">
                <a:solidFill>
                  <a:srgbClr val="C00000"/>
                </a:solidFill>
              </a:rPr>
              <a:t>determines uniquely </a:t>
            </a:r>
            <a:r>
              <a:rPr lang="en-US" sz="2000" dirty="0"/>
              <a:t>the value for another set of attributes. 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Students and instructors are uniquely identified by their ID.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Each student and instructor has only one name.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Each instructor and student is (primarily) associated with only one department.</a:t>
            </a:r>
          </a:p>
          <a:p>
            <a:pPr>
              <a:defRPr/>
            </a:pPr>
            <a:r>
              <a:rPr lang="en-US" altLang="en-US" sz="2000" dirty="0">
                <a:ea typeface="ＭＳ Ｐゴシック" pitchFamily="34" charset="-128"/>
              </a:rPr>
              <a:t>An instance of a relation that satisfies all such real-world constraints is called a  </a:t>
            </a:r>
            <a:r>
              <a:rPr lang="en-US" altLang="en-US" sz="2000" b="1" dirty="0">
                <a:solidFill>
                  <a:srgbClr val="002060"/>
                </a:solidFill>
                <a:ea typeface="ＭＳ Ｐゴシック" pitchFamily="34" charset="-128"/>
              </a:rPr>
              <a:t>legal instance </a:t>
            </a:r>
            <a:r>
              <a:rPr lang="en-US" altLang="en-US" sz="2000" dirty="0">
                <a:ea typeface="ＭＳ Ｐゴシック" pitchFamily="34" charset="-128"/>
              </a:rPr>
              <a:t>of the relation;</a:t>
            </a:r>
            <a:endParaRPr lang="en-US" altLang="en-US" sz="2000" dirty="0"/>
          </a:p>
          <a:p>
            <a:pPr lvl="1"/>
            <a:r>
              <a:rPr lang="en-US" altLang="en-US" sz="1800" dirty="0">
                <a:ea typeface="ＭＳ Ｐゴシック" pitchFamily="34" charset="-128"/>
              </a:rPr>
              <a:t>A legal instance of a database is one where all the relation instances are legal instances</a:t>
            </a:r>
            <a:endParaRPr lang="en-US" altLang="en-US" sz="1800" dirty="0"/>
          </a:p>
          <a:p>
            <a:pPr lvl="2"/>
            <a:r>
              <a:rPr lang="en-US" altLang="en-US" sz="1600" dirty="0"/>
              <a:t>Require that the value for a certain set of attributes determines uniquely the value for another set of attributes.</a:t>
            </a:r>
            <a:endParaRPr lang="en-US" altLang="en-US" sz="1400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A1781AA-DA31-4EB3-B898-803F231910ED}" type="slidenum">
              <a:rPr lang="en-US" smtClean="0">
                <a:solidFill>
                  <a:srgbClr val="7B9899"/>
                </a:solidFill>
              </a:rPr>
              <a:pPr/>
              <a:t>12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BC08B4-B074-4D13-A070-55D9B1C9E633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7627" y="5655251"/>
            <a:ext cx="84147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Functional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dependency (FD)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describes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the relationship 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between two sets of attributes in a table.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61938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17488" y="1517650"/>
            <a:ext cx="8636000" cy="41973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r>
              <a:rPr lang="en-US" sz="2000" dirty="0"/>
              <a:t>Let </a:t>
            </a:r>
            <a:r>
              <a:rPr lang="en-US" sz="2000" i="1" dirty="0"/>
              <a:t>R</a:t>
            </a:r>
            <a:r>
              <a:rPr lang="en-US" sz="2000" dirty="0"/>
              <a:t> be a relation schema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r>
              <a:rPr lang="en-US" sz="2000" dirty="0"/>
              <a:t>		</a:t>
            </a:r>
            <a:r>
              <a:rPr lang="en-US" sz="2000" dirty="0">
                <a:sym typeface="Symbol" panose="05050102010706020507" pitchFamily="18" charset="2"/>
              </a:rPr>
              <a:t>  </a:t>
            </a:r>
            <a:r>
              <a:rPr lang="en-US" sz="2000" i="1" dirty="0">
                <a:sym typeface="Symbol" panose="05050102010706020507" pitchFamily="18" charset="2"/>
              </a:rPr>
              <a:t>R  and   </a:t>
            </a:r>
            <a:r>
              <a:rPr lang="en-US" sz="2000" dirty="0">
                <a:sym typeface="Symbol" panose="05050102010706020507" pitchFamily="18" charset="2"/>
              </a:rPr>
              <a:t>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</a:p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r>
              <a:rPr lang="en-US" sz="2000" dirty="0">
                <a:sym typeface="Symbol" panose="05050102010706020507" pitchFamily="18" charset="2"/>
              </a:rPr>
              <a:t>The functional dependency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r>
              <a:rPr lang="en-US" sz="2000" i="1" dirty="0">
                <a:sym typeface="Symbol" panose="05050102010706020507" pitchFamily="18" charset="2"/>
              </a:rPr>
              <a:t>		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br>
              <a:rPr lang="en-US" sz="2000" i="1" dirty="0">
                <a:sym typeface="Symbol" panose="05050102010706020507" pitchFamily="18" charset="2"/>
              </a:rPr>
            </a:br>
            <a:r>
              <a:rPr lang="en-US" sz="2000" dirty="0">
                <a:solidFill>
                  <a:schemeClr val="tx2"/>
                </a:solidFill>
                <a:sym typeface="Symbol" panose="05050102010706020507" pitchFamily="18" charset="2"/>
              </a:rPr>
              <a:t>holds on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u="sng" dirty="0">
                <a:solidFill>
                  <a:srgbClr val="C00000"/>
                </a:solidFill>
                <a:sym typeface="Symbol" panose="05050102010706020507" pitchFamily="18" charset="2"/>
              </a:rPr>
              <a:t>if and only if </a:t>
            </a:r>
            <a:r>
              <a:rPr lang="en-US" sz="2000" dirty="0">
                <a:sym typeface="Symbol" panose="05050102010706020507" pitchFamily="18" charset="2"/>
              </a:rPr>
              <a:t>for any legal relations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(R), whenever any two tuples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and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 of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agree on the attributes , they also agree on the attributes </a:t>
            </a:r>
            <a:r>
              <a:rPr lang="en-US" sz="2000" i="1" dirty="0">
                <a:sym typeface="Symbol" panose="05050102010706020507" pitchFamily="18" charset="2"/>
              </a:rPr>
              <a:t>. </a:t>
            </a:r>
            <a:r>
              <a:rPr lang="en-US" sz="2000" dirty="0">
                <a:sym typeface="Symbol" panose="05050102010706020507" pitchFamily="18" charset="2"/>
              </a:rPr>
              <a:t> That is, 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r>
              <a:rPr lang="en-US" sz="2000" i="1" dirty="0">
                <a:sym typeface="Symbol" panose="05050102010706020507" pitchFamily="18" charset="2"/>
              </a:rPr>
              <a:t>		 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[] =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 </a:t>
            </a:r>
            <a:r>
              <a:rPr lang="en-US" sz="2000" dirty="0">
                <a:sym typeface="Symbol" panose="05050102010706020507" pitchFamily="18" charset="2"/>
              </a:rPr>
              <a:t>[]     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[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]  =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 </a:t>
            </a:r>
            <a:r>
              <a:rPr lang="en-US" sz="2000" dirty="0">
                <a:sym typeface="Symbol" panose="05050102010706020507" pitchFamily="18" charset="2"/>
              </a:rPr>
              <a:t>[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] 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endParaRPr lang="en-US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r>
              <a:rPr lang="en-US" sz="2000" dirty="0">
                <a:sym typeface="Symbol" panose="05050102010706020507" pitchFamily="18" charset="2"/>
              </a:rPr>
              <a:t>For a super key  K,  if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[K] =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 </a:t>
            </a:r>
            <a:r>
              <a:rPr lang="en-US" sz="2000" dirty="0">
                <a:sym typeface="Symbol" panose="05050102010706020507" pitchFamily="18" charset="2"/>
              </a:rPr>
              <a:t>[K]  it indicates   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[R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]  =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 </a:t>
            </a:r>
            <a:r>
              <a:rPr lang="en-US" sz="2000" dirty="0">
                <a:sym typeface="Symbol" panose="05050102010706020507" pitchFamily="18" charset="2"/>
              </a:rPr>
              <a:t>[R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]  (</a:t>
            </a:r>
            <a:r>
              <a:rPr lang="en-US" sz="2000" dirty="0" err="1">
                <a:sym typeface="Symbol" panose="05050102010706020507" pitchFamily="18" charset="2"/>
              </a:rPr>
              <a:t>i.e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=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endParaRPr lang="en-US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  <a:tabLst>
                <a:tab pos="2917825" algn="ctr"/>
              </a:tabLst>
            </a:pPr>
            <a:r>
              <a:rPr lang="en-US" sz="2000" b="1" dirty="0">
                <a:solidFill>
                  <a:srgbClr val="FF0000"/>
                </a:solidFill>
              </a:rPr>
              <a:t>A functional dependency is a generalization of the notion of a super </a:t>
            </a:r>
            <a:r>
              <a:rPr lang="en-US" sz="2000" b="1" i="1" dirty="0">
                <a:solidFill>
                  <a:srgbClr val="FF0000"/>
                </a:solidFill>
              </a:rPr>
              <a:t>key.</a:t>
            </a:r>
            <a:endParaRPr lang="en-US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  <a:tabLst>
                <a:tab pos="2917825" algn="ctr"/>
              </a:tabLst>
            </a:pPr>
            <a:endParaRPr lang="en-US" sz="2000" dirty="0">
              <a:sym typeface="Symbol" panose="05050102010706020507" pitchFamily="18" charset="2"/>
            </a:endParaRP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B776FCB-4E5D-4F0E-A181-88F542875945}" type="slidenum">
              <a:rPr lang="en-US" smtClean="0">
                <a:solidFill>
                  <a:srgbClr val="7B9899"/>
                </a:solidFill>
              </a:rPr>
              <a:pPr/>
              <a:t>13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4581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 dirty="0">
                <a:solidFill>
                  <a:srgbClr val="FFFFFF"/>
                </a:solidFill>
              </a:rPr>
              <a:t>Dr. </a:t>
            </a:r>
            <a:r>
              <a:rPr lang="en-US" sz="1200" dirty="0" err="1">
                <a:solidFill>
                  <a:srgbClr val="FFFFFF"/>
                </a:solidFill>
              </a:rPr>
              <a:t>Azhar</a:t>
            </a:r>
            <a:r>
              <a:rPr lang="en-US" sz="1200" dirty="0">
                <a:solidFill>
                  <a:srgbClr val="FFFFFF"/>
                </a:solidFill>
              </a:rPr>
              <a:t>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83ADD-9EED-44D0-A7C6-8E5D44CA523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 (Cont.)</a:t>
            </a:r>
            <a:endParaRPr lang="en-GB" dirty="0"/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833432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r>
              <a:rPr lang="en-US" sz="2000" dirty="0"/>
              <a:t>Example:  Consider </a:t>
            </a:r>
            <a:r>
              <a:rPr lang="en-US" sz="2000" i="1" dirty="0"/>
              <a:t>r</a:t>
            </a:r>
            <a:r>
              <a:rPr lang="en-US" sz="2000" dirty="0" smtClean="0"/>
              <a:t>( A</a:t>
            </a:r>
            <a:r>
              <a:rPr lang="en-US" sz="2000" i="1" dirty="0"/>
              <a:t>, B </a:t>
            </a:r>
            <a:r>
              <a:rPr lang="en-US" sz="2000" dirty="0"/>
              <a:t>) with the following instance of </a:t>
            </a:r>
            <a:r>
              <a:rPr lang="en-US" sz="2000" i="1" dirty="0"/>
              <a:t>r.</a:t>
            </a:r>
            <a:endParaRPr lang="en-US" sz="2000" dirty="0"/>
          </a:p>
          <a:p>
            <a:pPr marL="0" indent="0" eaLnBrk="1" hangingPunct="1">
              <a:lnSpc>
                <a:spcPct val="90000"/>
              </a:lnSpc>
              <a:buNone/>
              <a:tabLst>
                <a:tab pos="2917825" algn="ctr"/>
              </a:tabLst>
            </a:pPr>
            <a:r>
              <a:rPr lang="en-US" sz="2000" dirty="0"/>
              <a:t>                                    </a:t>
            </a:r>
            <a:r>
              <a:rPr lang="en-US" sz="1600" dirty="0"/>
              <a:t>A    B</a:t>
            </a:r>
          </a:p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endParaRPr lang="en-US" sz="2000" dirty="0"/>
          </a:p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endParaRPr lang="en-US" sz="2000" dirty="0"/>
          </a:p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endParaRPr lang="en-US" sz="2000" dirty="0"/>
          </a:p>
          <a:p>
            <a:pPr eaLnBrk="1" hangingPunct="1">
              <a:lnSpc>
                <a:spcPct val="90000"/>
              </a:lnSpc>
              <a:tabLst>
                <a:tab pos="2917825" algn="ctr"/>
              </a:tabLst>
            </a:pPr>
            <a:r>
              <a:rPr lang="en-US" sz="2000" dirty="0"/>
              <a:t>On this instance,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/>
              <a:t>B</a:t>
            </a:r>
            <a:r>
              <a:rPr lang="en-US" sz="2000" dirty="0"/>
              <a:t> does </a:t>
            </a:r>
            <a:r>
              <a:rPr lang="en-US" sz="2000" b="1" dirty="0"/>
              <a:t>NOT</a:t>
            </a:r>
            <a:r>
              <a:rPr lang="en-US" sz="2000" dirty="0"/>
              <a:t> hold, but  </a:t>
            </a:r>
            <a:r>
              <a:rPr lang="en-US" sz="2000" i="1" dirty="0"/>
              <a:t>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 does hold. </a:t>
            </a:r>
          </a:p>
          <a:p>
            <a:pPr>
              <a:tabLst>
                <a:tab pos="1250950" algn="l"/>
                <a:tab pos="2173288" algn="l"/>
                <a:tab pos="3378200" algn="l"/>
              </a:tabLst>
            </a:pPr>
            <a:endParaRPr lang="en-US" altLang="en-US" sz="1800" dirty="0"/>
          </a:p>
          <a:p>
            <a:pPr marL="0" indent="0" eaLnBrk="1" hangingPunct="1">
              <a:lnSpc>
                <a:spcPct val="90000"/>
              </a:lnSpc>
              <a:buNone/>
              <a:tabLst>
                <a:tab pos="2917825" algn="ctr"/>
              </a:tabLst>
            </a:pPr>
            <a:endParaRPr lang="en-US" sz="1800" i="1" dirty="0">
              <a:sym typeface="Symbol" panose="05050102010706020507" pitchFamily="18" charset="2"/>
            </a:endParaRPr>
          </a:p>
          <a:p>
            <a:pPr>
              <a:tabLst>
                <a:tab pos="2917825" algn="ctr"/>
              </a:tabLst>
            </a:pPr>
            <a:endParaRPr lang="en-GB" sz="1800" dirty="0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825E9AF-F136-45B9-BDD4-73EAA565847E}" type="slidenum">
              <a:rPr lang="en-US" smtClean="0">
                <a:solidFill>
                  <a:srgbClr val="7B9899"/>
                </a:solidFill>
              </a:rPr>
              <a:pPr/>
              <a:t>14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5606" name="Text Box 4"/>
          <p:cNvSpPr txBox="1">
            <a:spLocks noChangeArrowheads="1"/>
          </p:cNvSpPr>
          <p:nvPr/>
        </p:nvSpPr>
        <p:spPr bwMode="auto">
          <a:xfrm>
            <a:off x="2492746" y="2185771"/>
            <a:ext cx="777875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457200" indent="-4572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buFontTx/>
              <a:buAutoNum type="arabicPlain"/>
            </a:pPr>
            <a:r>
              <a:rPr lang="en-US" sz="1800" dirty="0"/>
              <a:t>4</a:t>
            </a:r>
          </a:p>
          <a:p>
            <a:r>
              <a:rPr lang="en-US" sz="1800" dirty="0"/>
              <a:t>1     5</a:t>
            </a:r>
          </a:p>
          <a:p>
            <a:r>
              <a:rPr lang="en-US" sz="1800" dirty="0"/>
              <a:t>3	7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7350A2-AC8E-4396-9735-6B7BA77DF66C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63192" y="3943891"/>
            <a:ext cx="79985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 functional dependency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X → 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means that if two rows have the same value for </a:t>
            </a:r>
            <a:r>
              <a:rPr lang="en-GB" sz="18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attribute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X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then they must also have the same value for </a:t>
            </a:r>
            <a:r>
              <a:rPr lang="en-GB" sz="1800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attribute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</a:t>
            </a:r>
            <a:r>
              <a:rPr lang="en-GB" sz="1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5922" y="4943225"/>
            <a:ext cx="62517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dirty="0" smtClean="0">
                <a:solidFill>
                  <a:srgbClr val="0070C0"/>
                </a:solidFill>
                <a:latin typeface="+mn-lt"/>
              </a:rPr>
              <a:t>FD implies</a:t>
            </a:r>
          </a:p>
          <a:p>
            <a:pPr algn="ctr"/>
            <a:r>
              <a:rPr lang="en-GB" sz="2000" dirty="0" smtClean="0">
                <a:solidFill>
                  <a:srgbClr val="0070C0"/>
                </a:solidFill>
                <a:latin typeface="+mn-lt"/>
              </a:rPr>
              <a:t>“This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column (or group of columns) uniquely determines </a:t>
            </a:r>
            <a:r>
              <a:rPr lang="en-GB" sz="2000" dirty="0" smtClean="0">
                <a:solidFill>
                  <a:srgbClr val="0070C0"/>
                </a:solidFill>
                <a:latin typeface="+mn-lt"/>
              </a:rPr>
              <a:t>another  </a:t>
            </a:r>
            <a:r>
              <a:rPr lang="en-GB" sz="2000" dirty="0">
                <a:solidFill>
                  <a:srgbClr val="0070C0"/>
                </a:solidFill>
                <a:latin typeface="+mn-lt"/>
              </a:rPr>
              <a:t>column (or group of columns</a:t>
            </a:r>
            <a:r>
              <a:rPr lang="en-GB" sz="2000" dirty="0" smtClean="0">
                <a:solidFill>
                  <a:srgbClr val="0070C0"/>
                </a:solidFill>
                <a:latin typeface="+mn-lt"/>
              </a:rPr>
              <a:t>)”</a:t>
            </a:r>
            <a:endParaRPr lang="en-US" sz="2000" dirty="0">
              <a:solidFill>
                <a:srgbClr val="0070C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031161"/>
          </a:xfrm>
        </p:spPr>
        <p:txBody>
          <a:bodyPr/>
          <a:lstStyle/>
          <a:p>
            <a:r>
              <a:rPr lang="en-US" sz="2400" dirty="0" smtClean="0"/>
              <a:t>Importance </a:t>
            </a:r>
          </a:p>
          <a:p>
            <a:pPr lvl="1"/>
            <a:r>
              <a:rPr lang="en-US" sz="2000" dirty="0" smtClean="0"/>
              <a:t>F</a:t>
            </a:r>
            <a:r>
              <a:rPr lang="en-US" altLang="en-US" sz="2000" dirty="0" smtClean="0"/>
              <a:t>oundation </a:t>
            </a:r>
            <a:r>
              <a:rPr lang="en-US" altLang="en-US" sz="2000" dirty="0"/>
              <a:t>of </a:t>
            </a:r>
            <a:r>
              <a:rPr lang="en-US" altLang="en-US" sz="2000" dirty="0" smtClean="0"/>
              <a:t>database normalization </a:t>
            </a:r>
          </a:p>
          <a:p>
            <a:pPr lvl="1"/>
            <a:r>
              <a:rPr lang="en-US" altLang="en-US" sz="2000" dirty="0" smtClean="0"/>
              <a:t>Help </a:t>
            </a:r>
            <a:r>
              <a:rPr lang="en-US" altLang="en-US" sz="2000" dirty="0"/>
              <a:t>us decide how to split tables into smaller </a:t>
            </a:r>
            <a:r>
              <a:rPr lang="en-US" altLang="en-US" sz="2000" dirty="0" smtClean="0"/>
              <a:t>relations </a:t>
            </a:r>
          </a:p>
          <a:p>
            <a:pPr lvl="1"/>
            <a:r>
              <a:rPr lang="en-US" altLang="en-US" sz="2000" dirty="0"/>
              <a:t>Prevent data redundancy and update anomalies</a:t>
            </a:r>
            <a:r>
              <a:rPr lang="en-US" altLang="en-US" sz="2000" dirty="0" smtClean="0"/>
              <a:t>. </a:t>
            </a:r>
          </a:p>
          <a:p>
            <a:pPr lvl="1"/>
            <a:r>
              <a:rPr lang="en-GB" sz="2000" dirty="0"/>
              <a:t>FDs tell us the hidden rules in the data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F9A36B-48D0-4C93-A34C-93A668B80EF9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Dr. Azhar, KUET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5580" y="3834779"/>
            <a:ext cx="72356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660033"/>
                </a:solidFill>
                <a:latin typeface="+mn-lt"/>
              </a:rPr>
              <a:t>2NF</a:t>
            </a:r>
            <a:r>
              <a:rPr lang="en-GB" dirty="0">
                <a:solidFill>
                  <a:srgbClr val="660033"/>
                </a:solidFill>
                <a:latin typeface="+mn-lt"/>
              </a:rPr>
              <a:t> removes partial dependency FDs.</a:t>
            </a:r>
          </a:p>
          <a:p>
            <a:r>
              <a:rPr lang="en-GB" b="1" dirty="0">
                <a:solidFill>
                  <a:srgbClr val="660033"/>
                </a:solidFill>
                <a:latin typeface="+mn-lt"/>
              </a:rPr>
              <a:t>3NF</a:t>
            </a:r>
            <a:r>
              <a:rPr lang="en-GB" dirty="0">
                <a:solidFill>
                  <a:srgbClr val="660033"/>
                </a:solidFill>
                <a:latin typeface="+mn-lt"/>
              </a:rPr>
              <a:t> removes transitive dependency FDs.</a:t>
            </a:r>
          </a:p>
          <a:p>
            <a:r>
              <a:rPr lang="en-GB" b="1" dirty="0">
                <a:solidFill>
                  <a:srgbClr val="660033"/>
                </a:solidFill>
                <a:latin typeface="+mn-lt"/>
              </a:rPr>
              <a:t>BCNF</a:t>
            </a:r>
            <a:r>
              <a:rPr lang="en-GB" dirty="0">
                <a:solidFill>
                  <a:srgbClr val="660033"/>
                </a:solidFill>
                <a:latin typeface="+mn-lt"/>
              </a:rPr>
              <a:t> ensures all determinants are candidate keys.</a:t>
            </a:r>
          </a:p>
          <a:p>
            <a:r>
              <a:rPr lang="en-GB" dirty="0">
                <a:solidFill>
                  <a:srgbClr val="660033"/>
                </a:solidFill>
                <a:latin typeface="+mn-lt"/>
              </a:rPr>
              <a:t/>
            </a:r>
            <a:br>
              <a:rPr lang="en-GB" dirty="0">
                <a:solidFill>
                  <a:srgbClr val="660033"/>
                </a:solidFill>
                <a:latin typeface="+mn-lt"/>
              </a:rPr>
            </a:br>
            <a:r>
              <a:rPr lang="en-GB" dirty="0" smtClean="0">
                <a:solidFill>
                  <a:srgbClr val="660033"/>
                </a:solidFill>
                <a:latin typeface="+mn-lt"/>
                <a:cs typeface="Helvetica" panose="020B0604020202020204" pitchFamily="34" charset="0"/>
              </a:rPr>
              <a:t>Without </a:t>
            </a:r>
            <a:r>
              <a:rPr lang="en-GB" dirty="0">
                <a:solidFill>
                  <a:srgbClr val="660033"/>
                </a:solidFill>
                <a:latin typeface="+mn-lt"/>
                <a:cs typeface="Helvetica" panose="020B0604020202020204" pitchFamily="34" charset="0"/>
              </a:rPr>
              <a:t>functional dependencies, normalization rules wouldn’t exist.</a:t>
            </a:r>
          </a:p>
        </p:txBody>
      </p:sp>
    </p:spTree>
    <p:extLst>
      <p:ext uri="{BB962C8B-B14F-4D97-AF65-F5344CB8AC3E}">
        <p14:creationId xmlns:p14="http://schemas.microsoft.com/office/powerpoint/2010/main" val="172779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320675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Keys and Functional Dependencies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(Cont.)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47663" y="1422400"/>
            <a:ext cx="8520112" cy="4919663"/>
          </a:xfrm>
        </p:spPr>
        <p:txBody>
          <a:bodyPr/>
          <a:lstStyle/>
          <a:p>
            <a:pPr eaLnBrk="1" hangingPunct="1">
              <a:tabLst>
                <a:tab pos="1250950" algn="l"/>
                <a:tab pos="2173288" algn="l"/>
                <a:tab pos="3378200" algn="l"/>
              </a:tabLst>
            </a:pPr>
            <a:r>
              <a:rPr lang="en-US" sz="2000" i="1" dirty="0">
                <a:sym typeface="Symbol" panose="05050102010706020507" pitchFamily="18" charset="2"/>
              </a:rPr>
              <a:t>K</a:t>
            </a:r>
            <a:r>
              <a:rPr lang="en-US" sz="2000" dirty="0">
                <a:sym typeface="Symbol" panose="05050102010706020507" pitchFamily="18" charset="2"/>
              </a:rPr>
              <a:t> is a super key for relation schema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if and only if </a:t>
            </a:r>
            <a:r>
              <a:rPr lang="en-US" sz="2000" i="1" dirty="0">
                <a:sym typeface="Symbol" panose="05050102010706020507" pitchFamily="18" charset="2"/>
              </a:rPr>
              <a:t>K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R</a:t>
            </a:r>
            <a:endParaRPr lang="en-US" sz="2000" dirty="0">
              <a:sym typeface="Monotype Sorts" pitchFamily="2" charset="2"/>
            </a:endParaRPr>
          </a:p>
          <a:p>
            <a:pPr eaLnBrk="1" hangingPunct="1">
              <a:tabLst>
                <a:tab pos="1250950" algn="l"/>
                <a:tab pos="2173288" algn="l"/>
                <a:tab pos="3378200" algn="l"/>
              </a:tabLst>
            </a:pPr>
            <a:r>
              <a:rPr lang="en-US" sz="2000" i="1" dirty="0">
                <a:sym typeface="Monotype Sorts" pitchFamily="2" charset="2"/>
              </a:rPr>
              <a:t>K</a:t>
            </a:r>
            <a:r>
              <a:rPr lang="en-US" sz="2000" dirty="0">
                <a:sym typeface="Monotype Sorts" pitchFamily="2" charset="2"/>
              </a:rPr>
              <a:t> is a candidate key for </a:t>
            </a:r>
            <a:r>
              <a:rPr lang="en-US" sz="2000" i="1" dirty="0">
                <a:sym typeface="Monotype Sorts" pitchFamily="2" charset="2"/>
              </a:rPr>
              <a:t>R</a:t>
            </a:r>
            <a:r>
              <a:rPr lang="en-US" sz="2000" dirty="0">
                <a:sym typeface="Monotype Sorts" pitchFamily="2" charset="2"/>
              </a:rPr>
              <a:t> if and only if </a:t>
            </a:r>
          </a:p>
          <a:p>
            <a:pPr lvl="1" eaLnBrk="1" hangingPunct="1">
              <a:tabLst>
                <a:tab pos="1250950" algn="l"/>
                <a:tab pos="2173288" algn="l"/>
                <a:tab pos="3378200" algn="l"/>
              </a:tabLst>
            </a:pPr>
            <a:r>
              <a:rPr lang="en-US" sz="2000" i="1" dirty="0">
                <a:sym typeface="Monotype Sorts" pitchFamily="2" charset="2"/>
              </a:rPr>
              <a:t>K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R</a:t>
            </a:r>
            <a:r>
              <a:rPr lang="en-US" sz="2000" dirty="0">
                <a:sym typeface="Monotype Sorts" pitchFamily="2" charset="2"/>
              </a:rPr>
              <a:t>, and</a:t>
            </a:r>
          </a:p>
          <a:p>
            <a:pPr lvl="1" eaLnBrk="1" hangingPunct="1">
              <a:tabLst>
                <a:tab pos="1250950" algn="l"/>
                <a:tab pos="2173288" algn="l"/>
                <a:tab pos="3378200" algn="l"/>
              </a:tabLst>
            </a:pPr>
            <a:r>
              <a:rPr lang="en-US" sz="2000" dirty="0">
                <a:sym typeface="Monotype Sorts" pitchFamily="2" charset="2"/>
              </a:rPr>
              <a:t>For no </a:t>
            </a:r>
            <a:r>
              <a:rPr lang="en-US" sz="2000" dirty="0">
                <a:sym typeface="Symbol" panose="05050102010706020507" pitchFamily="18" charset="2"/>
              </a:rPr>
              <a:t>  </a:t>
            </a:r>
            <a:r>
              <a:rPr lang="en-US" sz="2000" i="1" dirty="0">
                <a:sym typeface="Symbol" panose="05050102010706020507" pitchFamily="18" charset="2"/>
              </a:rPr>
              <a:t>K,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R</a:t>
            </a:r>
          </a:p>
          <a:p>
            <a:pPr marL="274638" lvl="1" indent="0" eaLnBrk="1" hangingPunct="1">
              <a:buNone/>
              <a:tabLst>
                <a:tab pos="1250950" algn="l"/>
                <a:tab pos="2173288" algn="l"/>
                <a:tab pos="3378200" algn="l"/>
              </a:tabLst>
            </a:pPr>
            <a:endParaRPr lang="en-US" sz="2000" i="1" dirty="0">
              <a:sym typeface="Monotype Sorts" pitchFamily="2" charset="2"/>
            </a:endParaRPr>
          </a:p>
          <a:p>
            <a:pPr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2000" dirty="0"/>
              <a:t>Functional dependencies allow us to express constraints that cannot be expressed using </a:t>
            </a:r>
            <a:r>
              <a:rPr lang="en-US" altLang="en-US" sz="2000" dirty="0" err="1"/>
              <a:t>superkeys</a:t>
            </a:r>
            <a:r>
              <a:rPr lang="en-US" altLang="en-US" sz="2000" dirty="0"/>
              <a:t>.  Consider the schema: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2400" dirty="0"/>
              <a:t>	</a:t>
            </a:r>
            <a:r>
              <a:rPr lang="en-US" altLang="en-US" sz="1800" dirty="0"/>
              <a:t>             </a:t>
            </a:r>
            <a:r>
              <a:rPr lang="en-US" altLang="en-US" sz="1800" i="1" dirty="0" err="1"/>
              <a:t>in_dep</a:t>
            </a:r>
            <a:r>
              <a:rPr lang="en-US" altLang="en-US" sz="1800" i="1" dirty="0"/>
              <a:t> </a:t>
            </a:r>
            <a:r>
              <a:rPr lang="en-US" altLang="en-US" sz="1800" dirty="0"/>
              <a:t>(</a:t>
            </a:r>
            <a:r>
              <a:rPr lang="en-US" altLang="en-US" sz="1800" i="1" u="sng" dirty="0"/>
              <a:t>ID, </a:t>
            </a:r>
            <a:r>
              <a:rPr lang="en-US" altLang="en-US" sz="1800" i="1" dirty="0"/>
              <a:t>name, salary</a:t>
            </a:r>
            <a:r>
              <a:rPr lang="en-US" altLang="en-US" sz="1800" i="1" u="sng" dirty="0"/>
              <a:t>, </a:t>
            </a:r>
            <a:r>
              <a:rPr lang="en-US" altLang="en-US" sz="1800" i="1" u="sng" dirty="0" err="1"/>
              <a:t>dept_name</a:t>
            </a:r>
            <a:r>
              <a:rPr lang="en-US" altLang="en-US" sz="1800" i="1" u="sng" dirty="0"/>
              <a:t>, </a:t>
            </a:r>
            <a:r>
              <a:rPr lang="en-US" altLang="en-US" sz="1800" i="1" dirty="0"/>
              <a:t>building, budget </a:t>
            </a:r>
            <a:r>
              <a:rPr lang="en-US" altLang="en-US" sz="1800" dirty="0"/>
              <a:t>)</a:t>
            </a:r>
            <a:r>
              <a:rPr lang="en-US" altLang="en-US" sz="1800" i="1" dirty="0"/>
              <a:t>.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800" i="1" dirty="0"/>
              <a:t>	</a:t>
            </a:r>
            <a:r>
              <a:rPr lang="en-US" altLang="en-US" sz="1800" dirty="0"/>
              <a:t>We expect these functional dependencies to hold: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800" dirty="0"/>
              <a:t>	                    </a:t>
            </a:r>
            <a:r>
              <a:rPr lang="en-US" altLang="en-US" sz="1800" i="1" dirty="0" err="1"/>
              <a:t>dept_name</a:t>
            </a:r>
            <a:r>
              <a:rPr lang="en-US" altLang="en-US" sz="1800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Monotype Sorts" pitchFamily="-84" charset="2"/>
              </a:rPr>
              <a:t> </a:t>
            </a:r>
            <a:r>
              <a:rPr lang="en-US" altLang="en-US" sz="1800" i="1" dirty="0">
                <a:sym typeface="Monotype Sorts" pitchFamily="-84" charset="2"/>
              </a:rPr>
              <a:t>building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800" i="1" dirty="0">
                <a:sym typeface="Monotype Sorts" pitchFamily="-84" charset="2"/>
              </a:rPr>
              <a:t>                          ID </a:t>
            </a:r>
            <a:r>
              <a:rPr lang="en-US" altLang="en-US" sz="1800" dirty="0">
                <a:sym typeface="Wingdings" panose="05000000000000000000" pitchFamily="2" charset="2"/>
              </a:rPr>
              <a:t></a:t>
            </a:r>
            <a:r>
              <a:rPr lang="en-US" altLang="en-US" sz="1800" i="1" dirty="0">
                <a:sym typeface="Wingdings" panose="05000000000000000000" pitchFamily="2" charset="2"/>
              </a:rPr>
              <a:t> building</a:t>
            </a:r>
            <a:endParaRPr lang="en-US" altLang="en-US" sz="1800" i="1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800" i="1" dirty="0">
                <a:sym typeface="Monotype Sorts" pitchFamily="-84" charset="2"/>
              </a:rPr>
              <a:t>	</a:t>
            </a:r>
            <a:r>
              <a:rPr lang="en-US" altLang="en-US" sz="1800" dirty="0">
                <a:sym typeface="Monotype Sorts" pitchFamily="-84" charset="2"/>
              </a:rPr>
              <a:t>but would not expect the following to hold 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800" dirty="0">
                <a:sym typeface="Monotype Sorts" pitchFamily="-84" charset="2"/>
              </a:rPr>
              <a:t>	                   </a:t>
            </a:r>
            <a:r>
              <a:rPr lang="en-US" altLang="en-US" sz="1800" i="1" dirty="0" err="1">
                <a:sym typeface="Monotype Sorts" pitchFamily="-84" charset="2"/>
              </a:rPr>
              <a:t>dept_name</a:t>
            </a:r>
            <a:r>
              <a:rPr lang="en-US" altLang="en-US" sz="1800" i="1" dirty="0">
                <a:sym typeface="Monotype Sorts" pitchFamily="-84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</a:t>
            </a:r>
            <a:r>
              <a:rPr lang="en-US" altLang="en-US" sz="1800" dirty="0">
                <a:sym typeface="Monotype Sorts" pitchFamily="-84" charset="2"/>
              </a:rPr>
              <a:t> </a:t>
            </a:r>
            <a:r>
              <a:rPr lang="en-US" altLang="en-US" sz="1800" i="1" dirty="0">
                <a:sym typeface="Monotype Sorts" pitchFamily="-84" charset="2"/>
              </a:rPr>
              <a:t>salary</a:t>
            </a:r>
            <a:endParaRPr lang="en-US" sz="1800" dirty="0"/>
          </a:p>
          <a:p>
            <a:pPr eaLnBrk="1" hangingPunct="1">
              <a:buFont typeface="Monotype Sorts" pitchFamily="2" charset="2"/>
              <a:buNone/>
              <a:tabLst>
                <a:tab pos="1250950" algn="l"/>
                <a:tab pos="2173288" algn="l"/>
                <a:tab pos="3378200" algn="l"/>
              </a:tabLst>
            </a:pPr>
            <a:endParaRPr lang="en-US" sz="2000" i="1" dirty="0">
              <a:sym typeface="Monotype Sorts" pitchFamily="2" charset="2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57FA1B0C-841F-40C5-9F62-5FE51DE217ED}" type="slidenum">
              <a:rPr lang="en-US" smtClean="0">
                <a:solidFill>
                  <a:srgbClr val="7B9899"/>
                </a:solidFill>
              </a:rPr>
              <a:pPr/>
              <a:t>16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34D53E-AE17-4770-AF1E-2A6874BD3F8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4" t="5859" r="19629" b="17773"/>
          <a:stretch>
            <a:fillRect/>
          </a:stretch>
        </p:blipFill>
        <p:spPr bwMode="auto">
          <a:xfrm>
            <a:off x="2266950" y="1611313"/>
            <a:ext cx="3714750" cy="358933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8357" name="Rectangle 5"/>
          <p:cNvSpPr>
            <a:spLocks noGrp="1" noChangeArrowheads="1"/>
          </p:cNvSpPr>
          <p:nvPr>
            <p:ph type="title"/>
          </p:nvPr>
        </p:nvSpPr>
        <p:spPr>
          <a:xfrm>
            <a:off x="768350" y="34925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accent3">
                    <a:shade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 (Cont.)</a:t>
            </a:r>
          </a:p>
        </p:txBody>
      </p:sp>
      <p:sp>
        <p:nvSpPr>
          <p:cNvPr id="228358" name="Text Box 6"/>
          <p:cNvSpPr txBox="1">
            <a:spLocks noChangeArrowheads="1"/>
          </p:cNvSpPr>
          <p:nvPr/>
        </p:nvSpPr>
        <p:spPr bwMode="auto">
          <a:xfrm>
            <a:off x="728663" y="5237163"/>
            <a:ext cx="273367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A-&gt;C ??</a:t>
            </a:r>
          </a:p>
          <a:p>
            <a:pPr>
              <a:spcBef>
                <a:spcPct val="50000"/>
              </a:spcBef>
            </a:pPr>
            <a:r>
              <a:rPr lang="en-US"/>
              <a:t>How about C-&gt;A  ???</a:t>
            </a:r>
          </a:p>
          <a:p>
            <a:pPr>
              <a:spcBef>
                <a:spcPct val="50000"/>
              </a:spcBef>
            </a:pPr>
            <a:r>
              <a:rPr lang="en-US"/>
              <a:t>AB-&gt;D  ??</a:t>
            </a:r>
          </a:p>
        </p:txBody>
      </p:sp>
      <p:sp>
        <p:nvSpPr>
          <p:cNvPr id="228359" name="Text Box 7"/>
          <p:cNvSpPr txBox="1">
            <a:spLocks noChangeArrowheads="1"/>
          </p:cNvSpPr>
          <p:nvPr/>
        </p:nvSpPr>
        <p:spPr bwMode="auto">
          <a:xfrm>
            <a:off x="4376738" y="5326063"/>
            <a:ext cx="3027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Find all the FDs!!! </a:t>
            </a:r>
            <a:r>
              <a:rPr lang="en-US" b="1"/>
              <a:t>F</a:t>
            </a:r>
            <a:r>
              <a:rPr lang="en-US" b="1" baseline="30000"/>
              <a:t>+</a:t>
            </a:r>
            <a:endParaRPr lang="en-US" b="1"/>
          </a:p>
        </p:txBody>
      </p:sp>
      <p:sp>
        <p:nvSpPr>
          <p:cNvPr id="228360" name="Text Box 8"/>
          <p:cNvSpPr txBox="1">
            <a:spLocks noChangeArrowheads="1"/>
          </p:cNvSpPr>
          <p:nvPr/>
        </p:nvSpPr>
        <p:spPr bwMode="auto">
          <a:xfrm>
            <a:off x="5148263" y="5645150"/>
            <a:ext cx="27876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4000"/>
              <a:t>Home task</a:t>
            </a:r>
          </a:p>
        </p:txBody>
      </p:sp>
      <p:sp>
        <p:nvSpPr>
          <p:cNvPr id="2663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9DAB369-F6B9-4754-86F7-EA2EF4F42990}" type="slidenum">
              <a:rPr lang="en-US" smtClean="0">
                <a:solidFill>
                  <a:srgbClr val="7B9899"/>
                </a:solidFill>
              </a:rPr>
              <a:pPr/>
              <a:t>17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6632" name="Footer Placeholder 7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D017A-AA89-44D5-ABFE-607A463D7549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2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2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2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4925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Use of Functional Dependencies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12763" y="1531938"/>
            <a:ext cx="8051800" cy="3843930"/>
          </a:xfrm>
        </p:spPr>
        <p:txBody>
          <a:bodyPr/>
          <a:lstStyle/>
          <a:p>
            <a:pPr eaLnBrk="1" hangingPunct="1"/>
            <a:r>
              <a:rPr lang="en-US" sz="2000" dirty="0"/>
              <a:t>We use functional dependencies to</a:t>
            </a:r>
          </a:p>
          <a:p>
            <a:pPr lvl="1" eaLnBrk="1" hangingPunct="1"/>
            <a:r>
              <a:rPr lang="en-US" sz="2000" dirty="0"/>
              <a:t>test relations to see </a:t>
            </a:r>
            <a:r>
              <a:rPr lang="en-US" sz="2000" dirty="0">
                <a:solidFill>
                  <a:srgbClr val="FF0000"/>
                </a:solidFill>
              </a:rPr>
              <a:t>if they are legal </a:t>
            </a:r>
            <a:r>
              <a:rPr lang="en-US" sz="2000" dirty="0"/>
              <a:t>under a given set of functional dependencies. </a:t>
            </a:r>
          </a:p>
          <a:p>
            <a:pPr lvl="2" eaLnBrk="1" hangingPunct="1"/>
            <a:r>
              <a:rPr lang="en-US" dirty="0"/>
              <a:t> If a relation </a:t>
            </a:r>
            <a:r>
              <a:rPr lang="en-US" i="1" dirty="0"/>
              <a:t>r</a:t>
            </a:r>
            <a:r>
              <a:rPr lang="en-US" dirty="0"/>
              <a:t> is legal under a set </a:t>
            </a:r>
            <a:r>
              <a:rPr lang="en-US" i="1" dirty="0"/>
              <a:t>F</a:t>
            </a:r>
            <a:r>
              <a:rPr lang="en-US" dirty="0"/>
              <a:t> of functional dependencies, we say that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satisfies </a:t>
            </a:r>
            <a:r>
              <a:rPr lang="en-US" i="1" dirty="0"/>
              <a:t>F.</a:t>
            </a:r>
            <a:endParaRPr lang="en-US" dirty="0"/>
          </a:p>
          <a:p>
            <a:pPr lvl="1" eaLnBrk="1" hangingPunct="1"/>
            <a:r>
              <a:rPr lang="en-US" sz="2000" dirty="0"/>
              <a:t>specify constraints on the set of legal relations</a:t>
            </a:r>
          </a:p>
          <a:p>
            <a:pPr lvl="2" eaLnBrk="1" hangingPunct="1"/>
            <a:r>
              <a:rPr lang="en-US" dirty="0"/>
              <a:t>We say that </a:t>
            </a:r>
            <a:r>
              <a:rPr lang="en-US" i="1" dirty="0"/>
              <a:t>F</a:t>
            </a: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holds on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if all legal relations on </a:t>
            </a:r>
            <a:r>
              <a:rPr lang="en-US" i="1" dirty="0"/>
              <a:t>R</a:t>
            </a:r>
            <a:r>
              <a:rPr lang="en-US" dirty="0"/>
              <a:t> satisfy the set of functional dependencies  </a:t>
            </a:r>
            <a:r>
              <a:rPr lang="en-US" i="1" dirty="0"/>
              <a:t>F.</a:t>
            </a:r>
          </a:p>
          <a:p>
            <a:pPr eaLnBrk="1" hangingPunct="1"/>
            <a:endParaRPr lang="en-US" sz="1800" i="1" dirty="0">
              <a:sym typeface="Monotype Sorts" pitchFamily="2" charset="2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4B1C9D4-350E-40BA-B1FE-E039B92D9FBC}" type="slidenum">
              <a:rPr lang="en-US" smtClean="0">
                <a:solidFill>
                  <a:srgbClr val="7B9899"/>
                </a:solidFill>
              </a:rPr>
              <a:pPr/>
              <a:t>18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492343-3285-4D51-9080-E236C4B6B419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9210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Functional Dependencies (Cont.)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36588" y="1611313"/>
            <a:ext cx="7661275" cy="3744912"/>
          </a:xfrm>
        </p:spPr>
        <p:txBody>
          <a:bodyPr/>
          <a:lstStyle/>
          <a:p>
            <a:pPr eaLnBrk="1" hangingPunct="1"/>
            <a:r>
              <a:rPr lang="en-US" sz="2400" i="1">
                <a:sym typeface="Monotype Sorts" pitchFamily="2" charset="2"/>
              </a:rPr>
              <a:t>A </a:t>
            </a:r>
            <a:r>
              <a:rPr lang="en-US" sz="2400">
                <a:sym typeface="Monotype Sorts" pitchFamily="2" charset="2"/>
              </a:rPr>
              <a:t>functional dependency is </a:t>
            </a:r>
            <a:r>
              <a:rPr lang="en-US" sz="2400">
                <a:solidFill>
                  <a:schemeClr val="tx2"/>
                </a:solidFill>
                <a:sym typeface="Monotype Sorts" pitchFamily="2" charset="2"/>
              </a:rPr>
              <a:t>trivial</a:t>
            </a:r>
            <a:r>
              <a:rPr lang="en-US" sz="2400">
                <a:sym typeface="Monotype Sorts" pitchFamily="2" charset="2"/>
              </a:rPr>
              <a:t> if it is satisfied by all instances of a relation</a:t>
            </a:r>
          </a:p>
          <a:p>
            <a:pPr eaLnBrk="1" hangingPunct="1"/>
            <a:endParaRPr lang="en-US" sz="2400">
              <a:sym typeface="Monotype Sorts" pitchFamily="2" charset="2"/>
            </a:endParaRPr>
          </a:p>
          <a:p>
            <a:pPr lvl="1" eaLnBrk="1" hangingPunct="1"/>
            <a:r>
              <a:rPr lang="en-US" sz="2400">
                <a:sym typeface="Monotype Sorts" pitchFamily="2" charset="2"/>
              </a:rPr>
              <a:t>Example</a:t>
            </a:r>
            <a:r>
              <a:rPr lang="en-US" sz="2400" i="1">
                <a:sym typeface="Monotype Sorts" pitchFamily="2" charset="2"/>
              </a:rPr>
              <a:t>:</a:t>
            </a:r>
          </a:p>
          <a:p>
            <a:pPr lvl="2" eaLnBrk="1" hangingPunct="1"/>
            <a:r>
              <a:rPr lang="en-US" i="1">
                <a:sym typeface="Monotype Sorts" pitchFamily="2" charset="2"/>
              </a:rPr>
              <a:t> customer_name, </a:t>
            </a:r>
            <a:r>
              <a:rPr lang="en-US" i="1"/>
              <a:t>loan_number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>
                <a:sym typeface="Monotype Sorts" pitchFamily="2" charset="2"/>
              </a:rPr>
              <a:t> </a:t>
            </a:r>
            <a:r>
              <a:rPr lang="en-US" i="1">
                <a:sym typeface="Monotype Sorts" pitchFamily="2" charset="2"/>
              </a:rPr>
              <a:t>customer_name</a:t>
            </a:r>
          </a:p>
          <a:p>
            <a:pPr lvl="2" eaLnBrk="1" hangingPunct="1"/>
            <a:r>
              <a:rPr lang="en-US" i="1">
                <a:sym typeface="Monotype Sorts" pitchFamily="2" charset="2"/>
              </a:rPr>
              <a:t> customer_name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>
                <a:sym typeface="Monotype Sorts" pitchFamily="2" charset="2"/>
              </a:rPr>
              <a:t> </a:t>
            </a:r>
            <a:r>
              <a:rPr lang="en-US" i="1">
                <a:sym typeface="Monotype Sorts" pitchFamily="2" charset="2"/>
              </a:rPr>
              <a:t>customer_name</a:t>
            </a:r>
          </a:p>
          <a:p>
            <a:pPr lvl="2" eaLnBrk="1" hangingPunct="1"/>
            <a:endParaRPr lang="en-US" i="1">
              <a:sym typeface="Monotype Sorts" pitchFamily="2" charset="2"/>
            </a:endParaRPr>
          </a:p>
          <a:p>
            <a:pPr lvl="1" eaLnBrk="1" hangingPunct="1"/>
            <a:r>
              <a:rPr lang="en-US" sz="2400">
                <a:sym typeface="Monotype Sorts" pitchFamily="2" charset="2"/>
              </a:rPr>
              <a:t>In general, </a:t>
            </a:r>
            <a:r>
              <a:rPr lang="en-US" sz="2400">
                <a:sym typeface="Symbol" panose="05050102010706020507" pitchFamily="18" charset="2"/>
              </a:rPr>
              <a:t> </a:t>
            </a:r>
            <a:r>
              <a:rPr lang="en-US" sz="2400">
                <a:sym typeface="Monotype Sorts" pitchFamily="2" charset="2"/>
              </a:rPr>
              <a:t> </a:t>
            </a:r>
            <a:r>
              <a:rPr lang="en-US" sz="2400" i="1">
                <a:sym typeface="Symbol" panose="05050102010706020507" pitchFamily="18" charset="2"/>
              </a:rPr>
              <a:t> </a:t>
            </a:r>
            <a:r>
              <a:rPr lang="en-US" sz="2400">
                <a:sym typeface="Symbol" panose="05050102010706020507" pitchFamily="18" charset="2"/>
              </a:rPr>
              <a:t>is trivial if</a:t>
            </a:r>
            <a:r>
              <a:rPr lang="en-US" sz="2400" i="1">
                <a:sym typeface="Symbol" panose="05050102010706020507" pitchFamily="18" charset="2"/>
              </a:rPr>
              <a:t> </a:t>
            </a:r>
            <a:r>
              <a:rPr lang="en-US" sz="2400">
                <a:sym typeface="Symbol" panose="05050102010706020507" pitchFamily="18" charset="2"/>
              </a:rPr>
              <a:t>   </a:t>
            </a:r>
            <a:r>
              <a:rPr lang="en-US" sz="2400" i="1">
                <a:sym typeface="Symbol" panose="05050102010706020507" pitchFamily="18" charset="2"/>
              </a:rPr>
              <a:t/>
            </a:r>
            <a:br>
              <a:rPr lang="en-US" sz="2400" i="1">
                <a:sym typeface="Symbol" panose="05050102010706020507" pitchFamily="18" charset="2"/>
              </a:rPr>
            </a:br>
            <a:r>
              <a:rPr lang="en-US" sz="2400" i="1">
                <a:sym typeface="Symbol" panose="05050102010706020507" pitchFamily="18" charset="2"/>
              </a:rPr>
              <a:t> </a:t>
            </a:r>
          </a:p>
          <a:p>
            <a:pPr eaLnBrk="1" hangingPunct="1"/>
            <a:endParaRPr lang="en-US" sz="240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EBF51F2E-2CE9-4306-B1F7-F6F223B3A592}" type="slidenum">
              <a:rPr lang="en-US" smtClean="0">
                <a:solidFill>
                  <a:srgbClr val="7B9899"/>
                </a:solidFill>
              </a:rPr>
              <a:pPr/>
              <a:t>19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5D3737-F59E-4219-98B0-2544DB6D1F9C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61950"/>
            <a:ext cx="7924800" cy="6985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Closure of a Set of Functional Dependencies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50863" y="1576388"/>
            <a:ext cx="8077200" cy="4519612"/>
          </a:xfrm>
        </p:spPr>
        <p:txBody>
          <a:bodyPr/>
          <a:lstStyle/>
          <a:p>
            <a:pPr eaLnBrk="1" hangingPunct="1"/>
            <a:r>
              <a:rPr lang="en-US" sz="2000" dirty="0"/>
              <a:t>Given a set </a:t>
            </a:r>
            <a:r>
              <a:rPr lang="en-US" sz="2000" i="1" dirty="0"/>
              <a:t>F</a:t>
            </a:r>
            <a:r>
              <a:rPr lang="en-US" sz="2000" dirty="0"/>
              <a:t>  of functional dependencies, there are other functional dependencies that are logically implied by </a:t>
            </a:r>
            <a:r>
              <a:rPr lang="en-US" sz="2000" i="1" dirty="0"/>
              <a:t>F</a:t>
            </a:r>
            <a:r>
              <a:rPr lang="en-US" sz="2000" dirty="0"/>
              <a:t>.</a:t>
            </a:r>
          </a:p>
          <a:p>
            <a:pPr lvl="1" eaLnBrk="1" hangingPunct="1"/>
            <a:r>
              <a:rPr lang="en-US" sz="2000" dirty="0"/>
              <a:t>Example:  If 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B</a:t>
            </a:r>
            <a:r>
              <a:rPr lang="en-US" sz="2000" dirty="0">
                <a:sym typeface="Monotype Sorts" pitchFamily="2" charset="2"/>
              </a:rPr>
              <a:t> and  </a:t>
            </a:r>
            <a:r>
              <a:rPr lang="en-US" sz="2000" i="1" dirty="0">
                <a:sym typeface="Monotype Sorts" pitchFamily="2" charset="2"/>
              </a:rPr>
              <a:t>B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C</a:t>
            </a:r>
            <a:r>
              <a:rPr lang="en-US" sz="2000" dirty="0">
                <a:sym typeface="Monotype Sorts" pitchFamily="2" charset="2"/>
              </a:rPr>
              <a:t>,  then we can derive that </a:t>
            </a:r>
            <a:r>
              <a:rPr lang="en-US" sz="2000" i="1" dirty="0">
                <a:sym typeface="Monotype Sorts" pitchFamily="2" charset="2"/>
              </a:rPr>
              <a:t>A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C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000" dirty="0"/>
              <a:t>The set of </a:t>
            </a:r>
            <a:r>
              <a:rPr lang="en-US" sz="2000" dirty="0">
                <a:solidFill>
                  <a:schemeClr val="tx2"/>
                </a:solidFill>
              </a:rPr>
              <a:t>all</a:t>
            </a:r>
            <a:r>
              <a:rPr lang="en-US" sz="2000" dirty="0"/>
              <a:t> functional dependencies logically implied by </a:t>
            </a:r>
            <a:r>
              <a:rPr lang="en-US" sz="2000" i="1" dirty="0"/>
              <a:t>F</a:t>
            </a:r>
            <a:r>
              <a:rPr lang="en-US" sz="2000" dirty="0"/>
              <a:t> is the </a:t>
            </a:r>
            <a:r>
              <a:rPr lang="en-US" sz="2000" i="1" dirty="0">
                <a:solidFill>
                  <a:schemeClr val="tx2"/>
                </a:solidFill>
              </a:rPr>
              <a:t>closure</a:t>
            </a:r>
            <a:r>
              <a:rPr lang="en-US" sz="2000" dirty="0"/>
              <a:t> of </a:t>
            </a:r>
            <a:r>
              <a:rPr lang="en-US" sz="2000" i="1" dirty="0"/>
              <a:t>F</a:t>
            </a:r>
            <a:r>
              <a:rPr lang="en-US" sz="2000" dirty="0"/>
              <a:t>.</a:t>
            </a:r>
          </a:p>
          <a:p>
            <a:pPr eaLnBrk="1" hangingPunct="1"/>
            <a:r>
              <a:rPr lang="en-US" sz="2000" dirty="0"/>
              <a:t>We denote the </a:t>
            </a:r>
            <a:r>
              <a:rPr lang="en-US" sz="2000" i="1" dirty="0"/>
              <a:t>closure </a:t>
            </a:r>
            <a:r>
              <a:rPr lang="en-US" sz="2000" dirty="0"/>
              <a:t>of </a:t>
            </a:r>
            <a:r>
              <a:rPr lang="en-US" sz="2000" i="1" dirty="0"/>
              <a:t>F</a:t>
            </a:r>
            <a:r>
              <a:rPr lang="en-US" sz="2000" dirty="0"/>
              <a:t> by </a:t>
            </a:r>
            <a:r>
              <a:rPr lang="en-US" sz="2000" dirty="0">
                <a:solidFill>
                  <a:schemeClr val="tx2"/>
                </a:solidFill>
              </a:rPr>
              <a:t>F</a:t>
            </a:r>
            <a:r>
              <a:rPr lang="en-US" sz="2000" i="1" baseline="30000" dirty="0">
                <a:solidFill>
                  <a:schemeClr val="tx2"/>
                </a:solidFill>
              </a:rPr>
              <a:t>+</a:t>
            </a:r>
            <a:r>
              <a:rPr lang="en-US" sz="2000" i="1" dirty="0">
                <a:solidFill>
                  <a:schemeClr val="tx2"/>
                </a:solidFill>
              </a:rPr>
              <a:t>.</a:t>
            </a:r>
          </a:p>
          <a:p>
            <a:pPr eaLnBrk="1" hangingPunct="1"/>
            <a:r>
              <a:rPr lang="en-US" sz="2000" dirty="0"/>
              <a:t>F</a:t>
            </a:r>
            <a:r>
              <a:rPr lang="en-US" sz="2000" baseline="30000" dirty="0"/>
              <a:t>+</a:t>
            </a:r>
            <a:r>
              <a:rPr lang="en-US" sz="2000" dirty="0"/>
              <a:t> is a superset of </a:t>
            </a:r>
            <a:r>
              <a:rPr lang="en-US" sz="2000" i="1" dirty="0"/>
              <a:t>F</a:t>
            </a:r>
            <a:r>
              <a:rPr lang="en-US" sz="2000" dirty="0"/>
              <a:t>.</a:t>
            </a:r>
            <a:endParaRPr lang="en-US" sz="2000" dirty="0">
              <a:sym typeface="Greek Symbols" pitchFamily="18" charset="2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10CB761-983C-43F0-966C-69DA3013632F}" type="slidenum">
              <a:rPr lang="en-US" smtClean="0">
                <a:solidFill>
                  <a:srgbClr val="7B9899"/>
                </a:solidFill>
              </a:rPr>
              <a:pPr/>
              <a:t>20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07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61E84F-8DB9-40FC-8331-875E36F722B2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28613"/>
            <a:ext cx="7924800" cy="600075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Closure of a Set of Functional Dependencies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6225" y="1495425"/>
            <a:ext cx="8655050" cy="4716463"/>
          </a:xfrm>
        </p:spPr>
        <p:txBody>
          <a:bodyPr/>
          <a:lstStyle/>
          <a:p>
            <a:pPr eaLnBrk="1" hangingPunct="1"/>
            <a:r>
              <a:rPr lang="en-US" sz="2400" dirty="0"/>
              <a:t>We can find all of</a:t>
            </a:r>
            <a:r>
              <a:rPr lang="en-US" sz="2400" i="1" dirty="0"/>
              <a:t> </a:t>
            </a:r>
            <a:r>
              <a:rPr lang="en-US" sz="2400" dirty="0"/>
              <a:t>F</a:t>
            </a:r>
            <a:r>
              <a:rPr lang="en-US" sz="2400" i="1" baseline="30000" dirty="0"/>
              <a:t>+</a:t>
            </a:r>
            <a:r>
              <a:rPr lang="en-US" sz="2400" i="1" dirty="0"/>
              <a:t> </a:t>
            </a:r>
            <a:r>
              <a:rPr lang="en-US" sz="2400" dirty="0"/>
              <a:t>by applying </a:t>
            </a:r>
            <a:r>
              <a:rPr lang="en-US" sz="2400" dirty="0">
                <a:solidFill>
                  <a:srgbClr val="CC3300"/>
                </a:solidFill>
              </a:rPr>
              <a:t>Armstrong’s</a:t>
            </a:r>
            <a:r>
              <a:rPr lang="en-US" sz="2400" dirty="0"/>
              <a:t> Axioms:</a:t>
            </a:r>
          </a:p>
          <a:p>
            <a:pPr lvl="1" eaLnBrk="1" hangingPunct="1"/>
            <a:r>
              <a:rPr lang="en-US" sz="2400" dirty="0"/>
              <a:t>if </a:t>
            </a:r>
            <a:r>
              <a:rPr lang="en-US" sz="2400" i="1" dirty="0">
                <a:sym typeface="Symbol" panose="05050102010706020507" pitchFamily="18" charset="2"/>
              </a:rPr>
              <a:t></a:t>
            </a:r>
            <a:r>
              <a:rPr lang="en-US" sz="2400" dirty="0">
                <a:sym typeface="Symbol" panose="05050102010706020507" pitchFamily="18" charset="2"/>
              </a:rPr>
              <a:t>  , then  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                      </a:t>
            </a:r>
            <a:r>
              <a:rPr lang="en-US" sz="2400" b="1" dirty="0">
                <a:sym typeface="Symbol" panose="05050102010706020507" pitchFamily="18" charset="2"/>
              </a:rPr>
              <a:t>(reflexivity)</a:t>
            </a:r>
            <a:endParaRPr 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dirty="0">
                <a:sym typeface="Symbol" panose="05050102010706020507" pitchFamily="18" charset="2"/>
              </a:rPr>
              <a:t>if  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, </a:t>
            </a:r>
            <a:r>
              <a:rPr lang="en-US" sz="2400" dirty="0">
                <a:sym typeface="Symbol" panose="05050102010706020507" pitchFamily="18" charset="2"/>
              </a:rPr>
              <a:t>then </a:t>
            </a:r>
            <a:r>
              <a:rPr lang="en-US" sz="2400" dirty="0">
                <a:sym typeface="Greek Symbols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 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 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               </a:t>
            </a:r>
            <a:r>
              <a:rPr lang="en-US" sz="2400" b="1" dirty="0">
                <a:sym typeface="Symbol" panose="05050102010706020507" pitchFamily="18" charset="2"/>
              </a:rPr>
              <a:t>(augmentation)</a:t>
            </a:r>
            <a:endParaRPr 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dirty="0">
                <a:sym typeface="Symbol" panose="05050102010706020507" pitchFamily="18" charset="2"/>
              </a:rPr>
              <a:t>if  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i="1" dirty="0">
                <a:sym typeface="Symbol" panose="05050102010706020507" pitchFamily="18" charset="2"/>
              </a:rPr>
              <a:t>, </a:t>
            </a:r>
            <a:r>
              <a:rPr lang="en-US" sz="2400" dirty="0">
                <a:sym typeface="Symbol" panose="05050102010706020507" pitchFamily="18" charset="2"/>
              </a:rPr>
              <a:t>and </a:t>
            </a:r>
            <a:r>
              <a:rPr lang="en-US" sz="2400" i="1" dirty="0">
                <a:sym typeface="Symbol" panose="05050102010706020507" pitchFamily="18" charset="2"/>
              </a:rPr>
              <a:t> </a:t>
            </a:r>
            <a:r>
              <a:rPr lang="en-US" sz="2400" dirty="0">
                <a:sym typeface="Symbol" panose="05050102010706020507" pitchFamily="18" charset="2"/>
              </a:rPr>
              <a:t> </a:t>
            </a:r>
            <a:r>
              <a:rPr lang="en-US" sz="2400" dirty="0">
                <a:sym typeface="Monotype Sorts" pitchFamily="2" charset="2"/>
              </a:rPr>
              <a:t>, then </a:t>
            </a:r>
            <a:r>
              <a:rPr lang="en-US" sz="2400" dirty="0">
                <a:sym typeface="Symbol" panose="05050102010706020507" pitchFamily="18" charset="2"/>
              </a:rPr>
              <a:t> 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 </a:t>
            </a:r>
            <a:r>
              <a:rPr lang="en-US" sz="2400" dirty="0">
                <a:sym typeface="Greek Symbols" pitchFamily="18" charset="2"/>
              </a:rPr>
              <a:t>   </a:t>
            </a:r>
            <a:r>
              <a:rPr lang="en-US" sz="2400" b="1" dirty="0">
                <a:sym typeface="Greek Symbols" pitchFamily="18" charset="2"/>
              </a:rPr>
              <a:t>(transitivity)</a:t>
            </a:r>
          </a:p>
          <a:p>
            <a:pPr lvl="1" eaLnBrk="1" hangingPunct="1"/>
            <a:endParaRPr lang="en-US" sz="2400" b="1" dirty="0">
              <a:sym typeface="Greek Symbols" pitchFamily="18" charset="2"/>
            </a:endParaRPr>
          </a:p>
          <a:p>
            <a:pPr eaLnBrk="1" hangingPunct="1"/>
            <a:r>
              <a:rPr lang="en-US" sz="2400" dirty="0">
                <a:sym typeface="Greek Symbols" pitchFamily="18" charset="2"/>
              </a:rPr>
              <a:t>These rules are 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  <a:sym typeface="Greek Symbols" pitchFamily="18" charset="2"/>
              </a:rPr>
              <a:t>sound</a:t>
            </a:r>
            <a:r>
              <a:rPr lang="en-US" sz="2400" dirty="0">
                <a:sym typeface="Greek Symbols" pitchFamily="18" charset="2"/>
              </a:rPr>
              <a:t> (generate only functional dependencies that actually hold) and 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  <a:sym typeface="Greek Symbols" pitchFamily="18" charset="2"/>
              </a:rPr>
              <a:t>complete</a:t>
            </a:r>
            <a:r>
              <a:rPr lang="en-US" sz="2400" dirty="0">
                <a:sym typeface="Greek Symbols" pitchFamily="18" charset="2"/>
              </a:rPr>
              <a:t> (generate all functional dependencies that hold).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677E209B-E017-4F42-854D-554871BA2B48}" type="slidenum">
              <a:rPr lang="en-US" smtClean="0">
                <a:solidFill>
                  <a:srgbClr val="7B9899"/>
                </a:solidFill>
              </a:rPr>
              <a:pPr/>
              <a:t>21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CEB381-9A09-4A52-B8E1-4A8984E2B59F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93713" y="363538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6738" y="1509713"/>
            <a:ext cx="8248650" cy="4760912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tabLst>
                <a:tab pos="803275" algn="l"/>
              </a:tabLst>
              <a:defRPr/>
            </a:pPr>
            <a:r>
              <a:rPr lang="en-US" sz="1800" i="1" dirty="0"/>
              <a:t>R = (A, B, C, G, H, I)</a:t>
            </a:r>
            <a:br>
              <a:rPr lang="en-US" sz="1800" i="1" dirty="0"/>
            </a:br>
            <a:r>
              <a:rPr lang="en-US" sz="1800" i="1" dirty="0"/>
              <a:t>F = </a:t>
            </a:r>
            <a:r>
              <a:rPr lang="en-US" sz="1800" dirty="0"/>
              <a:t>{  </a:t>
            </a:r>
            <a:r>
              <a:rPr lang="en-US" sz="1800" i="1" dirty="0">
                <a:sym typeface="Iconic Symbols Ext" pitchFamily="2" charset="2"/>
              </a:rPr>
              <a:t>A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B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   </a:t>
            </a:r>
            <a:r>
              <a:rPr lang="en-US" sz="1800" i="1" dirty="0">
                <a:sym typeface="Iconic Symbols Ext" pitchFamily="2" charset="2"/>
              </a:rPr>
              <a:t>A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C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I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   </a:t>
            </a:r>
            <a:r>
              <a:rPr lang="en-US" sz="1800" i="1" dirty="0">
                <a:sym typeface="Iconic Symbols Ext" pitchFamily="2" charset="2"/>
              </a:rPr>
              <a:t>B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</a:t>
            </a:r>
            <a:r>
              <a:rPr lang="en-US" sz="1800" dirty="0">
                <a:sym typeface="Monotype Sorts" pitchFamily="2" charset="2"/>
              </a:rPr>
              <a:t>}</a:t>
            </a:r>
            <a:endParaRPr lang="en-US" sz="2400" dirty="0">
              <a:sym typeface="MS LineDraw" pitchFamily="49" charset="2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tabLst>
                <a:tab pos="803275" algn="l"/>
              </a:tabLst>
              <a:defRPr/>
            </a:pPr>
            <a:r>
              <a:rPr lang="en-US" sz="1800" dirty="0">
                <a:sym typeface="MS LineDraw" pitchFamily="49" charset="2"/>
              </a:rPr>
              <a:t>some members of </a:t>
            </a:r>
            <a:r>
              <a:rPr lang="en-US" sz="1800" b="1" i="1" dirty="0">
                <a:solidFill>
                  <a:srgbClr val="0033CC"/>
                </a:solidFill>
                <a:sym typeface="MS LineDraw" pitchFamily="49" charset="2"/>
              </a:rPr>
              <a:t>F</a:t>
            </a:r>
            <a:r>
              <a:rPr lang="en-US" sz="1800" b="1" baseline="30000" dirty="0">
                <a:solidFill>
                  <a:srgbClr val="0033CC"/>
                </a:solidFill>
                <a:sym typeface="MS LineDraw" pitchFamily="49" charset="2"/>
              </a:rPr>
              <a:t>+</a:t>
            </a:r>
            <a:endParaRPr lang="en-US" sz="1800" b="1" dirty="0">
              <a:solidFill>
                <a:srgbClr val="0033CC"/>
              </a:solidFill>
              <a:sym typeface="MS LineDraw" pitchFamily="49" charset="2"/>
            </a:endParaRP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tabLst>
                <a:tab pos="803275" algn="l"/>
              </a:tabLst>
              <a:defRPr/>
            </a:pPr>
            <a:r>
              <a:rPr lang="en-US" sz="1800" i="1" dirty="0">
                <a:sym typeface="Monotype Sorts" pitchFamily="2" charset="2"/>
              </a:rPr>
              <a:t>A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        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tabLst>
                <a:tab pos="803275" algn="l"/>
              </a:tabLst>
              <a:defRPr/>
            </a:pPr>
            <a:r>
              <a:rPr lang="en-US" sz="1800" dirty="0">
                <a:sym typeface="Monotype Sorts" pitchFamily="2" charset="2"/>
              </a:rPr>
              <a:t>by transitivity from  </a:t>
            </a:r>
            <a:r>
              <a:rPr lang="en-US" sz="1800" i="1" dirty="0">
                <a:sym typeface="Iconic Symbols Ext" pitchFamily="2" charset="2"/>
              </a:rPr>
              <a:t>A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B and </a:t>
            </a:r>
            <a:r>
              <a:rPr lang="en-US" sz="1800" i="1" dirty="0">
                <a:sym typeface="Iconic Symbols Ext" pitchFamily="2" charset="2"/>
              </a:rPr>
              <a:t>B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tabLst>
                <a:tab pos="803275" algn="l"/>
              </a:tabLst>
              <a:defRPr/>
            </a:pPr>
            <a:r>
              <a:rPr lang="en-US" sz="1800" i="1" dirty="0">
                <a:sym typeface="Monotype Sorts" pitchFamily="2" charset="2"/>
              </a:rPr>
              <a:t>AG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I       </a:t>
            </a:r>
            <a:endParaRPr lang="en-US" sz="1800" dirty="0">
              <a:sym typeface="Monotype Sorts" pitchFamily="2" charset="2"/>
            </a:endParaRP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tabLst>
                <a:tab pos="803275" algn="l"/>
              </a:tabLst>
              <a:defRPr/>
            </a:pPr>
            <a:r>
              <a:rPr lang="en-US" sz="1800" dirty="0">
                <a:sym typeface="Monotype Sorts" pitchFamily="2" charset="2"/>
              </a:rPr>
              <a:t>by augmenting </a:t>
            </a:r>
            <a:r>
              <a:rPr lang="en-US" sz="1800" i="1" dirty="0">
                <a:sym typeface="Iconic Symbols Ext" pitchFamily="2" charset="2"/>
              </a:rPr>
              <a:t>A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C </a:t>
            </a:r>
            <a:r>
              <a:rPr lang="en-US" sz="1800" dirty="0">
                <a:sym typeface="Monotype Sorts" pitchFamily="2" charset="2"/>
              </a:rPr>
              <a:t>with G, to get </a:t>
            </a:r>
            <a:r>
              <a:rPr lang="en-US" sz="1800" i="1" dirty="0">
                <a:sym typeface="Iconic Symbols Ext" pitchFamily="2" charset="2"/>
              </a:rPr>
              <a:t>AG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CG 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                   </a:t>
            </a:r>
            <a:r>
              <a:rPr lang="en-US" sz="1800" dirty="0">
                <a:sym typeface="Monotype Sorts" pitchFamily="2" charset="2"/>
              </a:rPr>
              <a:t>and then transitivity with 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I 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"/>
              <a:buChar char=""/>
              <a:tabLst>
                <a:tab pos="803275" algn="l"/>
              </a:tabLst>
              <a:defRPr/>
            </a:pPr>
            <a:r>
              <a:rPr lang="en-US" sz="1800" i="1" dirty="0">
                <a:sym typeface="Monotype Sorts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HI     </a:t>
            </a:r>
            <a:endParaRPr lang="en-US" sz="1800" dirty="0">
              <a:sym typeface="Monotype Sorts" pitchFamily="2" charset="2"/>
            </a:endParaRP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"/>
              <a:tabLst>
                <a:tab pos="803275" algn="l"/>
              </a:tabLst>
              <a:defRPr/>
            </a:pPr>
            <a:r>
              <a:rPr lang="en-US" sz="1800" dirty="0">
                <a:sym typeface="Monotype Sorts" pitchFamily="2" charset="2"/>
              </a:rPr>
              <a:t>by augmenting 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I </a:t>
            </a:r>
            <a:r>
              <a:rPr lang="en-US" sz="1800" dirty="0">
                <a:sym typeface="Monotype Sorts" pitchFamily="2" charset="2"/>
              </a:rPr>
              <a:t>to infer 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CG</a:t>
            </a:r>
            <a:r>
              <a:rPr lang="en-US" sz="1800" i="1" dirty="0">
                <a:sym typeface="Monotype Sorts" pitchFamily="2" charset="2"/>
              </a:rPr>
              <a:t>I, 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ebdings" pitchFamily="18" charset="2"/>
              <a:buNone/>
              <a:tabLst>
                <a:tab pos="803275" algn="l"/>
              </a:tabLst>
              <a:defRPr/>
            </a:pPr>
            <a:r>
              <a:rPr lang="en-US" sz="1800" dirty="0">
                <a:sym typeface="Monotype Sorts" pitchFamily="2" charset="2"/>
              </a:rPr>
              <a:t>    and augmenting of </a:t>
            </a:r>
            <a:r>
              <a:rPr lang="en-US" sz="1800" i="1" dirty="0">
                <a:sym typeface="Iconic Symbols Ext" pitchFamily="2" charset="2"/>
              </a:rPr>
              <a:t>CG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 </a:t>
            </a:r>
            <a:r>
              <a:rPr lang="en-US" sz="1800" dirty="0">
                <a:sym typeface="Monotype Sorts" pitchFamily="2" charset="2"/>
              </a:rPr>
              <a:t>to infer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i="1" dirty="0">
                <a:sym typeface="Iconic Symbols Ext" pitchFamily="2" charset="2"/>
              </a:rPr>
              <a:t>CGI </a:t>
            </a:r>
            <a:r>
              <a:rPr lang="en-US" sz="1800" dirty="0">
                <a:sym typeface="Symbol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HI, </a:t>
            </a:r>
          </a:p>
          <a:p>
            <a:pPr marL="822960" lvl="2" eaLnBrk="1" fontAlgn="auto" hangingPunct="1">
              <a:spcAft>
                <a:spcPts val="0"/>
              </a:spcAft>
              <a:buClr>
                <a:schemeClr val="accent3"/>
              </a:buClr>
              <a:buFont typeface="Webdings" pitchFamily="18" charset="2"/>
              <a:buNone/>
              <a:tabLst>
                <a:tab pos="803275" algn="l"/>
              </a:tabLst>
              <a:defRPr/>
            </a:pPr>
            <a:r>
              <a:rPr lang="en-US" sz="1800" i="1" dirty="0">
                <a:sym typeface="Monotype Sorts" pitchFamily="2" charset="2"/>
              </a:rPr>
              <a:t>                         </a:t>
            </a:r>
            <a:r>
              <a:rPr lang="en-US" sz="1800" dirty="0">
                <a:sym typeface="Monotype Sorts" pitchFamily="2" charset="2"/>
              </a:rPr>
              <a:t>and then transitivity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3C88913-A32A-441F-BA59-41961BA71E8E}" type="slidenum">
              <a:rPr lang="en-US" smtClean="0">
                <a:solidFill>
                  <a:srgbClr val="7B9899"/>
                </a:solidFill>
              </a:rPr>
              <a:pPr/>
              <a:t>22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27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CC85A7-6DD0-4C6D-A132-222F340D0375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 bldLvl="3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320675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accent3">
                    <a:shade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Procedure for Computing F</a:t>
            </a:r>
            <a:r>
              <a:rPr lang="en-US" baseline="30000">
                <a:solidFill>
                  <a:schemeClr val="accent3">
                    <a:shade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2112" y="1749425"/>
            <a:ext cx="8420291" cy="4157663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sz="1600" dirty="0"/>
              <a:t>To compute the closure of a set of functional dependencies F</a:t>
            </a:r>
            <a:br>
              <a:rPr lang="en-US" sz="1600" dirty="0"/>
            </a:br>
            <a:endParaRPr lang="en-US" sz="1600" i="1" dirty="0"/>
          </a:p>
          <a:p>
            <a:pPr eaLnBrk="1" hangingPunct="1">
              <a:buFont typeface="Monotype Sorts" pitchFamily="2" charset="2"/>
              <a:buNone/>
              <a:defRPr/>
            </a:pPr>
            <a:r>
              <a:rPr lang="en-US" sz="1600" i="1" dirty="0"/>
              <a:t>     </a:t>
            </a:r>
            <a:r>
              <a:rPr lang="en-US" sz="2000" i="1" dirty="0"/>
              <a:t>F </a:t>
            </a:r>
            <a:r>
              <a:rPr lang="en-US" sz="2000" baseline="30000" dirty="0"/>
              <a:t>+</a:t>
            </a:r>
            <a:r>
              <a:rPr lang="en-US" sz="2000" dirty="0"/>
              <a:t> = </a:t>
            </a:r>
            <a:r>
              <a:rPr lang="en-US" sz="2000" i="1" dirty="0"/>
              <a:t>F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repeat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b="1" dirty="0"/>
              <a:t>for each</a:t>
            </a:r>
            <a:r>
              <a:rPr lang="en-US" sz="2000" dirty="0"/>
              <a:t> functional dependency </a:t>
            </a:r>
            <a:r>
              <a:rPr lang="en-US" sz="2000" i="1" dirty="0"/>
              <a:t>f</a:t>
            </a:r>
            <a:r>
              <a:rPr lang="en-US" sz="2000" dirty="0"/>
              <a:t> in </a:t>
            </a:r>
            <a:r>
              <a:rPr lang="en-US" sz="2000" i="1" dirty="0"/>
              <a:t>F</a:t>
            </a:r>
            <a:r>
              <a:rPr lang="en-US" sz="2000" baseline="30000" dirty="0"/>
              <a:t>+</a:t>
            </a:r>
            <a:br>
              <a:rPr lang="en-US" sz="2000" baseline="30000" dirty="0"/>
            </a:br>
            <a:r>
              <a:rPr lang="en-US" sz="2000" baseline="30000" dirty="0"/>
              <a:t>	</a:t>
            </a:r>
            <a:r>
              <a:rPr lang="en-US" sz="2000" dirty="0"/>
              <a:t>       apply reflexivity and augmentation rules on </a:t>
            </a:r>
            <a:r>
              <a:rPr lang="en-US" sz="2000" i="1" dirty="0"/>
              <a:t>f</a:t>
            </a:r>
            <a:br>
              <a:rPr lang="en-US" sz="2000" i="1" dirty="0"/>
            </a:br>
            <a:r>
              <a:rPr lang="en-US" sz="2000" i="1" dirty="0"/>
              <a:t>	       </a:t>
            </a:r>
            <a:r>
              <a:rPr lang="en-US" sz="2000" dirty="0"/>
              <a:t>add the resulting functional dependencies to </a:t>
            </a:r>
            <a:r>
              <a:rPr lang="en-US" sz="2000" i="1" dirty="0"/>
              <a:t>F </a:t>
            </a:r>
            <a:r>
              <a:rPr lang="en-US" sz="2000" baseline="30000" dirty="0"/>
              <a:t>+</a:t>
            </a:r>
            <a:br>
              <a:rPr lang="en-US" sz="2000" baseline="30000" dirty="0"/>
            </a:br>
            <a:r>
              <a:rPr lang="en-US" sz="2000" baseline="30000" dirty="0"/>
              <a:t>	</a:t>
            </a:r>
            <a:r>
              <a:rPr lang="en-US" sz="2000" b="1" dirty="0"/>
              <a:t>for each </a:t>
            </a:r>
            <a:r>
              <a:rPr lang="en-US" sz="2000" dirty="0"/>
              <a:t>pair of functional dependencies </a:t>
            </a:r>
            <a:r>
              <a:rPr lang="en-US" sz="2000" i="1" dirty="0" smtClean="0"/>
              <a:t>f</a:t>
            </a:r>
            <a:r>
              <a:rPr lang="en-US" sz="2000" baseline="-25000" dirty="0" smtClean="0"/>
              <a:t>1 </a:t>
            </a:r>
            <a:r>
              <a:rPr lang="en-US" sz="2000" dirty="0" smtClean="0"/>
              <a:t>and </a:t>
            </a: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 in </a:t>
            </a:r>
            <a:r>
              <a:rPr lang="en-US" sz="2000" i="1" dirty="0"/>
              <a:t>F </a:t>
            </a:r>
            <a:r>
              <a:rPr lang="en-US" sz="2000" baseline="30000" dirty="0"/>
              <a:t>+</a:t>
            </a:r>
            <a:br>
              <a:rPr lang="en-US" sz="2000" baseline="30000" dirty="0"/>
            </a:br>
            <a:r>
              <a:rPr lang="en-US" sz="2000" baseline="30000" dirty="0"/>
              <a:t>	</a:t>
            </a:r>
            <a:r>
              <a:rPr lang="en-US" sz="2000" dirty="0"/>
              <a:t>       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f</a:t>
            </a:r>
            <a:r>
              <a:rPr lang="en-US" sz="2000" baseline="-25000" dirty="0"/>
              <a:t>1</a:t>
            </a:r>
            <a:r>
              <a:rPr lang="en-US" sz="2000" dirty="0"/>
              <a:t> and </a:t>
            </a:r>
            <a:r>
              <a:rPr lang="en-US" sz="2000" i="1" dirty="0"/>
              <a:t>f</a:t>
            </a:r>
            <a:r>
              <a:rPr lang="en-US" sz="2000" baseline="-25000" dirty="0"/>
              <a:t>2</a:t>
            </a:r>
            <a:r>
              <a:rPr lang="en-US" sz="2000" dirty="0"/>
              <a:t> can be combined using transitivity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b="1" dirty="0"/>
              <a:t>then</a:t>
            </a:r>
            <a:r>
              <a:rPr lang="en-US" sz="2000" dirty="0"/>
              <a:t> add the resulting functional dependency to </a:t>
            </a:r>
            <a:r>
              <a:rPr lang="en-US" sz="2000" i="1" dirty="0"/>
              <a:t>F </a:t>
            </a:r>
            <a:r>
              <a:rPr lang="en-US" sz="2000" baseline="30000" dirty="0"/>
              <a:t>+</a:t>
            </a:r>
            <a:br>
              <a:rPr lang="en-US" sz="2000" baseline="30000" dirty="0"/>
            </a:br>
            <a:r>
              <a:rPr lang="en-US" sz="2000" b="1" dirty="0"/>
              <a:t>until </a:t>
            </a:r>
            <a:r>
              <a:rPr lang="en-US" sz="2000" i="1" dirty="0"/>
              <a:t>F </a:t>
            </a:r>
            <a:r>
              <a:rPr lang="en-US" sz="2000" baseline="30000" dirty="0"/>
              <a:t>+</a:t>
            </a:r>
            <a:r>
              <a:rPr lang="en-US" sz="2000" dirty="0"/>
              <a:t> does not change any further</a:t>
            </a:r>
          </a:p>
          <a:p>
            <a:pPr eaLnBrk="1" hangingPunct="1">
              <a:buFont typeface="Monotype Sorts" pitchFamily="2" charset="2"/>
              <a:buNone/>
              <a:defRPr/>
            </a:pPr>
            <a:endParaRPr lang="en-US" sz="2000" dirty="0"/>
          </a:p>
          <a:p>
            <a:pPr eaLnBrk="1" hangingPunct="1">
              <a:buFont typeface="Monotype Sorts" pitchFamily="2" charset="2"/>
              <a:buNone/>
              <a:defRPr/>
            </a:pPr>
            <a:endParaRPr lang="en-US" sz="2000" baseline="30000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72614FE7-78FC-4E66-BDA2-2588A83981D8}" type="slidenum">
              <a:rPr lang="en-US" smtClean="0">
                <a:solidFill>
                  <a:srgbClr val="7B9899"/>
                </a:solidFill>
              </a:rPr>
              <a:pPr/>
              <a:t>23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B043-15AB-4FFA-B7BC-80EF69CDD375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338138"/>
            <a:ext cx="8077200" cy="59055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Closure of Functional Dependencies (Cont.)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91757"/>
            <a:ext cx="8608194" cy="4198937"/>
          </a:xfrm>
        </p:spPr>
        <p:txBody>
          <a:bodyPr/>
          <a:lstStyle/>
          <a:p>
            <a:pPr eaLnBrk="1" hangingPunct="1"/>
            <a:r>
              <a:rPr lang="en-US" sz="2400" dirty="0"/>
              <a:t>We can further simplify manual computation of </a:t>
            </a:r>
            <a:r>
              <a:rPr lang="en-US" sz="2400" i="1" dirty="0"/>
              <a:t>F</a:t>
            </a:r>
            <a:r>
              <a:rPr lang="en-US" sz="2400" baseline="30000" dirty="0"/>
              <a:t>+</a:t>
            </a:r>
            <a:r>
              <a:rPr lang="en-US" sz="2400" dirty="0"/>
              <a:t> by using the following additional rules.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If 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holds</a:t>
            </a:r>
            <a:r>
              <a:rPr lang="en-US" sz="2000" i="1" dirty="0">
                <a:sym typeface="Symbol" panose="05050102010706020507" pitchFamily="18" charset="2"/>
              </a:rPr>
              <a:t> a</a:t>
            </a:r>
            <a:r>
              <a:rPr lang="en-US" sz="2000" dirty="0">
                <a:sym typeface="Symbol" panose="05050102010706020507" pitchFamily="18" charset="2"/>
              </a:rPr>
              <a:t>nd 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</a:t>
            </a:r>
            <a:r>
              <a:rPr lang="en-US" sz="2000" dirty="0">
                <a:sym typeface="Monotype Sorts" pitchFamily="2" charset="2"/>
              </a:rPr>
              <a:t> holds,  then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</a:t>
            </a:r>
            <a:r>
              <a:rPr lang="en-US" sz="2000" dirty="0">
                <a:sym typeface="Greek Symbols" pitchFamily="18" charset="2"/>
              </a:rPr>
              <a:t> holds </a:t>
            </a:r>
            <a:r>
              <a:rPr lang="en-US" sz="2000" b="1" dirty="0">
                <a:sym typeface="Greek Symbols" pitchFamily="18" charset="2"/>
              </a:rPr>
              <a:t>(union)</a:t>
            </a:r>
            <a:endParaRPr lang="en-US" sz="2000" dirty="0">
              <a:sym typeface="Greek Symbols" pitchFamily="18" charset="2"/>
            </a:endParaRPr>
          </a:p>
          <a:p>
            <a:pPr lvl="1" eaLnBrk="1" hangingPunct="1"/>
            <a:r>
              <a:rPr lang="en-US" sz="2000" dirty="0">
                <a:sym typeface="Greek Symbols" pitchFamily="18" charset="2"/>
              </a:rPr>
              <a:t>If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</a:t>
            </a:r>
            <a:r>
              <a:rPr lang="en-US" sz="2000" dirty="0">
                <a:sym typeface="Monotype Sorts" pitchFamily="2" charset="2"/>
              </a:rPr>
              <a:t> holds, then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 </a:t>
            </a:r>
            <a:r>
              <a:rPr lang="en-US" sz="2000" dirty="0">
                <a:sym typeface="Symbol" panose="05050102010706020507" pitchFamily="18" charset="2"/>
              </a:rPr>
              <a:t>holds and 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</a:t>
            </a:r>
            <a:r>
              <a:rPr lang="en-US" sz="2000" dirty="0">
                <a:sym typeface="Monotype Sorts" pitchFamily="2" charset="2"/>
              </a:rPr>
              <a:t> holds  </a:t>
            </a:r>
            <a:r>
              <a:rPr lang="en-US" sz="2000" b="1" dirty="0">
                <a:sym typeface="Monotype Sorts" pitchFamily="2" charset="2"/>
              </a:rPr>
              <a:t>(decomposition)</a:t>
            </a:r>
            <a:endParaRPr lang="en-US" sz="2000" dirty="0">
              <a:sym typeface="Monotype Sorts" pitchFamily="2" charset="2"/>
            </a:endParaRPr>
          </a:p>
          <a:p>
            <a:pPr lvl="1" eaLnBrk="1" hangingPunct="1"/>
            <a:r>
              <a:rPr lang="en-US" sz="2000" dirty="0">
                <a:sym typeface="Monotype Sorts" pitchFamily="2" charset="2"/>
              </a:rPr>
              <a:t>If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 </a:t>
            </a:r>
            <a:r>
              <a:rPr lang="en-US" sz="2000" dirty="0">
                <a:sym typeface="Symbol" panose="05050102010706020507" pitchFamily="18" charset="2"/>
              </a:rPr>
              <a:t>holds</a:t>
            </a:r>
            <a:r>
              <a:rPr lang="en-US" sz="2000" i="1" dirty="0">
                <a:sym typeface="Symbol" panose="05050102010706020507" pitchFamily="18" charset="2"/>
              </a:rPr>
              <a:t> a</a:t>
            </a:r>
            <a:r>
              <a:rPr lang="en-US" sz="2000" dirty="0">
                <a:sym typeface="Symbol" panose="05050102010706020507" pitchFamily="18" charset="2"/>
              </a:rPr>
              <a:t>nd 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</a:t>
            </a:r>
            <a:r>
              <a:rPr lang="en-US" sz="2000" dirty="0">
                <a:sym typeface="Greek Symbols" pitchFamily="18" charset="2"/>
              </a:rPr>
              <a:t> holds, then </a:t>
            </a:r>
            <a:r>
              <a:rPr lang="en-US" sz="2000" dirty="0">
                <a:sym typeface="Symbol" panose="05050102010706020507" pitchFamily="18" charset="2"/>
              </a:rPr>
              <a:t> 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</a:t>
            </a:r>
            <a:r>
              <a:rPr lang="en-US" sz="2000" dirty="0">
                <a:sym typeface="Greek Symbols" pitchFamily="18" charset="2"/>
              </a:rPr>
              <a:t> holds</a:t>
            </a:r>
            <a:r>
              <a:rPr lang="en-US" sz="2000" b="1" dirty="0">
                <a:sym typeface="Greek Symbols" pitchFamily="18" charset="2"/>
              </a:rPr>
              <a:t> (</a:t>
            </a:r>
            <a:r>
              <a:rPr lang="en-US" sz="2000" b="1" dirty="0" err="1">
                <a:sym typeface="Greek Symbols" pitchFamily="18" charset="2"/>
              </a:rPr>
              <a:t>pseudotransitivity</a:t>
            </a:r>
            <a:r>
              <a:rPr lang="en-US" sz="2000" b="1" dirty="0">
                <a:sym typeface="Greek Symbols" pitchFamily="18" charset="2"/>
              </a:rPr>
              <a:t>)</a:t>
            </a:r>
            <a:endParaRPr lang="en-US" sz="2000" dirty="0">
              <a:sym typeface="Greek Symbols" pitchFamily="18" charset="2"/>
            </a:endParaRPr>
          </a:p>
          <a:p>
            <a:pPr lvl="1" eaLnBrk="1" hangingPunct="1">
              <a:buFont typeface="Monotype Sorts" pitchFamily="2" charset="2"/>
              <a:buNone/>
            </a:pPr>
            <a:r>
              <a:rPr lang="en-US" sz="2000" dirty="0">
                <a:sym typeface="Greek Symbols" pitchFamily="18" charset="2"/>
              </a:rPr>
              <a:t>The above rules can be inferred from Armstrong’s axioms.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BBD0824-830E-4A49-8069-EFAB38FF750D}" type="slidenum">
              <a:rPr lang="en-US" smtClean="0">
                <a:solidFill>
                  <a:srgbClr val="7B9899"/>
                </a:solidFill>
              </a:rPr>
              <a:pPr/>
              <a:t>24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482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26EAE3-D5A9-4D51-B6A0-BB96E52478FF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20675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Closure of Attribute Sets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1741" y="1639888"/>
            <a:ext cx="8066297" cy="43688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  <a:defRPr/>
            </a:pPr>
            <a:r>
              <a:rPr lang="en-US" sz="2400" dirty="0"/>
              <a:t>Given a set of attributes </a:t>
            </a:r>
            <a:r>
              <a:rPr lang="en-US" sz="2400" dirty="0">
                <a:latin typeface="Symbol" pitchFamily="18" charset="2"/>
                <a:sym typeface="Greek Symbols" pitchFamily="18" charset="2"/>
              </a:rPr>
              <a:t>a,</a:t>
            </a:r>
            <a:r>
              <a:rPr lang="en-US" sz="2400" dirty="0"/>
              <a:t> define the </a:t>
            </a:r>
            <a:r>
              <a:rPr lang="en-US" sz="2400" i="1" dirty="0">
                <a:solidFill>
                  <a:schemeClr val="tx2"/>
                </a:solidFill>
              </a:rPr>
              <a:t>closure</a:t>
            </a:r>
            <a:r>
              <a:rPr lang="en-US" sz="2400" i="1" dirty="0"/>
              <a:t> </a:t>
            </a:r>
            <a:r>
              <a:rPr lang="en-US" sz="2400" dirty="0"/>
              <a:t>of </a:t>
            </a:r>
            <a:r>
              <a:rPr lang="en-US" sz="2400" dirty="0"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dirty="0">
                <a:sym typeface="Greek Symbols" pitchFamily="18" charset="2"/>
              </a:rPr>
              <a:t> </a:t>
            </a:r>
            <a:r>
              <a:rPr lang="en-US" sz="2400" dirty="0">
                <a:solidFill>
                  <a:schemeClr val="tx2"/>
                </a:solidFill>
                <a:sym typeface="Greek Symbols" pitchFamily="18" charset="2"/>
              </a:rPr>
              <a:t>under</a:t>
            </a:r>
            <a:r>
              <a:rPr lang="en-US" sz="2400" dirty="0">
                <a:sym typeface="Greek Symbols" pitchFamily="18" charset="2"/>
              </a:rPr>
              <a:t> </a:t>
            </a:r>
            <a:r>
              <a:rPr lang="en-US" sz="2400" i="1" dirty="0">
                <a:sym typeface="Greek Symbols" pitchFamily="18" charset="2"/>
              </a:rPr>
              <a:t>F</a:t>
            </a:r>
            <a:r>
              <a:rPr lang="en-US" sz="2400" dirty="0">
                <a:sym typeface="Greek Symbols" pitchFamily="18" charset="2"/>
              </a:rPr>
              <a:t> (denoted by </a:t>
            </a:r>
            <a:r>
              <a:rPr lang="en-US" sz="2400" dirty="0"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baseline="30000" dirty="0">
                <a:sym typeface="Greek Symbols" pitchFamily="18" charset="2"/>
              </a:rPr>
              <a:t>+</a:t>
            </a:r>
            <a:r>
              <a:rPr lang="en-US" sz="2400" dirty="0">
                <a:sym typeface="Greek Symbols" pitchFamily="18" charset="2"/>
              </a:rPr>
              <a:t>) as the </a:t>
            </a:r>
            <a:r>
              <a:rPr lang="en-US" sz="2400" dirty="0">
                <a:solidFill>
                  <a:srgbClr val="FF0000"/>
                </a:solidFill>
                <a:sym typeface="Greek Symbols" pitchFamily="18" charset="2"/>
              </a:rPr>
              <a:t>set of attributes </a:t>
            </a:r>
            <a:r>
              <a:rPr lang="en-US" sz="2400" dirty="0">
                <a:sym typeface="Greek Symbols" pitchFamily="18" charset="2"/>
              </a:rPr>
              <a:t>that are functionally </a:t>
            </a:r>
            <a:r>
              <a:rPr lang="en-US" sz="2400" dirty="0">
                <a:solidFill>
                  <a:srgbClr val="FF0000"/>
                </a:solidFill>
                <a:sym typeface="Greek Symbols" pitchFamily="18" charset="2"/>
              </a:rPr>
              <a:t>determined by </a:t>
            </a:r>
            <a:r>
              <a:rPr lang="en-US" sz="2400" dirty="0">
                <a:solidFill>
                  <a:srgbClr val="FF0000"/>
                </a:solidFill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dirty="0">
                <a:solidFill>
                  <a:srgbClr val="FF0000"/>
                </a:solidFill>
                <a:sym typeface="Greek Symbols" pitchFamily="18" charset="2"/>
              </a:rPr>
              <a:t> under </a:t>
            </a:r>
            <a:r>
              <a:rPr lang="en-US" sz="2400" i="1" dirty="0">
                <a:solidFill>
                  <a:srgbClr val="FF0000"/>
                </a:solidFill>
                <a:sym typeface="Greek Symbols" pitchFamily="18" charset="2"/>
              </a:rPr>
              <a:t>F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  <a:defRPr/>
            </a:pPr>
            <a:endParaRPr lang="en-US" sz="2400" i="1" dirty="0">
              <a:sym typeface="Greek Symbols" pitchFamily="18" charset="2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  <a:defRPr/>
            </a:pPr>
            <a:r>
              <a:rPr lang="en-US" sz="1800" dirty="0">
                <a:sym typeface="Greek Symbols" pitchFamily="18" charset="2"/>
              </a:rPr>
              <a:t> </a:t>
            </a:r>
            <a:r>
              <a:rPr lang="en-US" sz="2400" dirty="0">
                <a:sym typeface="Greek Symbols" pitchFamily="18" charset="2"/>
              </a:rPr>
              <a:t>Algorithm to compute </a:t>
            </a:r>
            <a:r>
              <a:rPr lang="en-US" sz="2400" dirty="0"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baseline="30000" dirty="0">
                <a:sym typeface="Greek Symbols" pitchFamily="18" charset="2"/>
              </a:rPr>
              <a:t>+</a:t>
            </a:r>
            <a:r>
              <a:rPr lang="en-US" sz="2400" dirty="0">
                <a:sym typeface="Greek Symbols" pitchFamily="18" charset="2"/>
              </a:rPr>
              <a:t>, the </a:t>
            </a:r>
            <a:r>
              <a:rPr lang="en-US" sz="2400" dirty="0">
                <a:solidFill>
                  <a:srgbClr val="CC3300"/>
                </a:solidFill>
                <a:sym typeface="Greek Symbols" pitchFamily="18" charset="2"/>
              </a:rPr>
              <a:t>closure of </a:t>
            </a:r>
            <a:r>
              <a:rPr lang="en-US" sz="2400" dirty="0">
                <a:solidFill>
                  <a:srgbClr val="CC3300"/>
                </a:solidFill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dirty="0">
                <a:sym typeface="Greek Symbols" pitchFamily="18" charset="2"/>
              </a:rPr>
              <a:t> under </a:t>
            </a:r>
            <a:r>
              <a:rPr lang="en-US" sz="2400" i="1" dirty="0">
                <a:sym typeface="Greek Symbols" pitchFamily="18" charset="2"/>
              </a:rPr>
              <a:t>F</a:t>
            </a:r>
            <a:br>
              <a:rPr lang="en-US" sz="2400" i="1" dirty="0">
                <a:sym typeface="Greek Symbols" pitchFamily="18" charset="2"/>
              </a:rPr>
            </a:br>
            <a:endParaRPr lang="en-US" sz="2400" i="1" dirty="0">
              <a:sym typeface="Greek Symbols" pitchFamily="18" charset="2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Monotype Sorts" pitchFamily="2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  <a:defRPr/>
            </a:pPr>
            <a:r>
              <a:rPr lang="en-US" sz="2400" i="1" dirty="0">
                <a:sym typeface="Greek Symbols" pitchFamily="18" charset="2"/>
              </a:rPr>
              <a:t>      	result </a:t>
            </a:r>
            <a:r>
              <a:rPr lang="en-US" sz="2400" dirty="0">
                <a:sym typeface="Greek Symbols" pitchFamily="18" charset="2"/>
              </a:rPr>
              <a:t>:= </a:t>
            </a:r>
            <a:r>
              <a:rPr lang="en-US" sz="2400" dirty="0">
                <a:latin typeface="Symbol" pitchFamily="18" charset="2"/>
                <a:sym typeface="Greek Symbols" pitchFamily="18" charset="2"/>
              </a:rPr>
              <a:t>a</a:t>
            </a:r>
            <a:r>
              <a:rPr lang="en-US" sz="2400" dirty="0">
                <a:sym typeface="Greek Symbols" pitchFamily="18" charset="2"/>
              </a:rPr>
              <a:t>;</a:t>
            </a:r>
            <a:br>
              <a:rPr lang="en-US" sz="2400" dirty="0">
                <a:sym typeface="Greek Symbols" pitchFamily="18" charset="2"/>
              </a:rPr>
            </a:br>
            <a:r>
              <a:rPr lang="en-US" sz="2400" dirty="0">
                <a:sym typeface="Greek Symbols" pitchFamily="18" charset="2"/>
              </a:rPr>
              <a:t>	</a:t>
            </a:r>
            <a:r>
              <a:rPr lang="en-US" sz="2400" b="1" dirty="0">
                <a:sym typeface="Greek Symbols" pitchFamily="18" charset="2"/>
              </a:rPr>
              <a:t>while</a:t>
            </a:r>
            <a:r>
              <a:rPr lang="en-US" sz="2400" dirty="0">
                <a:sym typeface="Greek Symbols" pitchFamily="18" charset="2"/>
              </a:rPr>
              <a:t> (changes to </a:t>
            </a:r>
            <a:r>
              <a:rPr lang="en-US" sz="2400" i="1" dirty="0">
                <a:sym typeface="Greek Symbols" pitchFamily="18" charset="2"/>
              </a:rPr>
              <a:t>result</a:t>
            </a:r>
            <a:r>
              <a:rPr lang="en-US" sz="2400" dirty="0">
                <a:sym typeface="Greek Symbols" pitchFamily="18" charset="2"/>
              </a:rPr>
              <a:t>) </a:t>
            </a:r>
            <a:r>
              <a:rPr lang="en-US" sz="2400" b="1" dirty="0">
                <a:sym typeface="Greek Symbols" pitchFamily="18" charset="2"/>
              </a:rPr>
              <a:t>do</a:t>
            </a:r>
            <a:br>
              <a:rPr lang="en-US" sz="2400" b="1" dirty="0">
                <a:sym typeface="Greek Symbols" pitchFamily="18" charset="2"/>
              </a:rPr>
            </a:br>
            <a:r>
              <a:rPr lang="en-US" sz="2400" b="1" dirty="0">
                <a:sym typeface="Greek Symbols" pitchFamily="18" charset="2"/>
              </a:rPr>
              <a:t>		for each </a:t>
            </a:r>
            <a:r>
              <a:rPr lang="en-US" sz="2400" dirty="0">
                <a:sym typeface="Symbol" pitchFamily="18" charset="2"/>
              </a:rPr>
              <a:t></a:t>
            </a:r>
            <a:r>
              <a:rPr lang="en-US" sz="2400" i="1" dirty="0">
                <a:sym typeface="Greek Symbols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</a:t>
            </a:r>
            <a:r>
              <a:rPr lang="en-US" sz="2400" dirty="0">
                <a:sym typeface="Monotype Sorts" pitchFamily="2" charset="2"/>
              </a:rPr>
              <a:t>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400" dirty="0">
                <a:sym typeface="Greek Symbols" pitchFamily="18" charset="2"/>
              </a:rPr>
              <a:t> </a:t>
            </a:r>
            <a:r>
              <a:rPr lang="en-US" sz="2400" b="1" dirty="0">
                <a:sym typeface="Greek Symbols" pitchFamily="18" charset="2"/>
              </a:rPr>
              <a:t>in</a:t>
            </a:r>
            <a:r>
              <a:rPr lang="en-US" sz="2400" i="1" dirty="0">
                <a:sym typeface="Greek Symbols" pitchFamily="18" charset="2"/>
              </a:rPr>
              <a:t> F</a:t>
            </a:r>
            <a:r>
              <a:rPr lang="en-US" sz="2400" b="1" dirty="0">
                <a:sym typeface="Greek Symbols" pitchFamily="18" charset="2"/>
              </a:rPr>
              <a:t> do</a:t>
            </a:r>
            <a:br>
              <a:rPr lang="en-US" sz="2400" b="1" dirty="0">
                <a:sym typeface="Greek Symbols" pitchFamily="18" charset="2"/>
              </a:rPr>
            </a:br>
            <a:r>
              <a:rPr lang="en-US" sz="2400" b="1" dirty="0">
                <a:sym typeface="Greek Symbols" pitchFamily="18" charset="2"/>
              </a:rPr>
              <a:t>			begin</a:t>
            </a:r>
            <a:br>
              <a:rPr lang="en-US" sz="2400" b="1" dirty="0">
                <a:sym typeface="Greek Symbols" pitchFamily="18" charset="2"/>
              </a:rPr>
            </a:br>
            <a:r>
              <a:rPr lang="en-US" sz="2400" b="1" dirty="0">
                <a:sym typeface="Greek Symbols" pitchFamily="18" charset="2"/>
              </a:rPr>
              <a:t>				if </a:t>
            </a:r>
            <a:r>
              <a:rPr lang="en-US" sz="2400" dirty="0">
                <a:sym typeface="Symbol" pitchFamily="18" charset="2"/>
              </a:rPr>
              <a:t></a:t>
            </a:r>
            <a:r>
              <a:rPr lang="en-US" sz="2400" i="1" dirty="0">
                <a:sym typeface="Greek Symbols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 </a:t>
            </a:r>
            <a:r>
              <a:rPr lang="en-US" sz="2400" i="1" dirty="0">
                <a:sym typeface="Symbol" pitchFamily="18" charset="2"/>
              </a:rPr>
              <a:t>result</a:t>
            </a:r>
            <a:r>
              <a:rPr lang="en-US" sz="2400" b="1" dirty="0">
                <a:sym typeface="Symbol" pitchFamily="18" charset="2"/>
              </a:rPr>
              <a:t> then </a:t>
            </a:r>
            <a:r>
              <a:rPr lang="en-US" sz="2400" i="1" dirty="0">
                <a:sym typeface="Symbol" pitchFamily="18" charset="2"/>
              </a:rPr>
              <a:t> result </a:t>
            </a:r>
            <a:r>
              <a:rPr lang="en-US" sz="2400" dirty="0">
                <a:sym typeface="Symbol" pitchFamily="18" charset="2"/>
              </a:rPr>
              <a:t>:= </a:t>
            </a:r>
            <a:r>
              <a:rPr lang="en-US" sz="2400" i="1" dirty="0">
                <a:sym typeface="Symbol" pitchFamily="18" charset="2"/>
              </a:rPr>
              <a:t>result </a:t>
            </a:r>
            <a:r>
              <a:rPr lang="en-US" sz="2400" dirty="0">
                <a:sym typeface="Symbol" pitchFamily="18" charset="2"/>
              </a:rPr>
              <a:t></a:t>
            </a:r>
            <a:r>
              <a:rPr lang="en-US" sz="2400" dirty="0">
                <a:sym typeface="Greek Symbols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</a:t>
            </a:r>
            <a:r>
              <a:rPr lang="en-US" sz="2400" dirty="0">
                <a:sym typeface="Greek Symbols" pitchFamily="18" charset="2"/>
              </a:rPr>
              <a:t> </a:t>
            </a:r>
            <a:br>
              <a:rPr lang="en-US" sz="2400" dirty="0">
                <a:sym typeface="Greek Symbols" pitchFamily="18" charset="2"/>
              </a:rPr>
            </a:br>
            <a:r>
              <a:rPr lang="en-US" sz="2400" dirty="0">
                <a:sym typeface="Greek Symbols" pitchFamily="18" charset="2"/>
              </a:rPr>
              <a:t>			</a:t>
            </a:r>
            <a:r>
              <a:rPr lang="en-US" sz="2400" b="1" dirty="0">
                <a:sym typeface="Greek Symbols" pitchFamily="18" charset="2"/>
              </a:rPr>
              <a:t>end</a:t>
            </a:r>
            <a:endParaRPr lang="en-US" sz="1800" b="1" dirty="0">
              <a:sym typeface="Greek Symbols" pitchFamily="18" charset="2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FE3F8E3-A601-4999-800A-79B779C52C5E}" type="slidenum">
              <a:rPr lang="en-US" smtClean="0">
                <a:solidFill>
                  <a:srgbClr val="7B9899"/>
                </a:solidFill>
              </a:rPr>
              <a:pPr/>
              <a:t>25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CE7BB4-8535-4F77-B9B4-BB605B3D8ED2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422275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Attribute Set Closure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50863" y="1524000"/>
            <a:ext cx="8229600" cy="4513263"/>
          </a:xfrm>
        </p:spPr>
        <p:txBody>
          <a:bodyPr/>
          <a:lstStyle/>
          <a:p>
            <a:pPr eaLnBrk="1" hangingPunct="1">
              <a:tabLst>
                <a:tab pos="803275" algn="l"/>
                <a:tab pos="2633663" algn="l"/>
                <a:tab pos="3140075" algn="l"/>
              </a:tabLst>
            </a:pPr>
            <a:r>
              <a:rPr lang="en-US" sz="2000" i="1"/>
              <a:t>R = (A, B, C, G, H, I)</a:t>
            </a:r>
          </a:p>
          <a:p>
            <a:pPr eaLnBrk="1" hangingPunct="1">
              <a:tabLst>
                <a:tab pos="803275" algn="l"/>
                <a:tab pos="2633663" algn="l"/>
                <a:tab pos="3140075" algn="l"/>
              </a:tabLst>
            </a:pPr>
            <a:r>
              <a:rPr lang="en-US" sz="2000" i="1"/>
              <a:t>F = </a:t>
            </a:r>
            <a:r>
              <a:rPr lang="en-US" sz="2000"/>
              <a:t>{</a:t>
            </a:r>
            <a:r>
              <a:rPr lang="en-US" sz="2000" i="1">
                <a:sym typeface="Iconic Symbols Ext" pitchFamily="2" charset="2"/>
              </a:rPr>
              <a:t>A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B</a:t>
            </a:r>
            <a:br>
              <a:rPr lang="en-US" sz="2000" i="1">
                <a:sym typeface="Monotype Sorts" pitchFamily="2" charset="2"/>
              </a:rPr>
            </a:br>
            <a:r>
              <a:rPr lang="en-US" sz="2000" i="1">
                <a:sym typeface="Monotype Sorts" pitchFamily="2" charset="2"/>
              </a:rPr>
              <a:t>	</a:t>
            </a:r>
            <a:r>
              <a:rPr lang="en-US" sz="2000" i="1">
                <a:sym typeface="Iconic Symbols Ext" pitchFamily="2" charset="2"/>
              </a:rPr>
              <a:t>A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C </a:t>
            </a:r>
            <a:br>
              <a:rPr lang="en-US" sz="2000" i="1">
                <a:sym typeface="Monotype Sorts" pitchFamily="2" charset="2"/>
              </a:rPr>
            </a:br>
            <a:r>
              <a:rPr lang="en-US" sz="2000" i="1">
                <a:sym typeface="Monotype Sorts" pitchFamily="2" charset="2"/>
              </a:rPr>
              <a:t>	</a:t>
            </a:r>
            <a:r>
              <a:rPr lang="en-US" sz="2000" i="1">
                <a:sym typeface="Iconic Symbols Ext" pitchFamily="2" charset="2"/>
              </a:rPr>
              <a:t>CG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H</a:t>
            </a:r>
            <a:br>
              <a:rPr lang="en-US" sz="2000" i="1">
                <a:sym typeface="Monotype Sorts" pitchFamily="2" charset="2"/>
              </a:rPr>
            </a:br>
            <a:r>
              <a:rPr lang="en-US" sz="2000" i="1">
                <a:sym typeface="Monotype Sorts" pitchFamily="2" charset="2"/>
              </a:rPr>
              <a:t>	</a:t>
            </a:r>
            <a:r>
              <a:rPr lang="en-US" sz="2000" i="1">
                <a:sym typeface="Iconic Symbols Ext" pitchFamily="2" charset="2"/>
              </a:rPr>
              <a:t>CG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I</a:t>
            </a:r>
            <a:br>
              <a:rPr lang="en-US" sz="2000" i="1">
                <a:sym typeface="Monotype Sorts" pitchFamily="2" charset="2"/>
              </a:rPr>
            </a:br>
            <a:r>
              <a:rPr lang="en-US" sz="2000" i="1">
                <a:sym typeface="Monotype Sorts" pitchFamily="2" charset="2"/>
              </a:rPr>
              <a:t>	</a:t>
            </a:r>
            <a:r>
              <a:rPr lang="en-US" sz="2000" i="1">
                <a:sym typeface="Iconic Symbols Ext" pitchFamily="2" charset="2"/>
              </a:rPr>
              <a:t>B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H</a:t>
            </a:r>
            <a:r>
              <a:rPr lang="en-US" sz="2000">
                <a:sym typeface="Monotype Sorts" pitchFamily="2" charset="2"/>
              </a:rPr>
              <a:t>}</a:t>
            </a:r>
            <a:endParaRPr lang="en-US" sz="2000">
              <a:sym typeface="MS LineDraw" pitchFamily="49" charset="2"/>
            </a:endParaRPr>
          </a:p>
          <a:p>
            <a:pPr eaLnBrk="1" hangingPunct="1">
              <a:tabLst>
                <a:tab pos="803275" algn="l"/>
                <a:tab pos="2633663" algn="l"/>
                <a:tab pos="3140075" algn="l"/>
              </a:tabLst>
            </a:pPr>
            <a:r>
              <a:rPr lang="en-US" sz="2000">
                <a:sym typeface="MS LineDraw" pitchFamily="49" charset="2"/>
              </a:rPr>
              <a:t>(</a:t>
            </a:r>
            <a:r>
              <a:rPr lang="en-US" sz="2000" i="1">
                <a:sym typeface="MS LineDraw" pitchFamily="49" charset="2"/>
              </a:rPr>
              <a:t>AG)</a:t>
            </a:r>
            <a:r>
              <a:rPr lang="en-US" sz="2000" baseline="30000">
                <a:sym typeface="MS LineDraw" pitchFamily="49" charset="2"/>
              </a:rPr>
              <a:t>+</a:t>
            </a:r>
            <a:endParaRPr lang="en-US" sz="2000">
              <a:sym typeface="MS LineDraw" pitchFamily="49" charset="2"/>
            </a:endParaRPr>
          </a:p>
          <a:p>
            <a:pPr marL="762000" lvl="1" indent="-304800" eaLnBrk="1" hangingPunct="1"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sz="2000">
                <a:sym typeface="MS LineDraw" pitchFamily="49" charset="2"/>
              </a:rPr>
              <a:t>1.	</a:t>
            </a:r>
            <a:r>
              <a:rPr lang="en-US" sz="2000" i="1">
                <a:sym typeface="MS LineDraw" pitchFamily="49" charset="2"/>
              </a:rPr>
              <a:t>result = AG</a:t>
            </a:r>
            <a:endParaRPr lang="en-US" sz="2000">
              <a:sym typeface="MS LineDraw" pitchFamily="49" charset="2"/>
            </a:endParaRPr>
          </a:p>
          <a:p>
            <a:pPr marL="762000" lvl="1" indent="-304800" eaLnBrk="1" hangingPunct="1"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sz="2000">
                <a:sym typeface="MS LineDraw" pitchFamily="49" charset="2"/>
              </a:rPr>
              <a:t>2.	</a:t>
            </a:r>
            <a:r>
              <a:rPr lang="en-US" sz="2000" i="1">
                <a:sym typeface="MS LineDraw" pitchFamily="49" charset="2"/>
              </a:rPr>
              <a:t>result = ABCG	(A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C </a:t>
            </a:r>
            <a:r>
              <a:rPr lang="en-US" sz="2000">
                <a:sym typeface="Monotype Sorts" pitchFamily="2" charset="2"/>
              </a:rPr>
              <a:t>and </a:t>
            </a:r>
            <a:r>
              <a:rPr lang="en-US" sz="2000" i="1">
                <a:sym typeface="Monotype Sorts" pitchFamily="2" charset="2"/>
              </a:rPr>
              <a:t>A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 i="1">
                <a:sym typeface="Symbol" panose="05050102010706020507" pitchFamily="18" charset="2"/>
              </a:rPr>
              <a:t> B)</a:t>
            </a:r>
            <a:endParaRPr lang="en-US" sz="2000">
              <a:sym typeface="Symbol" panose="05050102010706020507" pitchFamily="18" charset="2"/>
            </a:endParaRPr>
          </a:p>
          <a:p>
            <a:pPr marL="762000" lvl="1" indent="-304800" eaLnBrk="1" hangingPunct="1"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sz="2000">
                <a:sym typeface="Symbol" panose="05050102010706020507" pitchFamily="18" charset="2"/>
              </a:rPr>
              <a:t>3.	</a:t>
            </a:r>
            <a:r>
              <a:rPr lang="en-US" sz="2000" i="1">
                <a:sym typeface="MS LineDraw" pitchFamily="49" charset="2"/>
              </a:rPr>
              <a:t>result = ABCG</a:t>
            </a:r>
            <a:r>
              <a:rPr lang="en-US" sz="2000" i="1">
                <a:sym typeface="Monotype Sorts" pitchFamily="2" charset="2"/>
              </a:rPr>
              <a:t>H	(CG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H</a:t>
            </a:r>
            <a:r>
              <a:rPr lang="en-US" sz="2000">
                <a:sym typeface="Monotype Sorts" pitchFamily="2" charset="2"/>
              </a:rPr>
              <a:t> and </a:t>
            </a:r>
            <a:r>
              <a:rPr lang="en-US" sz="2000" i="1">
                <a:sym typeface="Monotype Sorts" pitchFamily="2" charset="2"/>
              </a:rPr>
              <a:t>CG </a:t>
            </a:r>
            <a:r>
              <a:rPr lang="en-US" sz="2000">
                <a:sym typeface="Symbol" panose="05050102010706020507" pitchFamily="18" charset="2"/>
              </a:rPr>
              <a:t> </a:t>
            </a:r>
            <a:r>
              <a:rPr lang="en-US" sz="2000" i="1">
                <a:sym typeface="Symbol" panose="05050102010706020507" pitchFamily="18" charset="2"/>
              </a:rPr>
              <a:t>AGBC)</a:t>
            </a:r>
          </a:p>
          <a:p>
            <a:pPr marL="762000" lvl="1" indent="-304800" eaLnBrk="1" hangingPunct="1">
              <a:buFont typeface="Monotype Sorts" pitchFamily="2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sz="2000">
                <a:sym typeface="Symbol" panose="05050102010706020507" pitchFamily="18" charset="2"/>
              </a:rPr>
              <a:t>4.	</a:t>
            </a:r>
            <a:r>
              <a:rPr lang="en-US" sz="2000" i="1">
                <a:sym typeface="MS LineDraw" pitchFamily="49" charset="2"/>
              </a:rPr>
              <a:t>result = ABCG</a:t>
            </a:r>
            <a:r>
              <a:rPr lang="en-US" sz="2000" i="1">
                <a:sym typeface="Monotype Sorts" pitchFamily="2" charset="2"/>
              </a:rPr>
              <a:t>HI	(CG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 i="1">
                <a:sym typeface="Monotype Sorts" pitchFamily="2" charset="2"/>
              </a:rPr>
              <a:t>I</a:t>
            </a:r>
            <a:r>
              <a:rPr lang="en-US" sz="2000">
                <a:sym typeface="Monotype Sorts" pitchFamily="2" charset="2"/>
              </a:rPr>
              <a:t> and </a:t>
            </a:r>
            <a:r>
              <a:rPr lang="en-US" sz="2000" i="1">
                <a:sym typeface="Monotype Sorts" pitchFamily="2" charset="2"/>
              </a:rPr>
              <a:t>CG </a:t>
            </a:r>
            <a:r>
              <a:rPr lang="en-US" sz="2000">
                <a:sym typeface="Symbol" panose="05050102010706020507" pitchFamily="18" charset="2"/>
              </a:rPr>
              <a:t> </a:t>
            </a:r>
            <a:r>
              <a:rPr lang="en-US" sz="2000" i="1">
                <a:sym typeface="Symbol" panose="05050102010706020507" pitchFamily="18" charset="2"/>
              </a:rPr>
              <a:t>AGBCH)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695E6D2-BBD9-48F3-A073-C5A421E4FDF2}" type="slidenum">
              <a:rPr lang="en-US" smtClean="0">
                <a:solidFill>
                  <a:srgbClr val="7B9899"/>
                </a:solidFill>
              </a:rPr>
              <a:pPr/>
              <a:t>26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A7C84F-C2B6-4B37-8DDE-4456584BA32E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17525" y="34925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accent3">
                    <a:shade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Uses of Attribute Closure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6713" y="1356527"/>
            <a:ext cx="8486775" cy="4943789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sz="2000" dirty="0"/>
              <a:t>There are several uses of the attribute closure algorithm:</a:t>
            </a:r>
          </a:p>
          <a:p>
            <a:pPr eaLnBrk="1" hangingPunct="1"/>
            <a:r>
              <a:rPr lang="en-US" sz="2000" dirty="0"/>
              <a:t>Testing for </a:t>
            </a:r>
            <a:r>
              <a:rPr lang="en-US" sz="2000" dirty="0" err="1"/>
              <a:t>superkey</a:t>
            </a:r>
            <a:r>
              <a:rPr lang="en-US" sz="2000" dirty="0"/>
              <a:t>:</a:t>
            </a:r>
          </a:p>
          <a:p>
            <a:pPr lvl="1" eaLnBrk="1" hangingPunct="1"/>
            <a:r>
              <a:rPr lang="en-US" sz="2000" dirty="0"/>
              <a:t>To test if </a:t>
            </a:r>
            <a:r>
              <a:rPr lang="en-US" sz="2000" dirty="0">
                <a:sym typeface="Symbol" panose="05050102010706020507" pitchFamily="18" charset="2"/>
              </a:rPr>
              <a:t> is a </a:t>
            </a:r>
            <a:r>
              <a:rPr lang="en-US" sz="2000" dirty="0" err="1">
                <a:sym typeface="Symbol" panose="05050102010706020507" pitchFamily="18" charset="2"/>
              </a:rPr>
              <a:t>superkey</a:t>
            </a:r>
            <a:r>
              <a:rPr lang="en-US" sz="2000" dirty="0">
                <a:sym typeface="Symbol" panose="05050102010706020507" pitchFamily="18" charset="2"/>
              </a:rPr>
              <a:t>, we compute 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baseline="30000" dirty="0">
                <a:sym typeface="Symbol" panose="05050102010706020507" pitchFamily="18" charset="2"/>
              </a:rPr>
              <a:t>,</a:t>
            </a:r>
            <a:r>
              <a:rPr lang="en-US" sz="2000" dirty="0">
                <a:sym typeface="Symbol" panose="05050102010706020507" pitchFamily="18" charset="2"/>
              </a:rPr>
              <a:t> and check if 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baseline="30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contains all attributes of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.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Testing functional dependencies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To check if a functional dependency    holds (or, in other words, is in </a:t>
            </a:r>
            <a:r>
              <a:rPr lang="en-US" sz="2000" i="1" dirty="0">
                <a:sym typeface="Symbol" panose="05050102010706020507" pitchFamily="18" charset="2"/>
              </a:rPr>
              <a:t>F</a:t>
            </a:r>
            <a:r>
              <a:rPr lang="en-US" sz="2800" baseline="30000" dirty="0">
                <a:sym typeface="Symbol" panose="05050102010706020507" pitchFamily="18" charset="2"/>
              </a:rPr>
              <a:t>+</a:t>
            </a:r>
            <a:r>
              <a:rPr lang="en-US" sz="2000" dirty="0">
                <a:sym typeface="Symbol" panose="05050102010706020507" pitchFamily="18" charset="2"/>
              </a:rPr>
              <a:t>), just check if   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dirty="0">
                <a:sym typeface="Symbol" panose="05050102010706020507" pitchFamily="18" charset="2"/>
              </a:rPr>
              <a:t>. 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That is, we compute 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baseline="30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by using attribute closure, and then check if it contains . </a:t>
            </a:r>
          </a:p>
          <a:p>
            <a:pPr lvl="1" eaLnBrk="1" hangingPunct="1"/>
            <a:r>
              <a:rPr 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Is a simple and cheap test, and very useful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Computing closure of F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For each   </a:t>
            </a:r>
            <a:r>
              <a:rPr lang="en-US" sz="2000" i="1" dirty="0">
                <a:sym typeface="Symbol" panose="05050102010706020507" pitchFamily="18" charset="2"/>
              </a:rPr>
              <a:t>R, </a:t>
            </a:r>
            <a:r>
              <a:rPr lang="en-US" sz="2000" dirty="0">
                <a:sym typeface="Symbol" panose="05050102010706020507" pitchFamily="18" charset="2"/>
              </a:rPr>
              <a:t>we find the closure 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dirty="0">
                <a:sym typeface="Symbol" panose="05050102010706020507" pitchFamily="18" charset="2"/>
              </a:rPr>
              <a:t>, and for each </a:t>
            </a:r>
            <a:r>
              <a:rPr lang="en-US" sz="2000" i="1" dirty="0">
                <a:sym typeface="Symbol" panose="05050102010706020507" pitchFamily="18" charset="2"/>
              </a:rPr>
              <a:t>S</a:t>
            </a:r>
            <a:r>
              <a:rPr lang="en-US" sz="2000" dirty="0">
                <a:sym typeface="Symbol" panose="05050102010706020507" pitchFamily="18" charset="2"/>
              </a:rPr>
              <a:t>  </a:t>
            </a:r>
            <a:r>
              <a:rPr lang="en-US" sz="2400" baseline="30000" dirty="0">
                <a:sym typeface="Symbol" panose="05050102010706020507" pitchFamily="18" charset="2"/>
              </a:rPr>
              <a:t>+</a:t>
            </a:r>
            <a:r>
              <a:rPr lang="en-US" sz="2000" dirty="0">
                <a:sym typeface="Symbol" panose="05050102010706020507" pitchFamily="18" charset="2"/>
              </a:rPr>
              <a:t>, we output a functional dependency   </a:t>
            </a:r>
            <a:r>
              <a:rPr lang="en-US" sz="2000" i="1" dirty="0">
                <a:sym typeface="Symbol" panose="05050102010706020507" pitchFamily="18" charset="2"/>
              </a:rPr>
              <a:t>S.</a:t>
            </a:r>
            <a:endParaRPr lang="en-US" sz="2000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9BC0098-C021-4B4A-97AD-D00ECCD7915E}" type="slidenum">
              <a:rPr lang="en-US" smtClean="0">
                <a:solidFill>
                  <a:srgbClr val="7B9899"/>
                </a:solidFill>
              </a:rPr>
              <a:pPr/>
              <a:t>27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789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1B5068-5452-4697-9DB6-79C53DAC48B1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" y="349250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Canonical Cover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31775" y="1741488"/>
            <a:ext cx="8694738" cy="3889375"/>
          </a:xfrm>
        </p:spPr>
        <p:txBody>
          <a:bodyPr/>
          <a:lstStyle/>
          <a:p>
            <a:pPr eaLnBrk="1" hangingPunct="1"/>
            <a:r>
              <a:rPr lang="en-US" sz="2000"/>
              <a:t>Set of functional dependencies may have </a:t>
            </a:r>
            <a:r>
              <a:rPr lang="en-US" sz="2000">
                <a:solidFill>
                  <a:srgbClr val="FF0000"/>
                </a:solidFill>
              </a:rPr>
              <a:t>redundant dependencies</a:t>
            </a:r>
            <a:r>
              <a:rPr lang="en-US" sz="2000"/>
              <a:t> that can be inferred from the others</a:t>
            </a:r>
          </a:p>
          <a:p>
            <a:pPr lvl="1" eaLnBrk="1" hangingPunct="1"/>
            <a:r>
              <a:rPr lang="en-US" sz="2000"/>
              <a:t>For example:  </a:t>
            </a:r>
            <a:r>
              <a:rPr lang="en-US" sz="2000" i="1"/>
              <a:t>A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 i="1"/>
              <a:t> C</a:t>
            </a:r>
            <a:r>
              <a:rPr lang="en-US" sz="2000"/>
              <a:t> is redundant in:   {</a:t>
            </a:r>
            <a:r>
              <a:rPr lang="en-US" sz="2000" i="1"/>
              <a:t>A</a:t>
            </a:r>
            <a:r>
              <a:rPr lang="en-US" sz="2000"/>
              <a:t>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/>
              <a:t> </a:t>
            </a:r>
            <a:r>
              <a:rPr lang="en-US" sz="2000" i="1"/>
              <a:t>B</a:t>
            </a:r>
            <a:r>
              <a:rPr lang="en-US" sz="2000"/>
              <a:t>,   </a:t>
            </a:r>
            <a:r>
              <a:rPr lang="en-US" sz="2000" i="1"/>
              <a:t>B</a:t>
            </a:r>
            <a:r>
              <a:rPr lang="en-US" sz="2000"/>
              <a:t>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/>
              <a:t> </a:t>
            </a:r>
            <a:r>
              <a:rPr lang="en-US" sz="2000" i="1"/>
              <a:t>C</a:t>
            </a:r>
            <a:r>
              <a:rPr lang="en-US" sz="2000"/>
              <a:t>}</a:t>
            </a:r>
          </a:p>
          <a:p>
            <a:pPr lvl="1" eaLnBrk="1" hangingPunct="1"/>
            <a:r>
              <a:rPr lang="en-US" sz="2000"/>
              <a:t>Parts of a functional dependency may be redundant</a:t>
            </a:r>
          </a:p>
          <a:p>
            <a:pPr lvl="2" eaLnBrk="1" hangingPunct="1"/>
            <a:r>
              <a:rPr lang="en-US"/>
              <a:t>E.g.: on RHS:   {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B</a:t>
            </a:r>
            <a:r>
              <a:rPr lang="en-US"/>
              <a:t>,   </a:t>
            </a:r>
            <a:r>
              <a:rPr lang="en-US" i="1"/>
              <a:t>B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C</a:t>
            </a:r>
            <a:r>
              <a:rPr lang="en-US"/>
              <a:t>,   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CD</a:t>
            </a:r>
            <a:r>
              <a:rPr lang="en-US"/>
              <a:t>}  can be simplified to </a:t>
            </a:r>
            <a:br>
              <a:rPr lang="en-US"/>
            </a:br>
            <a:r>
              <a:rPr lang="en-US"/>
              <a:t>                         {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 i="1"/>
              <a:t> B</a:t>
            </a:r>
            <a:r>
              <a:rPr lang="en-US"/>
              <a:t>,   </a:t>
            </a:r>
            <a:r>
              <a:rPr lang="en-US" i="1"/>
              <a:t>B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C</a:t>
            </a:r>
            <a:r>
              <a:rPr lang="en-US"/>
              <a:t>,   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D</a:t>
            </a:r>
            <a:r>
              <a:rPr lang="en-US"/>
              <a:t>} </a:t>
            </a:r>
          </a:p>
          <a:p>
            <a:pPr lvl="2" eaLnBrk="1" hangingPunct="1"/>
            <a:r>
              <a:rPr lang="en-US"/>
              <a:t>E.g.: on LHS:    {A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B</a:t>
            </a:r>
            <a:r>
              <a:rPr lang="en-US"/>
              <a:t>,   </a:t>
            </a:r>
            <a:r>
              <a:rPr lang="en-US" i="1"/>
              <a:t>B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C</a:t>
            </a:r>
            <a:r>
              <a:rPr lang="en-US"/>
              <a:t>,   </a:t>
            </a:r>
            <a:r>
              <a:rPr lang="en-US" i="1"/>
              <a:t>AC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D</a:t>
            </a:r>
            <a:r>
              <a:rPr lang="en-US"/>
              <a:t>}  can be simplified to </a:t>
            </a:r>
            <a:br>
              <a:rPr lang="en-US"/>
            </a:br>
            <a:r>
              <a:rPr lang="en-US"/>
              <a:t>                         {A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B</a:t>
            </a:r>
            <a:r>
              <a:rPr lang="en-US"/>
              <a:t>,   </a:t>
            </a:r>
            <a:r>
              <a:rPr lang="en-US" i="1"/>
              <a:t>B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C</a:t>
            </a:r>
            <a:r>
              <a:rPr lang="en-US"/>
              <a:t>,   </a:t>
            </a:r>
            <a:r>
              <a:rPr lang="en-US" i="1"/>
              <a:t>A</a:t>
            </a:r>
            <a:r>
              <a:rPr lang="en-US"/>
              <a:t> </a:t>
            </a:r>
            <a:r>
              <a:rPr lang="en-US">
                <a:sym typeface="Symbol" panose="05050102010706020507" pitchFamily="18" charset="2"/>
              </a:rPr>
              <a:t></a:t>
            </a:r>
            <a:r>
              <a:rPr lang="en-US"/>
              <a:t> </a:t>
            </a:r>
            <a:r>
              <a:rPr lang="en-US" i="1"/>
              <a:t>D</a:t>
            </a:r>
            <a:r>
              <a:rPr lang="en-US"/>
              <a:t>} </a:t>
            </a:r>
          </a:p>
          <a:p>
            <a:pPr eaLnBrk="1" hangingPunct="1"/>
            <a:r>
              <a:rPr lang="en-US" sz="2000"/>
              <a:t>Intuitively, a canonical cover of F is a </a:t>
            </a:r>
            <a:r>
              <a:rPr lang="en-US" sz="2000" b="1">
                <a:solidFill>
                  <a:srgbClr val="FF0000"/>
                </a:solidFill>
              </a:rPr>
              <a:t>“minimal” set of functional dependencies equivalent to F</a:t>
            </a:r>
            <a:r>
              <a:rPr lang="en-US" sz="2000"/>
              <a:t>, having no redundant dependencies or redundant parts of dependencies 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A78B5008-C59A-410D-8972-CAEE97762B79}" type="slidenum">
              <a:rPr lang="en-US" smtClean="0">
                <a:solidFill>
                  <a:srgbClr val="7B9899"/>
                </a:solidFill>
              </a:rPr>
              <a:pPr/>
              <a:t>28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4915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EFC6CF-3328-4F44-8B95-CE1F09427F04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8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82638" y="363538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Extraneous Attributes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538" y="1495425"/>
            <a:ext cx="8108950" cy="4832350"/>
          </a:xfrm>
        </p:spPr>
        <p:txBody>
          <a:bodyPr/>
          <a:lstStyle/>
          <a:p>
            <a:pPr eaLnBrk="1" hangingPunct="1"/>
            <a:r>
              <a:rPr lang="en-US" sz="2000" dirty="0"/>
              <a:t>Consider a set </a:t>
            </a:r>
            <a:r>
              <a:rPr lang="en-US" sz="2000" i="1" dirty="0"/>
              <a:t>F</a:t>
            </a:r>
            <a:r>
              <a:rPr lang="en-US" sz="2000" dirty="0"/>
              <a:t> of functional dependencies and the functional dependency </a:t>
            </a:r>
            <a:r>
              <a:rPr lang="en-US" sz="2000" dirty="0">
                <a:sym typeface="Symbol" panose="05050102010706020507" pitchFamily="18" charset="2"/>
              </a:rPr>
              <a:t> 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 </a:t>
            </a:r>
            <a:r>
              <a:rPr lang="en-US" sz="2000" dirty="0">
                <a:sym typeface="Greek Symbols" pitchFamily="18" charset="2"/>
              </a:rPr>
              <a:t>in </a:t>
            </a:r>
            <a:r>
              <a:rPr lang="en-US" sz="2000" i="1" dirty="0">
                <a:sym typeface="Greek Symbols" pitchFamily="18" charset="2"/>
              </a:rPr>
              <a:t>F</a:t>
            </a:r>
            <a:r>
              <a:rPr lang="en-US" sz="2000" dirty="0">
                <a:sym typeface="Greek Symbols" pitchFamily="18" charset="2"/>
              </a:rPr>
              <a:t>.</a:t>
            </a:r>
          </a:p>
          <a:p>
            <a:pPr lvl="1" eaLnBrk="1" hangingPunct="1"/>
            <a:r>
              <a:rPr lang="en-US" sz="2000" dirty="0">
                <a:sym typeface="Monotype Sorts" pitchFamily="2" charset="2"/>
              </a:rPr>
              <a:t>Attribute A is extraneous in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if </a:t>
            </a:r>
            <a:r>
              <a:rPr lang="en-US" sz="2000" i="1" dirty="0">
                <a:sym typeface="Greek Symbols" pitchFamily="18" charset="2"/>
              </a:rPr>
              <a:t>A </a:t>
            </a:r>
            <a:r>
              <a:rPr lang="en-US" sz="2000" dirty="0">
                <a:sym typeface="Symbol" panose="05050102010706020507" pitchFamily="18" charset="2"/>
              </a:rPr>
              <a:t> </a:t>
            </a:r>
            <a:r>
              <a:rPr lang="en-US" sz="2000" dirty="0">
                <a:sym typeface="Greek Symbols" pitchFamily="18" charset="2"/>
              </a:rPr>
              <a:t>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   and </a:t>
            </a:r>
            <a:r>
              <a:rPr lang="en-US" sz="2000" i="1" dirty="0">
                <a:sym typeface="Greek Symbols" pitchFamily="18" charset="2"/>
              </a:rPr>
              <a:t>F</a:t>
            </a:r>
            <a:r>
              <a:rPr lang="en-US" sz="2000" dirty="0">
                <a:sym typeface="Greek Symbols" pitchFamily="18" charset="2"/>
              </a:rPr>
              <a:t> logically implies (</a:t>
            </a:r>
            <a:r>
              <a:rPr lang="en-US" sz="2000" i="1" dirty="0">
                <a:sym typeface="Greek Symbols" pitchFamily="18" charset="2"/>
              </a:rPr>
              <a:t>F</a:t>
            </a:r>
            <a:r>
              <a:rPr lang="en-US" sz="2000" dirty="0">
                <a:sym typeface="Greek Symbols" pitchFamily="18" charset="2"/>
              </a:rPr>
              <a:t> – {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}) </a:t>
            </a:r>
            <a:r>
              <a:rPr lang="en-US" sz="2000" dirty="0">
                <a:sym typeface="Symbol" panose="05050102010706020507" pitchFamily="18" charset="2"/>
              </a:rPr>
              <a:t> {(</a:t>
            </a:r>
            <a:r>
              <a:rPr lang="en-US" sz="2000" dirty="0">
                <a:sym typeface="Greek Symbols" pitchFamily="18" charset="2"/>
              </a:rPr>
              <a:t>  – </a:t>
            </a:r>
            <a:r>
              <a:rPr lang="en-US" sz="2000" i="1" dirty="0">
                <a:sym typeface="Greek Symbols" pitchFamily="18" charset="2"/>
              </a:rPr>
              <a:t>A</a:t>
            </a:r>
            <a:r>
              <a:rPr lang="en-US" sz="2000" dirty="0">
                <a:sym typeface="Greek Symbols" pitchFamily="18" charset="2"/>
              </a:rPr>
              <a:t>)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}.</a:t>
            </a:r>
          </a:p>
          <a:p>
            <a:pPr lvl="1" eaLnBrk="1" hangingPunct="1"/>
            <a:r>
              <a:rPr lang="en-US" sz="2000" dirty="0">
                <a:sym typeface="Greek Symbols" pitchFamily="18" charset="2"/>
              </a:rPr>
              <a:t>Attribute </a:t>
            </a:r>
            <a:r>
              <a:rPr lang="en-US" sz="2000" i="1" dirty="0">
                <a:sym typeface="Greek Symbols" pitchFamily="18" charset="2"/>
              </a:rPr>
              <a:t>A</a:t>
            </a:r>
            <a:r>
              <a:rPr lang="en-US" sz="2000" dirty="0">
                <a:sym typeface="Greek Symbols" pitchFamily="18" charset="2"/>
              </a:rPr>
              <a:t> is extraneous in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 if </a:t>
            </a:r>
            <a:r>
              <a:rPr lang="en-US" sz="2000" i="1" dirty="0">
                <a:sym typeface="Greek Symbols" pitchFamily="18" charset="2"/>
              </a:rPr>
              <a:t>A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 </a:t>
            </a:r>
            <a:r>
              <a:rPr lang="en-US" sz="2000" dirty="0">
                <a:sym typeface="Greek Symbols" pitchFamily="18" charset="2"/>
              </a:rPr>
              <a:t>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  and the set of functional dependencies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  (</a:t>
            </a:r>
            <a:r>
              <a:rPr lang="en-US" sz="2000" i="1" dirty="0">
                <a:sym typeface="Greek Symbols" pitchFamily="18" charset="2"/>
              </a:rPr>
              <a:t>F</a:t>
            </a:r>
            <a:r>
              <a:rPr lang="en-US" sz="2000" dirty="0">
                <a:sym typeface="Greek Symbols" pitchFamily="18" charset="2"/>
              </a:rPr>
              <a:t>  – {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}) </a:t>
            </a:r>
            <a:r>
              <a:rPr lang="en-US" sz="2000" dirty="0">
                <a:sym typeface="Symbol" panose="05050102010706020507" pitchFamily="18" charset="2"/>
              </a:rPr>
              <a:t> {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i="1" dirty="0">
                <a:sym typeface="Greek Symbols" pitchFamily="18" charset="2"/>
              </a:rPr>
              <a:t>(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</a:t>
            </a:r>
            <a:r>
              <a:rPr lang="en-US" sz="2000" dirty="0">
                <a:sym typeface="Greek Symbols" pitchFamily="18" charset="2"/>
              </a:rPr>
              <a:t>– </a:t>
            </a:r>
            <a:r>
              <a:rPr lang="en-US" sz="2000" i="1" dirty="0">
                <a:sym typeface="Greek Symbols" pitchFamily="18" charset="2"/>
              </a:rPr>
              <a:t>A</a:t>
            </a:r>
            <a:r>
              <a:rPr lang="en-US" sz="2000" dirty="0">
                <a:sym typeface="Greek Symbols" pitchFamily="18" charset="2"/>
              </a:rPr>
              <a:t>)} logically implies </a:t>
            </a:r>
            <a:r>
              <a:rPr lang="en-US" sz="2000" i="1" dirty="0">
                <a:sym typeface="Greek Symbols" pitchFamily="18" charset="2"/>
              </a:rPr>
              <a:t>F.</a:t>
            </a:r>
          </a:p>
          <a:p>
            <a:pPr eaLnBrk="1" hangingPunct="1"/>
            <a:r>
              <a:rPr lang="en-US" sz="2000" dirty="0"/>
              <a:t>Example: Given </a:t>
            </a:r>
            <a:r>
              <a:rPr lang="en-US" sz="2000" i="1" dirty="0"/>
              <a:t>F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, </a:t>
            </a:r>
            <a:r>
              <a:rPr lang="en-US" sz="2000" i="1" dirty="0"/>
              <a:t>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}</a:t>
            </a:r>
          </a:p>
          <a:p>
            <a:pPr lvl="1" eaLnBrk="1" hangingPunct="1"/>
            <a:r>
              <a:rPr lang="en-US" sz="2000" i="1" dirty="0"/>
              <a:t>B</a:t>
            </a:r>
            <a:r>
              <a:rPr lang="en-US" sz="2000" dirty="0"/>
              <a:t> is extraneous in </a:t>
            </a:r>
            <a:r>
              <a:rPr lang="en-US" sz="2000" i="1" dirty="0"/>
              <a:t>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i="1" dirty="0"/>
              <a:t> C</a:t>
            </a:r>
            <a:r>
              <a:rPr lang="en-US" sz="2000" dirty="0"/>
              <a:t>  because {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C, 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i="1" dirty="0"/>
              <a:t> C</a:t>
            </a:r>
            <a:r>
              <a:rPr lang="en-US" sz="2000" dirty="0"/>
              <a:t>} logically implies 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 </a:t>
            </a:r>
            <a:r>
              <a:rPr lang="en-US" sz="2000" dirty="0"/>
              <a:t>(i.e. the result of dropping </a:t>
            </a:r>
            <a:r>
              <a:rPr lang="en-US" sz="2000" i="1" dirty="0"/>
              <a:t>B </a:t>
            </a:r>
            <a:r>
              <a:rPr lang="en-US" sz="2000" dirty="0"/>
              <a:t>from </a:t>
            </a:r>
            <a:r>
              <a:rPr lang="en-US" sz="2000" i="1" dirty="0"/>
              <a:t>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i="1" dirty="0"/>
              <a:t> C</a:t>
            </a:r>
            <a:r>
              <a:rPr lang="en-US" sz="2000" dirty="0"/>
              <a:t>).</a:t>
            </a:r>
          </a:p>
          <a:p>
            <a:pPr eaLnBrk="1" hangingPunct="1"/>
            <a:r>
              <a:rPr lang="en-US" sz="2000" dirty="0"/>
              <a:t>Example:  Given </a:t>
            </a:r>
            <a:r>
              <a:rPr lang="en-US" sz="2000" i="1" dirty="0"/>
              <a:t>F</a:t>
            </a:r>
            <a:r>
              <a:rPr lang="en-US" sz="2000" dirty="0"/>
              <a:t> = {</a:t>
            </a:r>
            <a:r>
              <a:rPr lang="en-US" sz="2000" i="1" dirty="0"/>
              <a:t>A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, </a:t>
            </a:r>
            <a:r>
              <a:rPr lang="en-US" sz="2000" i="1" dirty="0"/>
              <a:t>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CD}</a:t>
            </a:r>
          </a:p>
          <a:p>
            <a:pPr lvl="1" eaLnBrk="1" hangingPunct="1"/>
            <a:r>
              <a:rPr lang="en-US" sz="2000" i="1" dirty="0"/>
              <a:t>C</a:t>
            </a:r>
            <a:r>
              <a:rPr lang="en-US" sz="2000" dirty="0"/>
              <a:t> is extraneous in </a:t>
            </a:r>
            <a:r>
              <a:rPr lang="en-US" sz="2000" i="1" dirty="0"/>
              <a:t>AB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CD</a:t>
            </a:r>
            <a:r>
              <a:rPr lang="en-US" sz="2000" dirty="0"/>
              <a:t> since  </a:t>
            </a:r>
            <a:r>
              <a:rPr lang="en-US" sz="2000" i="1" dirty="0"/>
              <a:t>A</a:t>
            </a:r>
            <a:r>
              <a:rPr lang="en-US" sz="2000" dirty="0"/>
              <a:t>B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/>
              <a:t> </a:t>
            </a:r>
            <a:r>
              <a:rPr lang="en-US" sz="2000" i="1" dirty="0"/>
              <a:t>C</a:t>
            </a:r>
            <a:r>
              <a:rPr lang="en-US" sz="2000" dirty="0"/>
              <a:t> can be inferred even after deleting </a:t>
            </a:r>
            <a:r>
              <a:rPr lang="en-US" sz="2000" i="1" dirty="0"/>
              <a:t>C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4011818-B83D-4998-B764-0E70438C702D}" type="slidenum">
              <a:rPr lang="en-US" smtClean="0">
                <a:solidFill>
                  <a:srgbClr val="7B9899"/>
                </a:solidFill>
              </a:rPr>
              <a:pPr/>
              <a:t>29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018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3CE471-FDE9-4891-80DC-D4139CA85892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4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58813" y="385763"/>
            <a:ext cx="7685087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Testing if an Attribute is Extraneous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77825" y="1495425"/>
            <a:ext cx="7948613" cy="4730750"/>
          </a:xfrm>
        </p:spPr>
        <p:txBody>
          <a:bodyPr/>
          <a:lstStyle/>
          <a:p>
            <a:pPr marL="381000" indent="-381000" eaLnBrk="1" hangingPunct="1"/>
            <a:r>
              <a:rPr lang="en-US" sz="2000"/>
              <a:t>Consider a set </a:t>
            </a:r>
            <a:r>
              <a:rPr lang="en-US" sz="2000" i="1"/>
              <a:t>F</a:t>
            </a:r>
            <a:r>
              <a:rPr lang="en-US" sz="2000"/>
              <a:t> of functional dependencies and the functional dependency </a:t>
            </a:r>
            <a:r>
              <a:rPr 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 </a:t>
            </a:r>
            <a:r>
              <a:rPr lang="en-US" sz="2000" b="1">
                <a:solidFill>
                  <a:srgbClr val="FF0000"/>
                </a:solidFill>
                <a:sym typeface="Monotype Sorts" pitchFamily="2" charset="2"/>
              </a:rPr>
              <a:t> </a:t>
            </a:r>
            <a:r>
              <a:rPr lang="en-US" sz="2000" b="1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  <a:r>
              <a:rPr lang="en-US" sz="2000" b="1">
                <a:solidFill>
                  <a:srgbClr val="FF0000"/>
                </a:solidFill>
                <a:sym typeface="Greek Symbols" pitchFamily="18" charset="2"/>
              </a:rPr>
              <a:t>in </a:t>
            </a:r>
            <a:r>
              <a:rPr lang="en-US" sz="2000" b="1" i="1">
                <a:solidFill>
                  <a:srgbClr val="FF0000"/>
                </a:solidFill>
                <a:sym typeface="Greek Symbols" pitchFamily="18" charset="2"/>
              </a:rPr>
              <a:t>F</a:t>
            </a:r>
            <a:r>
              <a:rPr lang="en-US" sz="2000" b="1">
                <a:solidFill>
                  <a:srgbClr val="FF0000"/>
                </a:solidFill>
                <a:sym typeface="Greek Symbols" pitchFamily="18" charset="2"/>
              </a:rPr>
              <a:t>.</a:t>
            </a:r>
          </a:p>
          <a:p>
            <a:pPr marL="381000" indent="-381000" eaLnBrk="1" hangingPunct="1"/>
            <a:r>
              <a:rPr lang="en-US" sz="2000">
                <a:sym typeface="Monotype Sorts" pitchFamily="2" charset="2"/>
              </a:rPr>
              <a:t>To test if attribute A </a:t>
            </a:r>
            <a:r>
              <a:rPr lang="en-US" sz="2000">
                <a:sym typeface="Symbol" panose="05050102010706020507" pitchFamily="18" charset="2"/>
              </a:rPr>
              <a:t> </a:t>
            </a:r>
            <a:r>
              <a:rPr lang="en-US" sz="2000">
                <a:sym typeface="Monotype Sorts" pitchFamily="2" charset="2"/>
              </a:rPr>
              <a:t> is extraneous</a:t>
            </a:r>
            <a:r>
              <a:rPr lang="en-US" sz="2000">
                <a:solidFill>
                  <a:schemeClr val="tx2"/>
                </a:solidFill>
                <a:sym typeface="Monotype Sorts" pitchFamily="2" charset="2"/>
              </a:rPr>
              <a:t> </a:t>
            </a:r>
            <a:r>
              <a:rPr lang="en-US" sz="2000">
                <a:sym typeface="Monotype Sorts" pitchFamily="2" charset="2"/>
              </a:rPr>
              <a:t>in</a:t>
            </a:r>
            <a:r>
              <a:rPr lang="en-US" sz="2000">
                <a:solidFill>
                  <a:schemeClr val="tx2"/>
                </a:solidFill>
                <a:sym typeface="Monotype Sorts" pitchFamily="2" charset="2"/>
              </a:rPr>
              <a:t> </a:t>
            </a:r>
            <a:r>
              <a:rPr lang="en-US" sz="2000">
                <a:sym typeface="Symbol" panose="05050102010706020507" pitchFamily="18" charset="2"/>
              </a:rPr>
              <a:t></a:t>
            </a:r>
            <a:r>
              <a:rPr lang="en-US" sz="2000">
                <a:solidFill>
                  <a:schemeClr val="tx2"/>
                </a:solidFill>
                <a:sym typeface="Monotype Sorts" pitchFamily="2" charset="2"/>
              </a:rPr>
              <a:t> </a:t>
            </a:r>
          </a:p>
          <a:p>
            <a:pPr marL="800100" lvl="1" indent="-342900" eaLnBrk="1" hangingPunct="1">
              <a:buFont typeface="Monotype Sorts" pitchFamily="2" charset="2"/>
              <a:buAutoNum type="arabicPeriod"/>
            </a:pP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compute ({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} </a:t>
            </a: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– A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sz="2000">
                <a:sym typeface="Symbol" panose="05050102010706020507" pitchFamily="18" charset="2"/>
              </a:rPr>
              <a:t> using the dependencies in </a:t>
            </a:r>
            <a:r>
              <a:rPr lang="en-US" sz="2000" i="1">
                <a:sym typeface="Greek Symbols" pitchFamily="18" charset="2"/>
              </a:rPr>
              <a:t>F</a:t>
            </a:r>
            <a:r>
              <a:rPr lang="en-US" sz="2000">
                <a:sym typeface="Greek Symbols" pitchFamily="18" charset="2"/>
              </a:rPr>
              <a:t> </a:t>
            </a:r>
            <a:endParaRPr lang="en-US" sz="2000">
              <a:sym typeface="Symbol" panose="05050102010706020507" pitchFamily="18" charset="2"/>
            </a:endParaRPr>
          </a:p>
          <a:p>
            <a:pPr marL="800100" lvl="1" indent="-342900" eaLnBrk="1" hangingPunct="1">
              <a:buFont typeface="Monotype Sorts" pitchFamily="2" charset="2"/>
              <a:buAutoNum type="arabicPeriod"/>
            </a:pPr>
            <a:r>
              <a:rPr lang="en-US" sz="2000">
                <a:sym typeface="Symbol" panose="05050102010706020507" pitchFamily="18" charset="2"/>
              </a:rPr>
              <a:t> 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check that </a:t>
            </a: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({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} </a:t>
            </a: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– A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sz="2800" baseline="30000">
                <a:solidFill>
                  <a:srgbClr val="FF0000"/>
                </a:solidFill>
                <a:sym typeface="Symbol" panose="05050102010706020507" pitchFamily="18" charset="2"/>
              </a:rPr>
              <a:t>+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 contains </a:t>
            </a: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;</a:t>
            </a:r>
            <a:r>
              <a:rPr lang="en-US" sz="2000">
                <a:sym typeface="Greek Symbols" pitchFamily="18" charset="2"/>
              </a:rPr>
              <a:t> if it does, </a:t>
            </a:r>
            <a:r>
              <a:rPr lang="en-US" sz="2000" i="1">
                <a:sym typeface="Greek Symbols" pitchFamily="18" charset="2"/>
              </a:rPr>
              <a:t>A</a:t>
            </a:r>
            <a:r>
              <a:rPr lang="en-US" sz="2000">
                <a:sym typeface="Greek Symbols" pitchFamily="18" charset="2"/>
              </a:rPr>
              <a:t> is extraneous </a:t>
            </a:r>
            <a:r>
              <a:rPr lang="en-US" sz="2000">
                <a:sym typeface="Monotype Sorts" pitchFamily="2" charset="2"/>
              </a:rPr>
              <a:t>in </a:t>
            </a:r>
            <a:r>
              <a:rPr lang="en-US" sz="2000">
                <a:sym typeface="Symbol" panose="05050102010706020507" pitchFamily="18" charset="2"/>
              </a:rPr>
              <a:t></a:t>
            </a:r>
            <a:r>
              <a:rPr lang="en-US" sz="2000">
                <a:sym typeface="Monotype Sorts" pitchFamily="2" charset="2"/>
              </a:rPr>
              <a:t> </a:t>
            </a:r>
            <a:endParaRPr lang="en-US" sz="2000">
              <a:sym typeface="Greek Symbols" pitchFamily="18" charset="2"/>
            </a:endParaRPr>
          </a:p>
          <a:p>
            <a:pPr marL="381000" indent="-381000" eaLnBrk="1" hangingPunct="1"/>
            <a:r>
              <a:rPr lang="en-US" sz="2000">
                <a:sym typeface="Greek Symbols" pitchFamily="18" charset="2"/>
              </a:rPr>
              <a:t>To test if attribute </a:t>
            </a:r>
            <a:r>
              <a:rPr lang="en-US" sz="2000" i="1">
                <a:sym typeface="Greek Symbols" pitchFamily="18" charset="2"/>
              </a:rPr>
              <a:t>A</a:t>
            </a:r>
            <a:r>
              <a:rPr lang="en-US" sz="2000">
                <a:sym typeface="Greek Symbols" pitchFamily="18" charset="2"/>
              </a:rPr>
              <a:t> </a:t>
            </a:r>
            <a:r>
              <a:rPr lang="en-US" sz="2000">
                <a:sym typeface="Symbol" panose="05050102010706020507" pitchFamily="18" charset="2"/>
              </a:rPr>
              <a:t> </a:t>
            </a:r>
            <a:r>
              <a:rPr lang="en-US" sz="2000">
                <a:sym typeface="Greek Symbols" pitchFamily="18" charset="2"/>
              </a:rPr>
              <a:t>  is extraneous in </a:t>
            </a:r>
            <a:r>
              <a:rPr lang="en-US" sz="2000">
                <a:sym typeface="Symbol" panose="05050102010706020507" pitchFamily="18" charset="2"/>
              </a:rPr>
              <a:t></a:t>
            </a:r>
            <a:r>
              <a:rPr lang="en-US" sz="2000">
                <a:sym typeface="Greek Symbols" pitchFamily="18" charset="2"/>
              </a:rPr>
              <a:t> </a:t>
            </a:r>
          </a:p>
          <a:p>
            <a:pPr marL="800100" lvl="1" indent="-342900" eaLnBrk="1" hangingPunct="1">
              <a:buFont typeface="Monotype Sorts" pitchFamily="2" charset="2"/>
              <a:buAutoNum type="arabicPeriod"/>
            </a:pP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compute 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sz="2800" baseline="30000">
                <a:solidFill>
                  <a:srgbClr val="FF0000"/>
                </a:solidFill>
                <a:sym typeface="Greek Symbols" pitchFamily="18" charset="2"/>
              </a:rPr>
              <a:t>+</a:t>
            </a:r>
            <a:r>
              <a:rPr lang="en-US" sz="2400" baseline="30000">
                <a:sym typeface="Greek Symbols" pitchFamily="18" charset="2"/>
              </a:rPr>
              <a:t> </a:t>
            </a:r>
            <a:r>
              <a:rPr lang="en-US" sz="2000">
                <a:sym typeface="Greek Symbols" pitchFamily="18" charset="2"/>
              </a:rPr>
              <a:t> using only the dependencies in  </a:t>
            </a:r>
            <a:br>
              <a:rPr lang="en-US" sz="2000">
                <a:sym typeface="Greek Symbols" pitchFamily="18" charset="2"/>
              </a:rPr>
            </a:br>
            <a:r>
              <a:rPr lang="en-US" sz="2000">
                <a:sym typeface="Greek Symbols" pitchFamily="18" charset="2"/>
              </a:rPr>
              <a:t>         F′ = (</a:t>
            </a:r>
            <a:r>
              <a:rPr lang="en-US" sz="2000" i="1">
                <a:sym typeface="Greek Symbols" pitchFamily="18" charset="2"/>
              </a:rPr>
              <a:t>F</a:t>
            </a:r>
            <a:r>
              <a:rPr lang="en-US" sz="2000">
                <a:sym typeface="Greek Symbols" pitchFamily="18" charset="2"/>
              </a:rPr>
              <a:t>  – {</a:t>
            </a:r>
            <a:r>
              <a:rPr lang="en-US" sz="2000">
                <a:sym typeface="Symbol" panose="05050102010706020507" pitchFamily="18" charset="2"/>
              </a:rPr>
              <a:t></a:t>
            </a:r>
            <a:r>
              <a:rPr lang="en-US" sz="2000">
                <a:sym typeface="Greek Symbols" pitchFamily="18" charset="2"/>
              </a:rPr>
              <a:t>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>
                <a:sym typeface="Monotype Sorts" pitchFamily="2" charset="2"/>
              </a:rPr>
              <a:t> </a:t>
            </a:r>
            <a:r>
              <a:rPr lang="en-US" sz="2000">
                <a:sym typeface="Symbol" panose="05050102010706020507" pitchFamily="18" charset="2"/>
              </a:rPr>
              <a:t></a:t>
            </a:r>
            <a:r>
              <a:rPr lang="en-US" sz="2000">
                <a:sym typeface="Greek Symbols" pitchFamily="18" charset="2"/>
              </a:rPr>
              <a:t>}) </a:t>
            </a:r>
            <a:r>
              <a:rPr lang="en-US" sz="2000">
                <a:sym typeface="Symbol" panose="05050102010706020507" pitchFamily="18" charset="2"/>
              </a:rPr>
              <a:t> {</a:t>
            </a:r>
            <a:r>
              <a:rPr lang="en-US" sz="2000">
                <a:sym typeface="Greek Symbols" pitchFamily="18" charset="2"/>
              </a:rPr>
              <a:t> </a:t>
            </a:r>
            <a:r>
              <a:rPr lang="en-US" sz="2000">
                <a:sym typeface="Symbol" panose="05050102010706020507" pitchFamily="18" charset="2"/>
              </a:rPr>
              <a:t></a:t>
            </a:r>
            <a:r>
              <a:rPr lang="en-US" sz="2000" i="1">
                <a:sym typeface="Greek Symbols" pitchFamily="18" charset="2"/>
              </a:rPr>
              <a:t>(</a:t>
            </a:r>
            <a:r>
              <a:rPr lang="en-US" sz="2000">
                <a:sym typeface="Symbol" panose="05050102010706020507" pitchFamily="18" charset="2"/>
              </a:rPr>
              <a:t></a:t>
            </a:r>
            <a:r>
              <a:rPr lang="en-US" sz="2000" i="1">
                <a:sym typeface="Greek Symbols" pitchFamily="18" charset="2"/>
              </a:rPr>
              <a:t> </a:t>
            </a:r>
            <a:r>
              <a:rPr lang="en-US" sz="2000">
                <a:sym typeface="Greek Symbols" pitchFamily="18" charset="2"/>
              </a:rPr>
              <a:t>– </a:t>
            </a:r>
            <a:r>
              <a:rPr lang="en-US" sz="2000" i="1">
                <a:sym typeface="Greek Symbols" pitchFamily="18" charset="2"/>
              </a:rPr>
              <a:t>A</a:t>
            </a:r>
            <a:r>
              <a:rPr lang="en-US" sz="2000">
                <a:sym typeface="Greek Symbols" pitchFamily="18" charset="2"/>
              </a:rPr>
              <a:t>)}, </a:t>
            </a:r>
          </a:p>
          <a:p>
            <a:pPr marL="800100" lvl="1" indent="-342900" eaLnBrk="1" hangingPunct="1">
              <a:buFont typeface="Monotype Sorts" pitchFamily="2" charset="2"/>
              <a:buAutoNum type="arabicPeriod"/>
            </a:pPr>
            <a:r>
              <a:rPr lang="en-US" sz="2000">
                <a:sym typeface="Greek Symbols" pitchFamily="18" charset="2"/>
              </a:rPr>
              <a:t> </a:t>
            </a:r>
            <a:r>
              <a:rPr lang="en-US" sz="2800">
                <a:solidFill>
                  <a:srgbClr val="FF0000"/>
                </a:solidFill>
                <a:sym typeface="Greek Symbols" pitchFamily="18" charset="2"/>
              </a:rPr>
              <a:t>check if </a:t>
            </a:r>
            <a:r>
              <a:rPr lang="en-US" sz="280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sz="2800" baseline="30000">
                <a:solidFill>
                  <a:srgbClr val="FF0000"/>
                </a:solidFill>
                <a:sym typeface="Greek Symbols" pitchFamily="18" charset="2"/>
              </a:rPr>
              <a:t>+</a:t>
            </a:r>
            <a:r>
              <a:rPr lang="en-US" sz="2400" baseline="30000">
                <a:sym typeface="Greek Symbols" pitchFamily="18" charset="2"/>
              </a:rPr>
              <a:t> </a:t>
            </a:r>
            <a:r>
              <a:rPr lang="en-US" sz="2000">
                <a:sym typeface="Greek Symbols" pitchFamily="18" charset="2"/>
              </a:rPr>
              <a:t> contains </a:t>
            </a:r>
            <a:r>
              <a:rPr lang="en-US" sz="2000" i="1">
                <a:sym typeface="Greek Symbols" pitchFamily="18" charset="2"/>
              </a:rPr>
              <a:t>A; </a:t>
            </a:r>
            <a:r>
              <a:rPr lang="en-US" sz="2000">
                <a:sym typeface="Greek Symbols" pitchFamily="18" charset="2"/>
              </a:rPr>
              <a:t>if it does</a:t>
            </a:r>
            <a:r>
              <a:rPr lang="en-US" sz="2000" i="1">
                <a:sym typeface="Greek Symbols" pitchFamily="18" charset="2"/>
              </a:rPr>
              <a:t>, A </a:t>
            </a:r>
            <a:r>
              <a:rPr lang="en-US" sz="2000">
                <a:sym typeface="Greek Symbols" pitchFamily="18" charset="2"/>
              </a:rPr>
              <a:t>is extraneous in </a:t>
            </a:r>
            <a:r>
              <a:rPr lang="en-US" sz="2000">
                <a:sym typeface="Symbol" panose="05050102010706020507" pitchFamily="18" charset="2"/>
              </a:rPr>
              <a:t></a:t>
            </a:r>
            <a:r>
              <a:rPr lang="en-US" sz="2000">
                <a:sym typeface="Greek Symbols" pitchFamily="18" charset="2"/>
              </a:rPr>
              <a:t> 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1ECD5FA-364E-4BA1-8633-F35EB120C566}" type="slidenum">
              <a:rPr lang="en-US" smtClean="0">
                <a:solidFill>
                  <a:srgbClr val="7B9899"/>
                </a:solidFill>
              </a:rPr>
              <a:pPr/>
              <a:t>30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120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F74BB3-E8F4-4297-B1D7-8446B7DA2B6C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65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50863" y="247650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Canonical Cover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33375" y="1436688"/>
            <a:ext cx="8382000" cy="345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000">
              <a:sym typeface="Greek Symbols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>
                <a:sym typeface="Greek Symbols" pitchFamily="18" charset="2"/>
              </a:rPr>
              <a:t>A </a:t>
            </a:r>
            <a:r>
              <a:rPr lang="en-US" sz="2400" i="1">
                <a:solidFill>
                  <a:schemeClr val="tx2"/>
                </a:solidFill>
                <a:sym typeface="Greek Symbols" pitchFamily="18" charset="2"/>
              </a:rPr>
              <a:t>canonical cover</a:t>
            </a:r>
            <a:r>
              <a:rPr lang="en-US" sz="2400" i="1">
                <a:sym typeface="Greek Symbols" pitchFamily="18" charset="2"/>
              </a:rPr>
              <a:t> </a:t>
            </a:r>
            <a:r>
              <a:rPr lang="en-US" sz="2400">
                <a:sym typeface="Greek Symbols" pitchFamily="18" charset="2"/>
              </a:rPr>
              <a:t>for </a:t>
            </a:r>
            <a:r>
              <a:rPr lang="en-US" sz="2400" i="1">
                <a:sym typeface="Greek Symbols" pitchFamily="18" charset="2"/>
              </a:rPr>
              <a:t>F</a:t>
            </a:r>
            <a:r>
              <a:rPr lang="en-US" sz="2400">
                <a:sym typeface="Greek Symbols" pitchFamily="18" charset="2"/>
              </a:rPr>
              <a:t> is a set of dependencies </a:t>
            </a:r>
            <a:r>
              <a:rPr lang="en-US" sz="2400" i="1">
                <a:sym typeface="Greek Symbols" pitchFamily="18" charset="2"/>
              </a:rPr>
              <a:t>F</a:t>
            </a:r>
            <a:r>
              <a:rPr lang="en-US" sz="2400" i="1" baseline="-25000">
                <a:sym typeface="Greek Symbols" pitchFamily="18" charset="2"/>
              </a:rPr>
              <a:t>c </a:t>
            </a:r>
            <a:r>
              <a:rPr lang="en-US" sz="2400">
                <a:sym typeface="Greek Symbols" pitchFamily="18" charset="2"/>
              </a:rPr>
              <a:t>such that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>
                <a:sym typeface="Greek Symbols" pitchFamily="18" charset="2"/>
              </a:rPr>
              <a:t>F</a:t>
            </a:r>
            <a:r>
              <a:rPr lang="en-US" sz="2400">
                <a:sym typeface="Greek Symbols" pitchFamily="18" charset="2"/>
              </a:rPr>
              <a:t>  logically implies all dependencies in </a:t>
            </a:r>
            <a:r>
              <a:rPr lang="en-US" sz="2400" i="1">
                <a:sym typeface="Greek Symbols" pitchFamily="18" charset="2"/>
              </a:rPr>
              <a:t>F</a:t>
            </a:r>
            <a:r>
              <a:rPr lang="en-US" sz="2400" i="1" baseline="-25000">
                <a:sym typeface="Greek Symbols" pitchFamily="18" charset="2"/>
              </a:rPr>
              <a:t>c,</a:t>
            </a:r>
            <a:r>
              <a:rPr lang="en-US" sz="2400">
                <a:sym typeface="Greek Symbols" pitchFamily="18" charset="2"/>
              </a:rPr>
              <a:t>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i="1">
                <a:sym typeface="Greek Symbols" pitchFamily="18" charset="2"/>
              </a:rPr>
              <a:t>F</a:t>
            </a:r>
            <a:r>
              <a:rPr lang="en-US" sz="2400" i="1" baseline="-25000">
                <a:sym typeface="Greek Symbols" pitchFamily="18" charset="2"/>
              </a:rPr>
              <a:t>c</a:t>
            </a:r>
            <a:r>
              <a:rPr lang="en-US" sz="2400" baseline="-25000">
                <a:sym typeface="Greek Symbols" pitchFamily="18" charset="2"/>
              </a:rPr>
              <a:t>  </a:t>
            </a:r>
            <a:r>
              <a:rPr lang="en-US" sz="2400">
                <a:sym typeface="Greek Symbols" pitchFamily="18" charset="2"/>
              </a:rPr>
              <a:t>logically implies all dependencies in </a:t>
            </a:r>
            <a:r>
              <a:rPr lang="en-US" sz="2400" i="1">
                <a:sym typeface="Greek Symbols" pitchFamily="18" charset="2"/>
              </a:rPr>
              <a:t>F,</a:t>
            </a:r>
            <a:r>
              <a:rPr lang="en-US" sz="2400">
                <a:sym typeface="Greek Symbols" pitchFamily="18" charset="2"/>
              </a:rPr>
              <a:t>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ym typeface="Greek Symbols" pitchFamily="18" charset="2"/>
              </a:rPr>
              <a:t>No functional dependency in </a:t>
            </a:r>
            <a:r>
              <a:rPr lang="en-US" sz="2400" i="1">
                <a:sym typeface="Greek Symbols" pitchFamily="18" charset="2"/>
              </a:rPr>
              <a:t>F</a:t>
            </a:r>
            <a:r>
              <a:rPr lang="en-US" sz="2800" i="1" baseline="-25000">
                <a:sym typeface="Greek Symbols" pitchFamily="18" charset="2"/>
              </a:rPr>
              <a:t>c</a:t>
            </a:r>
            <a:r>
              <a:rPr lang="en-US" sz="2800">
                <a:sym typeface="Greek Symbols" pitchFamily="18" charset="2"/>
              </a:rPr>
              <a:t> </a:t>
            </a:r>
            <a:r>
              <a:rPr lang="en-US" sz="2400">
                <a:sym typeface="Greek Symbols" pitchFamily="18" charset="2"/>
              </a:rPr>
              <a:t>contains an extraneous attribute,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ym typeface="Greek Symbols" pitchFamily="18" charset="2"/>
              </a:rPr>
              <a:t>Each left side of functional dependency in </a:t>
            </a:r>
            <a:r>
              <a:rPr lang="en-US" sz="2400" i="1">
                <a:sym typeface="Greek Symbols" pitchFamily="18" charset="2"/>
              </a:rPr>
              <a:t>F</a:t>
            </a:r>
            <a:r>
              <a:rPr lang="en-US" sz="2800" i="1" baseline="-25000">
                <a:sym typeface="Greek Symbols" pitchFamily="18" charset="2"/>
              </a:rPr>
              <a:t>c</a:t>
            </a:r>
            <a:r>
              <a:rPr lang="en-US" sz="2800" i="1">
                <a:sym typeface="Greek Symbols" pitchFamily="18" charset="2"/>
              </a:rPr>
              <a:t> </a:t>
            </a:r>
            <a:r>
              <a:rPr lang="en-US" sz="2400">
                <a:sym typeface="Greek Symbols" pitchFamily="18" charset="2"/>
              </a:rPr>
              <a:t>is unique.</a:t>
            </a:r>
          </a:p>
          <a:p>
            <a:pPr eaLnBrk="1" hangingPunct="1">
              <a:lnSpc>
                <a:spcPct val="90000"/>
              </a:lnSpc>
            </a:pPr>
            <a:endParaRPr lang="en-US" sz="200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3372CCA-BA04-4144-B03C-9FA41227A660}" type="slidenum">
              <a:rPr lang="en-US" smtClean="0">
                <a:solidFill>
                  <a:srgbClr val="7B9899"/>
                </a:solidFill>
              </a:rPr>
              <a:pPr/>
              <a:t>31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222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000" y="5175250"/>
            <a:ext cx="8080375" cy="762000"/>
          </a:xfrm>
          <a:prstGeom prst="rect">
            <a:avLst/>
          </a:prstGeom>
          <a:solidFill>
            <a:srgbClr val="FFFFC2"/>
          </a:solidFill>
          <a:ln w="9525">
            <a:solidFill>
              <a:srgbClr val="CCCC0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rgbClr val="3333FF"/>
                </a:solidFill>
                <a:latin typeface="+mn-lt"/>
              </a:rPr>
              <a:t>Every FD in the canonical cover is needed, otherwise some dependencies are lost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3668F8-89DA-44BB-9755-873635CAAFB9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4663" y="322263"/>
            <a:ext cx="8277225" cy="584200"/>
          </a:xfrm>
          <a:solidFill>
            <a:srgbClr val="FFFFFF"/>
          </a:solidFill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Computing a Canonical Cover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20700" y="1509713"/>
            <a:ext cx="8220075" cy="4702175"/>
          </a:xfrm>
        </p:spPr>
        <p:txBody>
          <a:bodyPr/>
          <a:lstStyle/>
          <a:p>
            <a:pPr eaLnBrk="1" hangingPunct="1">
              <a:tabLst>
                <a:tab pos="684213" algn="l"/>
                <a:tab pos="2917825" algn="l"/>
              </a:tabLst>
            </a:pPr>
            <a:r>
              <a:rPr lang="en-US" sz="1600" i="1"/>
              <a:t>R </a:t>
            </a:r>
            <a:r>
              <a:rPr lang="en-US" sz="1600"/>
              <a:t>= (</a:t>
            </a:r>
            <a:r>
              <a:rPr lang="en-US" sz="1600" i="1"/>
              <a:t>A, B, C)</a:t>
            </a:r>
            <a:br>
              <a:rPr lang="en-US" sz="1600" i="1"/>
            </a:br>
            <a:r>
              <a:rPr lang="en-US" sz="1600" i="1"/>
              <a:t>F = {A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</a:t>
            </a:r>
            <a:br>
              <a:rPr lang="en-US" sz="1600" i="1">
                <a:sym typeface="Monotype Sorts" pitchFamily="2" charset="2"/>
              </a:rPr>
            </a:br>
            <a:r>
              <a:rPr lang="en-US" sz="1600" i="1">
                <a:sym typeface="Monotype Sorts" pitchFamily="2" charset="2"/>
              </a:rPr>
              <a:t>	  B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  <a:br>
              <a:rPr lang="en-US" sz="1600" i="1">
                <a:sym typeface="Monotype Sorts" pitchFamily="2" charset="2"/>
              </a:rPr>
            </a:br>
            <a:r>
              <a:rPr lang="en-US" sz="1600" i="1">
                <a:sym typeface="Monotype Sorts" pitchFamily="2" charset="2"/>
              </a:rPr>
              <a:t>	  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</a:t>
            </a:r>
            <a:r>
              <a:rPr lang="en-US" sz="1600">
                <a:sym typeface="Monotype Sorts" pitchFamily="2" charset="2"/>
              </a:rPr>
              <a:t/>
            </a:r>
            <a:br>
              <a:rPr lang="en-US" sz="1600">
                <a:sym typeface="Monotype Sorts" pitchFamily="2" charset="2"/>
              </a:rPr>
            </a:br>
            <a:r>
              <a:rPr lang="en-US" sz="1600">
                <a:sym typeface="Monotype Sorts" pitchFamily="2" charset="2"/>
              </a:rPr>
              <a:t>	</a:t>
            </a:r>
            <a:r>
              <a:rPr lang="en-US" sz="1600" i="1">
                <a:sym typeface="Monotype Sorts" pitchFamily="2" charset="2"/>
              </a:rPr>
              <a:t>AB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  <a:r>
              <a:rPr lang="en-US" sz="1600">
                <a:sym typeface="Monotype Sorts" pitchFamily="2" charset="2"/>
              </a:rPr>
              <a:t>}</a:t>
            </a:r>
          </a:p>
          <a:p>
            <a:pPr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Combine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 </a:t>
            </a:r>
            <a:r>
              <a:rPr lang="en-US" sz="1600">
                <a:sym typeface="Monotype Sorts" pitchFamily="2" charset="2"/>
              </a:rPr>
              <a:t>and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 </a:t>
            </a:r>
            <a:r>
              <a:rPr lang="en-US" sz="1600">
                <a:sym typeface="Monotype Sorts" pitchFamily="2" charset="2"/>
              </a:rPr>
              <a:t>into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</a:t>
            </a:r>
          </a:p>
          <a:p>
            <a:pPr lvl="1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Set is now </a:t>
            </a:r>
            <a:r>
              <a:rPr lang="en-US" sz="1600" i="1"/>
              <a:t>{A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BC, B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C, AB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  <a:r>
              <a:rPr lang="en-US" sz="1600">
                <a:sym typeface="Monotype Sorts" pitchFamily="2" charset="2"/>
              </a:rPr>
              <a:t>}</a:t>
            </a:r>
          </a:p>
          <a:p>
            <a:pPr eaLnBrk="1" hangingPunct="1">
              <a:tabLst>
                <a:tab pos="684213" algn="l"/>
                <a:tab pos="2917825" algn="l"/>
              </a:tabLst>
            </a:pPr>
            <a:r>
              <a:rPr lang="en-US" sz="1600" i="1">
                <a:sym typeface="Monotype Sorts" pitchFamily="2" charset="2"/>
              </a:rPr>
              <a:t>A</a:t>
            </a:r>
            <a:r>
              <a:rPr lang="en-US" sz="1600">
                <a:sym typeface="Monotype Sorts" pitchFamily="2" charset="2"/>
              </a:rPr>
              <a:t> is extraneous in </a:t>
            </a:r>
            <a:r>
              <a:rPr lang="en-US" sz="1600" i="1">
                <a:sym typeface="Monotype Sorts" pitchFamily="2" charset="2"/>
              </a:rPr>
              <a:t>AB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</a:p>
          <a:p>
            <a:pPr lvl="1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Check if the result of deleting A from  </a:t>
            </a:r>
            <a:r>
              <a:rPr lang="en-US" sz="1600" i="1">
                <a:sym typeface="Monotype Sorts" pitchFamily="2" charset="2"/>
              </a:rPr>
              <a:t>AB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  </a:t>
            </a:r>
            <a:r>
              <a:rPr lang="en-US" sz="1600">
                <a:sym typeface="Monotype Sorts" pitchFamily="2" charset="2"/>
              </a:rPr>
              <a:t>is implied by the other dependencies</a:t>
            </a:r>
          </a:p>
          <a:p>
            <a:pPr lvl="2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Yes: in fact,  </a:t>
            </a:r>
            <a:r>
              <a:rPr lang="en-US" sz="1600" i="1">
                <a:sym typeface="Monotype Sorts" pitchFamily="2" charset="2"/>
              </a:rPr>
              <a:t>B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 </a:t>
            </a:r>
            <a:r>
              <a:rPr lang="en-US" sz="1600">
                <a:sym typeface="Monotype Sorts" pitchFamily="2" charset="2"/>
              </a:rPr>
              <a:t>is already present!</a:t>
            </a:r>
          </a:p>
          <a:p>
            <a:pPr lvl="1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Set is now </a:t>
            </a:r>
            <a:r>
              <a:rPr lang="en-US" sz="1600" i="1"/>
              <a:t>{A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BC, B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  <a:r>
              <a:rPr lang="en-US" sz="1600">
                <a:sym typeface="Monotype Sorts" pitchFamily="2" charset="2"/>
              </a:rPr>
              <a:t>}</a:t>
            </a:r>
            <a:endParaRPr lang="en-US" sz="1600" i="1">
              <a:sym typeface="Monotype Sorts" pitchFamily="2" charset="2"/>
            </a:endParaRPr>
          </a:p>
          <a:p>
            <a:pPr eaLnBrk="1" hangingPunct="1">
              <a:tabLst>
                <a:tab pos="684213" algn="l"/>
                <a:tab pos="2917825" algn="l"/>
              </a:tabLst>
            </a:pPr>
            <a:r>
              <a:rPr lang="en-US" sz="1600" i="1">
                <a:sym typeface="Monotype Sorts" pitchFamily="2" charset="2"/>
              </a:rPr>
              <a:t>C</a:t>
            </a:r>
            <a:r>
              <a:rPr lang="en-US" sz="1600">
                <a:sym typeface="Monotype Sorts" pitchFamily="2" charset="2"/>
              </a:rPr>
              <a:t> is extraneous in </a:t>
            </a:r>
            <a:r>
              <a:rPr lang="en-US" sz="1600" i="1">
                <a:sym typeface="Monotype Sorts" pitchFamily="2" charset="2"/>
              </a:rPr>
              <a:t>A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BC</a:t>
            </a:r>
            <a:r>
              <a:rPr lang="en-US" sz="1600">
                <a:sym typeface="Monotype Sorts" pitchFamily="2" charset="2"/>
              </a:rPr>
              <a:t> </a:t>
            </a:r>
          </a:p>
          <a:p>
            <a:pPr lvl="1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Check if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  <a:r>
              <a:rPr lang="en-US" sz="1600">
                <a:sym typeface="Monotype Sorts" pitchFamily="2" charset="2"/>
              </a:rPr>
              <a:t> is logically implied by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 </a:t>
            </a:r>
            <a:r>
              <a:rPr lang="en-US" sz="1600">
                <a:sym typeface="Monotype Sorts" pitchFamily="2" charset="2"/>
              </a:rPr>
              <a:t>and the other dependencies</a:t>
            </a:r>
          </a:p>
          <a:p>
            <a:pPr lvl="2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Yes</a:t>
            </a:r>
            <a:r>
              <a:rPr lang="en-US" sz="1600" i="1">
                <a:sym typeface="Monotype Sorts" pitchFamily="2" charset="2"/>
              </a:rPr>
              <a:t>: </a:t>
            </a:r>
            <a:r>
              <a:rPr lang="en-US" sz="1600">
                <a:sym typeface="Monotype Sorts" pitchFamily="2" charset="2"/>
              </a:rPr>
              <a:t>using transitivity on 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  and B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C. </a:t>
            </a:r>
          </a:p>
          <a:p>
            <a:pPr lvl="3"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Can use attribute closure of </a:t>
            </a:r>
            <a:r>
              <a:rPr lang="en-US" sz="1600" i="1">
                <a:sym typeface="Monotype Sorts" pitchFamily="2" charset="2"/>
              </a:rPr>
              <a:t>A</a:t>
            </a:r>
            <a:r>
              <a:rPr lang="en-US" sz="1600">
                <a:sym typeface="Monotype Sorts" pitchFamily="2" charset="2"/>
              </a:rPr>
              <a:t> in more complex cases</a:t>
            </a:r>
          </a:p>
          <a:p>
            <a:pPr eaLnBrk="1" hangingPunct="1">
              <a:tabLst>
                <a:tab pos="684213" algn="l"/>
                <a:tab pos="2917825" algn="l"/>
              </a:tabLst>
            </a:pPr>
            <a:r>
              <a:rPr lang="en-US" sz="1600">
                <a:sym typeface="Monotype Sorts" pitchFamily="2" charset="2"/>
              </a:rPr>
              <a:t>The canonical cover is: 	</a:t>
            </a:r>
            <a:r>
              <a:rPr lang="en-US" sz="1600" i="1">
                <a:sym typeface="Monotype Sorts" pitchFamily="2" charset="2"/>
              </a:rPr>
              <a:t>A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B</a:t>
            </a:r>
            <a:br>
              <a:rPr lang="en-US" sz="1600" i="1">
                <a:sym typeface="Monotype Sorts" pitchFamily="2" charset="2"/>
              </a:rPr>
            </a:br>
            <a:r>
              <a:rPr lang="en-US" sz="1600" i="1">
                <a:sym typeface="Monotype Sorts" pitchFamily="2" charset="2"/>
              </a:rPr>
              <a:t>		B </a:t>
            </a:r>
            <a:r>
              <a:rPr lang="en-US" sz="1600">
                <a:sym typeface="Symbol" panose="05050102010706020507" pitchFamily="18" charset="2"/>
              </a:rPr>
              <a:t></a:t>
            </a:r>
            <a:r>
              <a:rPr lang="en-US" sz="1600">
                <a:sym typeface="Monotype Sorts" pitchFamily="2" charset="2"/>
              </a:rPr>
              <a:t> </a:t>
            </a:r>
            <a:r>
              <a:rPr lang="en-US" sz="1600" i="1">
                <a:sym typeface="Monotype Sorts" pitchFamily="2" charset="2"/>
              </a:rPr>
              <a:t>C</a:t>
            </a: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30EED3B-4204-4FC6-97F0-9165F801EC65}" type="slidenum">
              <a:rPr lang="en-US" smtClean="0">
                <a:solidFill>
                  <a:srgbClr val="7B9899"/>
                </a:solidFill>
              </a:rPr>
              <a:pPr/>
              <a:t>32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325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AFC4A2-368B-42ED-8D29-BC56A3730095}" type="datetime4">
              <a:rPr lang="en-US" smtClean="0"/>
              <a:t>September 11,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0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7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47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47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288" y="430213"/>
            <a:ext cx="6969125" cy="500062"/>
          </a:xfrm>
          <a:solidFill>
            <a:srgbClr val="FFFFFF"/>
          </a:solidFill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Goals of Normalization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49263" y="1662113"/>
            <a:ext cx="8322948" cy="3606800"/>
          </a:xfrm>
        </p:spPr>
        <p:txBody>
          <a:bodyPr/>
          <a:lstStyle/>
          <a:p>
            <a:pPr eaLnBrk="1" hangingPunct="1"/>
            <a:r>
              <a:rPr lang="en-US" sz="2000" dirty="0"/>
              <a:t>Let </a:t>
            </a:r>
            <a:r>
              <a:rPr lang="en-US" sz="2000" i="1" dirty="0"/>
              <a:t>R</a:t>
            </a:r>
            <a:r>
              <a:rPr lang="en-US" sz="2000" dirty="0"/>
              <a:t> be a relation scheme with a set</a:t>
            </a:r>
            <a:r>
              <a:rPr lang="en-US" sz="2000" i="1" dirty="0"/>
              <a:t> F</a:t>
            </a:r>
            <a:r>
              <a:rPr lang="en-US" sz="2000" dirty="0"/>
              <a:t> of functional dependencies.</a:t>
            </a:r>
          </a:p>
          <a:p>
            <a:pPr eaLnBrk="1" hangingPunct="1"/>
            <a:r>
              <a:rPr lang="en-US" sz="2000" dirty="0"/>
              <a:t>Decide whether a relation scheme </a:t>
            </a:r>
            <a:r>
              <a:rPr lang="en-US" sz="2000" i="1" dirty="0"/>
              <a:t>R</a:t>
            </a:r>
            <a:r>
              <a:rPr lang="en-US" sz="2000" dirty="0"/>
              <a:t> is in “good” form.</a:t>
            </a:r>
          </a:p>
          <a:p>
            <a:pPr eaLnBrk="1" hangingPunct="1"/>
            <a:r>
              <a:rPr lang="en-US" sz="2000" dirty="0"/>
              <a:t>In the case that a relation scheme </a:t>
            </a:r>
            <a:r>
              <a:rPr lang="en-US" sz="2000" i="1" dirty="0"/>
              <a:t>R</a:t>
            </a:r>
            <a:r>
              <a:rPr lang="en-US" sz="2000" dirty="0"/>
              <a:t> is not in “good” form, decompose it into a set of relation scheme  {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i="1" dirty="0"/>
              <a:t>, R</a:t>
            </a:r>
            <a:r>
              <a:rPr lang="en-US" sz="2000" baseline="-25000" dirty="0"/>
              <a:t>2</a:t>
            </a:r>
            <a:r>
              <a:rPr lang="en-US" sz="2000" i="1" dirty="0"/>
              <a:t>, ..., </a:t>
            </a:r>
            <a:r>
              <a:rPr lang="en-US" sz="2000" i="1" dirty="0" err="1"/>
              <a:t>R</a:t>
            </a:r>
            <a:r>
              <a:rPr lang="en-US" sz="2000" i="1" baseline="-25000" dirty="0" err="1"/>
              <a:t>n</a:t>
            </a:r>
            <a:r>
              <a:rPr lang="en-US" sz="2000" dirty="0"/>
              <a:t>} such that </a:t>
            </a:r>
          </a:p>
          <a:p>
            <a:pPr lvl="1" eaLnBrk="1" hangingPunct="1"/>
            <a:r>
              <a:rPr lang="en-US" sz="2000" dirty="0"/>
              <a:t>each relation scheme is in good form </a:t>
            </a:r>
          </a:p>
          <a:p>
            <a:pPr lvl="1" eaLnBrk="1" hangingPunct="1"/>
            <a:r>
              <a:rPr lang="en-US" sz="2000" dirty="0"/>
              <a:t>the decomposition is a lossless-join decomposition</a:t>
            </a:r>
          </a:p>
          <a:p>
            <a:pPr lvl="1" eaLnBrk="1" hangingPunct="1"/>
            <a:r>
              <a:rPr lang="en-US" sz="2000" dirty="0">
                <a:solidFill>
                  <a:srgbClr val="FF0000"/>
                </a:solidFill>
              </a:rPr>
              <a:t>preferably, the decomposition should be dependency preserving.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F435302-9CAB-471C-BBB7-D1E327663D69}" type="slidenum">
              <a:rPr lang="en-US" smtClean="0">
                <a:solidFill>
                  <a:srgbClr val="7B9899"/>
                </a:solidFill>
              </a:rPr>
              <a:pPr/>
              <a:t>33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891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02A156-5BA8-4116-9E88-9BC4624B3743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77813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Boyce-Codd Normal Form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19150" y="3303588"/>
            <a:ext cx="6562725" cy="836612"/>
          </a:xfrm>
          <a:solidFill>
            <a:srgbClr val="FFFFFF"/>
          </a:solidFill>
        </p:spPr>
        <p:txBody>
          <a:bodyPr/>
          <a:lstStyle/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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 </a:t>
            </a:r>
            <a:r>
              <a:rPr lang="en-US" sz="2000" dirty="0">
                <a:sym typeface="Greek Symbols" pitchFamily="18" charset="2"/>
              </a:rPr>
              <a:t>is trivial (i.e.,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 </a:t>
            </a:r>
            <a:r>
              <a:rPr lang="en-US" sz="2000" dirty="0">
                <a:sym typeface="Greek Symbols" pitchFamily="18" charset="2"/>
              </a:rPr>
              <a:t>)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is a super key for </a:t>
            </a:r>
            <a:r>
              <a:rPr lang="en-US" sz="2000" i="1" dirty="0">
                <a:sym typeface="Greek Symbols" pitchFamily="18" charset="2"/>
              </a:rPr>
              <a:t>R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449263" y="1609725"/>
            <a:ext cx="8085137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000" dirty="0">
                <a:latin typeface="+mn-lt"/>
              </a:rPr>
              <a:t>A relation schema </a:t>
            </a:r>
            <a:r>
              <a:rPr lang="en-US" sz="2000" i="1" dirty="0">
                <a:latin typeface="+mn-lt"/>
              </a:rPr>
              <a:t>R</a:t>
            </a:r>
            <a:r>
              <a:rPr lang="en-US" sz="2000" dirty="0">
                <a:latin typeface="+mn-lt"/>
              </a:rPr>
              <a:t> is in BCNF with respect to a set </a:t>
            </a:r>
            <a:r>
              <a:rPr lang="en-US" sz="2000" i="1" dirty="0">
                <a:latin typeface="+mn-lt"/>
              </a:rPr>
              <a:t>F</a:t>
            </a:r>
            <a:r>
              <a:rPr lang="en-US" sz="2000" dirty="0">
                <a:latin typeface="+mn-lt"/>
              </a:rPr>
              <a:t> of functional  dependencies if for all functional </a:t>
            </a:r>
            <a:r>
              <a:rPr lang="en-US" sz="2000" dirty="0">
                <a:solidFill>
                  <a:srgbClr val="CC3300"/>
                </a:solidFill>
                <a:latin typeface="+mn-lt"/>
              </a:rPr>
              <a:t>dependencies in </a:t>
            </a:r>
            <a:r>
              <a:rPr lang="en-US" sz="2000" i="1" dirty="0">
                <a:solidFill>
                  <a:srgbClr val="CC3300"/>
                </a:solidFill>
                <a:latin typeface="+mn-lt"/>
              </a:rPr>
              <a:t>F</a:t>
            </a:r>
            <a:r>
              <a:rPr lang="en-US" sz="2000" baseline="30000" dirty="0">
                <a:solidFill>
                  <a:srgbClr val="CC3300"/>
                </a:solidFill>
                <a:latin typeface="+mn-lt"/>
              </a:rPr>
              <a:t>+</a:t>
            </a:r>
            <a:r>
              <a:rPr lang="en-US" sz="2000" dirty="0">
                <a:latin typeface="+mn-lt"/>
              </a:rPr>
              <a:t> of the form </a:t>
            </a:r>
          </a:p>
          <a:p>
            <a:pPr>
              <a:defRPr/>
            </a:pPr>
            <a:r>
              <a:rPr lang="en-US" sz="2000" dirty="0">
                <a:latin typeface="+mn-lt"/>
                <a:sym typeface="Symbol" pitchFamily="18" charset="2"/>
              </a:rPr>
              <a:t>               </a:t>
            </a:r>
            <a:r>
              <a:rPr lang="en-US" sz="2000" dirty="0">
                <a:latin typeface="+mn-lt"/>
                <a:sym typeface="Greek Symbols" pitchFamily="18" charset="2"/>
              </a:rPr>
              <a:t></a:t>
            </a:r>
            <a:r>
              <a:rPr kumimoji="1" lang="en-US" sz="2000" dirty="0">
                <a:latin typeface="+mn-lt"/>
                <a:sym typeface="Symbol" pitchFamily="18" charset="2"/>
              </a:rPr>
              <a:t></a:t>
            </a:r>
            <a:r>
              <a:rPr kumimoji="1" lang="en-US" sz="2000" dirty="0">
                <a:latin typeface="+mn-lt"/>
                <a:sym typeface="Monotype Sorts" pitchFamily="2" charset="2"/>
              </a:rPr>
              <a:t> </a:t>
            </a:r>
            <a:r>
              <a:rPr lang="en-US" sz="2000" i="1" dirty="0">
                <a:latin typeface="+mn-lt"/>
                <a:sym typeface="Symbol" pitchFamily="18" charset="2"/>
              </a:rPr>
              <a:t></a:t>
            </a:r>
            <a:endParaRPr lang="en-US" sz="2000" i="1" dirty="0">
              <a:latin typeface="+mn-lt"/>
              <a:sym typeface="Greek Symbols" pitchFamily="18" charset="2"/>
            </a:endParaRPr>
          </a:p>
          <a:p>
            <a:pPr>
              <a:defRPr/>
            </a:pPr>
            <a:r>
              <a:rPr lang="en-US" sz="2000" dirty="0">
                <a:latin typeface="+mn-lt"/>
                <a:sym typeface="Greek Symbols" pitchFamily="18" charset="2"/>
              </a:rPr>
              <a:t>where </a:t>
            </a:r>
            <a:r>
              <a:rPr lang="en-US" sz="2000" dirty="0">
                <a:latin typeface="+mn-lt"/>
                <a:sym typeface="Symbol" pitchFamily="18" charset="2"/>
              </a:rPr>
              <a:t></a:t>
            </a:r>
            <a:r>
              <a:rPr lang="en-US" sz="2000" dirty="0">
                <a:latin typeface="+mn-lt"/>
                <a:sym typeface="Greek Symbols" pitchFamily="18" charset="2"/>
              </a:rPr>
              <a:t> </a:t>
            </a:r>
            <a:r>
              <a:rPr lang="en-US" sz="2000" dirty="0">
                <a:latin typeface="+mn-lt"/>
                <a:sym typeface="Symbol" pitchFamily="18" charset="2"/>
              </a:rPr>
              <a:t> </a:t>
            </a:r>
            <a:r>
              <a:rPr lang="en-US" sz="2000" i="1" dirty="0">
                <a:latin typeface="+mn-lt"/>
                <a:sym typeface="Symbol" pitchFamily="18" charset="2"/>
              </a:rPr>
              <a:t>R</a:t>
            </a:r>
            <a:r>
              <a:rPr lang="en-US" sz="2000" dirty="0">
                <a:latin typeface="+mn-lt"/>
                <a:sym typeface="Symbol" pitchFamily="18" charset="2"/>
              </a:rPr>
              <a:t> and </a:t>
            </a:r>
            <a:r>
              <a:rPr lang="en-US" sz="2000" i="1" dirty="0">
                <a:latin typeface="+mn-lt"/>
                <a:sym typeface="Symbol" pitchFamily="18" charset="2"/>
              </a:rPr>
              <a:t></a:t>
            </a:r>
            <a:r>
              <a:rPr lang="en-US" sz="2000" dirty="0">
                <a:latin typeface="+mn-lt"/>
                <a:sym typeface="Greek Symbols" pitchFamily="18" charset="2"/>
              </a:rPr>
              <a:t> </a:t>
            </a:r>
            <a:r>
              <a:rPr lang="en-US" sz="2000" dirty="0">
                <a:latin typeface="+mn-lt"/>
                <a:sym typeface="Symbol" pitchFamily="18" charset="2"/>
              </a:rPr>
              <a:t> </a:t>
            </a:r>
            <a:r>
              <a:rPr lang="en-US" sz="2000" i="1" dirty="0">
                <a:latin typeface="+mn-lt"/>
                <a:sym typeface="Symbol" pitchFamily="18" charset="2"/>
              </a:rPr>
              <a:t>R</a:t>
            </a:r>
            <a:r>
              <a:rPr lang="en-US" sz="2000" dirty="0">
                <a:latin typeface="+mn-lt"/>
                <a:sym typeface="Symbol" pitchFamily="18" charset="2"/>
              </a:rPr>
              <a:t>,</a:t>
            </a:r>
            <a:r>
              <a:rPr lang="en-US" sz="2000" i="1" dirty="0">
                <a:latin typeface="+mn-lt"/>
                <a:sym typeface="Symbol" pitchFamily="18" charset="2"/>
              </a:rPr>
              <a:t> </a:t>
            </a:r>
            <a:r>
              <a:rPr lang="en-US" sz="2000" b="1" dirty="0">
                <a:solidFill>
                  <a:srgbClr val="0033CC"/>
                </a:solidFill>
                <a:latin typeface="+mn-lt"/>
                <a:sym typeface="Symbol" pitchFamily="18" charset="2"/>
              </a:rPr>
              <a:t>at least one</a:t>
            </a:r>
            <a:r>
              <a:rPr lang="en-US" sz="2000" dirty="0">
                <a:latin typeface="+mn-lt"/>
                <a:sym typeface="Symbol" pitchFamily="18" charset="2"/>
              </a:rPr>
              <a:t> of the following holds:</a:t>
            </a:r>
          </a:p>
        </p:txBody>
      </p:sp>
      <p:sp>
        <p:nvSpPr>
          <p:cNvPr id="440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2188710-6AEF-48E5-9FB3-0BFCCEB4E6B9}" type="slidenum">
              <a:rPr lang="en-US" smtClean="0">
                <a:solidFill>
                  <a:srgbClr val="7B9899"/>
                </a:solidFill>
              </a:rPr>
              <a:pPr/>
              <a:t>34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44039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41028D-1A6F-468E-8E05-A5E09EE37C89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Boyce-Codd Normal Form (Cont.)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448452"/>
            <a:ext cx="8534400" cy="372535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Example schema  that is </a:t>
            </a:r>
            <a:r>
              <a:rPr lang="en-US" altLang="en-US" sz="1700" b="1" i="1" dirty="0"/>
              <a:t>not</a:t>
            </a:r>
            <a:r>
              <a:rPr lang="en-US" altLang="en-US" sz="1700" dirty="0"/>
              <a:t>  in BCNF: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u="sng" dirty="0"/>
              <a:t>ID, </a:t>
            </a:r>
            <a:r>
              <a:rPr lang="en-US" altLang="en-US" sz="1700" i="1" dirty="0"/>
              <a:t>name, salary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dept_name</a:t>
            </a:r>
            <a:r>
              <a:rPr lang="en-US" altLang="en-US" sz="1700" i="1" u="sng" dirty="0"/>
              <a:t>, </a:t>
            </a:r>
            <a:r>
              <a:rPr lang="en-US" altLang="en-US" sz="1700" i="1" dirty="0"/>
              <a:t>building, budget 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because :</a:t>
            </a:r>
          </a:p>
          <a:p>
            <a:pPr lvl="1"/>
            <a:r>
              <a:rPr lang="en-US" altLang="en-US" sz="1700" i="1" dirty="0" err="1"/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building, budget  </a:t>
            </a:r>
          </a:p>
          <a:p>
            <a:pPr lvl="2"/>
            <a:r>
              <a:rPr lang="en-US" altLang="en-US" sz="1700" dirty="0">
                <a:sym typeface="Monotype Sorts" pitchFamily="-84" charset="2"/>
              </a:rPr>
              <a:t>holds on </a:t>
            </a:r>
            <a:r>
              <a:rPr lang="en-US" altLang="en-US" sz="1700" i="1" dirty="0" err="1">
                <a:sym typeface="Monotype Sorts" pitchFamily="-84" charset="2"/>
              </a:rPr>
              <a:t>in_dep</a:t>
            </a:r>
            <a:endParaRPr lang="en-US" altLang="en-US" sz="1700" i="1" dirty="0">
              <a:sym typeface="Monotype Sorts" pitchFamily="-84" charset="2"/>
            </a:endParaRPr>
          </a:p>
          <a:p>
            <a:pPr lvl="2"/>
            <a:r>
              <a:rPr lang="en-US" altLang="en-US" sz="1700" dirty="0">
                <a:sym typeface="Monotype Sorts" pitchFamily="-84" charset="2"/>
              </a:rPr>
              <a:t>but </a:t>
            </a:r>
          </a:p>
          <a:p>
            <a:pPr lvl="1"/>
            <a:r>
              <a:rPr lang="en-US" altLang="en-US" sz="1700" i="1" dirty="0" err="1">
                <a:sym typeface="Monotype Sorts" pitchFamily="-84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 is not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endParaRPr lang="en-US" altLang="en-US" sz="1700" dirty="0">
              <a:sym typeface="Monotype Sorts" pitchFamily="-84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When decompose  </a:t>
            </a:r>
            <a:r>
              <a:rPr lang="en-US" altLang="en-US" sz="1700" i="1" dirty="0" err="1">
                <a:sym typeface="Monotype Sorts" pitchFamily="-84" charset="2"/>
              </a:rPr>
              <a:t>in_dept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into</a:t>
            </a:r>
            <a:r>
              <a:rPr lang="en-US" altLang="en-US" sz="1700" i="1" dirty="0">
                <a:sym typeface="Monotype Sorts" pitchFamily="-84" charset="2"/>
              </a:rPr>
              <a:t> instructor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department 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instructor</a:t>
            </a:r>
            <a:r>
              <a:rPr lang="en-US" altLang="en-US" sz="1700" dirty="0">
                <a:sym typeface="Monotype Sorts" pitchFamily="-84" charset="2"/>
              </a:rPr>
              <a:t>  is in BCNF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department </a:t>
            </a:r>
            <a:r>
              <a:rPr lang="en-US" altLang="en-US" sz="1700" dirty="0">
                <a:sym typeface="Monotype Sorts" pitchFamily="-84" charset="2"/>
              </a:rPr>
              <a:t>is in BCNF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637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Decomposing a Schema into BCNF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508413"/>
            <a:ext cx="8534400" cy="43349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Let  R be a schema</a:t>
            </a:r>
            <a:r>
              <a:rPr lang="en-US" altLang="en-US" sz="1700" i="1" dirty="0"/>
              <a:t>  </a:t>
            </a:r>
            <a:r>
              <a:rPr lang="en-US" altLang="en-US" sz="1700" dirty="0"/>
              <a:t>that is not in BCNF.  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Let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kumimoji="0"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  </a:t>
            </a:r>
            <a:r>
              <a:rPr lang="en-US" altLang="en-US" sz="1700" dirty="0">
                <a:sym typeface="Greek Symbols"/>
              </a:rPr>
              <a:t>be the FD that </a:t>
            </a:r>
            <a:r>
              <a:rPr lang="en-US" altLang="en-US" sz="1700" dirty="0"/>
              <a:t>causes a violation of BCNF.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We decompose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into:</a:t>
            </a:r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( </a:t>
            </a:r>
            <a:r>
              <a:rPr lang="en-US" altLang="en-US" sz="1700" i="1" dirty="0">
                <a:sym typeface="Symbol" panose="05050102010706020507" pitchFamily="18" charset="2"/>
              </a:rPr>
              <a:t> - </a:t>
            </a:r>
            <a:r>
              <a:rPr lang="en-US" altLang="en-US" sz="1700" dirty="0">
                <a:sym typeface="Symbol" panose="05050102010706020507" pitchFamily="18" charset="2"/>
              </a:rPr>
              <a:t> ) )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dirty="0"/>
              <a:t>In our example of </a:t>
            </a:r>
            <a:r>
              <a:rPr lang="en-US" altLang="en-US" sz="1700" i="1" dirty="0" err="1"/>
              <a:t>in_dep</a:t>
            </a:r>
            <a:r>
              <a:rPr lang="en-US" altLang="en-US" sz="17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 =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=</a:t>
            </a:r>
            <a:r>
              <a:rPr lang="en-US" altLang="en-US" sz="1700" i="1" dirty="0">
                <a:sym typeface="Symbol" panose="05050102010706020507" pitchFamily="18" charset="2"/>
              </a:rPr>
              <a:t> building, budget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700" dirty="0"/>
              <a:t>and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is replaced by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 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 = (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building, budget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( </a:t>
            </a:r>
            <a:r>
              <a:rPr lang="en-US" altLang="en-US" sz="1700" i="1" dirty="0">
                <a:sym typeface="Symbol" panose="05050102010706020507" pitchFamily="18" charset="2"/>
              </a:rPr>
              <a:t> - </a:t>
            </a:r>
            <a:r>
              <a:rPr lang="en-US" altLang="en-US" sz="1700" dirty="0">
                <a:sym typeface="Symbol" panose="05050102010706020507" pitchFamily="18" charset="2"/>
              </a:rPr>
              <a:t> ) ) = ( </a:t>
            </a:r>
            <a:r>
              <a:rPr lang="en-US" altLang="en-US" sz="1700" i="1" dirty="0">
                <a:sym typeface="Symbol" panose="05050102010706020507" pitchFamily="18" charset="2"/>
              </a:rPr>
              <a:t>ID, name,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salary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67905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and Dependency Preservation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705" y="1393590"/>
            <a:ext cx="8652290" cy="4722396"/>
          </a:xfrm>
        </p:spPr>
        <p:txBody>
          <a:bodyPr/>
          <a:lstStyle/>
          <a:p>
            <a:pPr>
              <a:defRPr/>
            </a:pPr>
            <a:r>
              <a:rPr lang="en-US" altLang="en-US" sz="1800" dirty="0">
                <a:ea typeface="ＭＳ Ｐゴシック" pitchFamily="34" charset="-128"/>
              </a:rPr>
              <a:t>It is not always possible to achieve both BCNF and dependency preservation </a:t>
            </a:r>
            <a:endParaRPr lang="en-US" altLang="en-US" sz="1800" dirty="0"/>
          </a:p>
          <a:p>
            <a:pPr>
              <a:defRPr/>
            </a:pPr>
            <a:r>
              <a:rPr lang="en-US" altLang="en-US" sz="1800" dirty="0"/>
              <a:t>Consider a schema: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800" dirty="0"/>
              <a:t>         </a:t>
            </a:r>
            <a:r>
              <a:rPr lang="en-US" altLang="en-US" sz="1800" i="1" dirty="0" err="1"/>
              <a:t>dept_advisor</a:t>
            </a:r>
            <a:r>
              <a:rPr lang="en-US" altLang="en-US" sz="1800" i="1" dirty="0"/>
              <a:t>(</a:t>
            </a:r>
            <a:r>
              <a:rPr lang="en-US" altLang="en-US" sz="1800" i="1" dirty="0" err="1"/>
              <a:t>s_ID</a:t>
            </a:r>
            <a:r>
              <a:rPr lang="en-US" altLang="en-US" sz="1800" i="1" dirty="0"/>
              <a:t>, </a:t>
            </a:r>
            <a:r>
              <a:rPr lang="en-US" altLang="en-US" sz="1800" i="1" dirty="0" err="1"/>
              <a:t>i_ID</a:t>
            </a:r>
            <a:r>
              <a:rPr lang="en-US" altLang="en-US" sz="1800" i="1" dirty="0"/>
              <a:t>, </a:t>
            </a:r>
            <a:r>
              <a:rPr lang="en-US" altLang="en-US" sz="1800" i="1" dirty="0" err="1"/>
              <a:t>department_name</a:t>
            </a:r>
            <a:r>
              <a:rPr lang="en-US" altLang="en-US" sz="1800" dirty="0"/>
              <a:t>)</a:t>
            </a:r>
          </a:p>
          <a:p>
            <a:pPr>
              <a:defRPr/>
            </a:pPr>
            <a:r>
              <a:rPr lang="en-US" altLang="en-US" sz="1800" dirty="0"/>
              <a:t>With function dependencies: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800" dirty="0"/>
              <a:t>             </a:t>
            </a:r>
            <a:r>
              <a:rPr lang="en-US" altLang="en-US" sz="1800" i="1" dirty="0"/>
              <a:t>i_ID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itchFamily="18" charset="2"/>
              </a:rPr>
              <a:t> </a:t>
            </a:r>
            <a:r>
              <a:rPr lang="en-US" altLang="en-US" sz="1800" i="1" dirty="0">
                <a:sym typeface="Symbol" pitchFamily="18" charset="2"/>
              </a:rPr>
              <a:t>dept_name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800" dirty="0"/>
              <a:t>             </a:t>
            </a:r>
            <a:r>
              <a:rPr lang="en-US" altLang="en-US" sz="1800" i="1" dirty="0"/>
              <a:t>s_ID, </a:t>
            </a:r>
            <a:r>
              <a:rPr lang="en-US" altLang="en-US" sz="1800" i="1" dirty="0">
                <a:sym typeface="Symbol" pitchFamily="18" charset="2"/>
              </a:rPr>
              <a:t>dept_name</a:t>
            </a:r>
            <a:r>
              <a:rPr lang="en-US" altLang="en-US" sz="1800" i="1" dirty="0"/>
              <a:t> </a:t>
            </a:r>
            <a:r>
              <a:rPr lang="en-US" altLang="en-US" sz="1800" dirty="0">
                <a:sym typeface="Symbol" pitchFamily="18" charset="2"/>
              </a:rPr>
              <a:t> </a:t>
            </a:r>
            <a:r>
              <a:rPr lang="en-US" altLang="en-US" sz="1800" i="1" dirty="0">
                <a:sym typeface="Symbol" pitchFamily="18" charset="2"/>
              </a:rPr>
              <a:t>i_ID</a:t>
            </a:r>
          </a:p>
          <a:p>
            <a:pPr>
              <a:defRPr/>
            </a:pPr>
            <a:r>
              <a:rPr lang="en-US" altLang="en-US" sz="1800" i="1" dirty="0"/>
              <a:t>dept_advisor </a:t>
            </a:r>
            <a:r>
              <a:rPr lang="en-US" altLang="en-US" sz="1800" dirty="0"/>
              <a:t>is not in BCNF </a:t>
            </a:r>
          </a:p>
          <a:p>
            <a:pPr lvl="1">
              <a:defRPr/>
            </a:pPr>
            <a:r>
              <a:rPr lang="en-US" altLang="en-US" sz="1800" dirty="0"/>
              <a:t> </a:t>
            </a:r>
            <a:r>
              <a:rPr lang="en-US" altLang="en-US" sz="1800" i="1" dirty="0"/>
              <a:t>i_ID</a:t>
            </a:r>
            <a:r>
              <a:rPr lang="en-US" altLang="en-US" sz="1800" dirty="0"/>
              <a:t>  is not a superkey.</a:t>
            </a:r>
          </a:p>
          <a:p>
            <a:pPr>
              <a:defRPr/>
            </a:pPr>
            <a:r>
              <a:rPr lang="en-US" altLang="en-US" sz="1800" dirty="0">
                <a:sym typeface="Symbol" pitchFamily="18" charset="2"/>
              </a:rPr>
              <a:t>Any decomposition  of </a:t>
            </a:r>
            <a:r>
              <a:rPr lang="en-US" altLang="en-US" sz="1800" i="1" dirty="0"/>
              <a:t>dept_advisor </a:t>
            </a:r>
            <a:r>
              <a:rPr lang="en-US" altLang="en-US" sz="1800" dirty="0">
                <a:sym typeface="Symbol" pitchFamily="18" charset="2"/>
              </a:rPr>
              <a:t>will not include all the attributes in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800" dirty="0">
                <a:sym typeface="Symbol" pitchFamily="18" charset="2"/>
              </a:rPr>
              <a:t>            </a:t>
            </a:r>
            <a:r>
              <a:rPr lang="en-US" altLang="en-US" sz="1800" i="1" dirty="0"/>
              <a:t>s_ID, </a:t>
            </a:r>
            <a:r>
              <a:rPr lang="en-US" altLang="en-US" sz="1800" i="1" dirty="0">
                <a:sym typeface="Symbol" pitchFamily="18" charset="2"/>
              </a:rPr>
              <a:t>dept_name</a:t>
            </a:r>
            <a:r>
              <a:rPr lang="en-US" altLang="en-US" sz="1800" i="1" dirty="0"/>
              <a:t> </a:t>
            </a:r>
            <a:r>
              <a:rPr lang="en-US" altLang="en-US" sz="1800" i="1" dirty="0">
                <a:sym typeface="Symbol" pitchFamily="18" charset="2"/>
              </a:rPr>
              <a:t> i_ID</a:t>
            </a:r>
          </a:p>
          <a:p>
            <a:pPr>
              <a:defRPr/>
            </a:pPr>
            <a:r>
              <a:rPr lang="en-US" altLang="en-US" sz="1800" dirty="0">
                <a:sym typeface="Symbol" pitchFamily="18" charset="2"/>
              </a:rPr>
              <a:t>Thus, the composition is  NOT be</a:t>
            </a:r>
            <a:r>
              <a:rPr lang="en-US" altLang="en-US" sz="1800" b="1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altLang="en-US" sz="1800" dirty="0">
                <a:sym typeface="Symbol" pitchFamily="18" charset="2"/>
              </a:rPr>
              <a:t>dependency preserving</a:t>
            </a:r>
          </a:p>
          <a:p>
            <a:pPr lvl="1">
              <a:defRPr/>
            </a:pPr>
            <a:r>
              <a:rPr lang="en-US" altLang="en-US" sz="1300" dirty="0">
                <a:ea typeface="ＭＳ Ｐゴシック" pitchFamily="34" charset="-128"/>
                <a:sym typeface="Symbol" pitchFamily="18" charset="2"/>
              </a:rPr>
              <a:t>Ex. (</a:t>
            </a:r>
            <a:r>
              <a:rPr lang="en-US" altLang="en-US" sz="1300" i="1" dirty="0" err="1"/>
              <a:t>s_ID</a:t>
            </a:r>
            <a:r>
              <a:rPr lang="en-US" altLang="en-US" sz="1300" i="1" dirty="0"/>
              <a:t>, </a:t>
            </a:r>
            <a:r>
              <a:rPr lang="en-US" altLang="en-US" sz="1300" i="1" dirty="0" err="1"/>
              <a:t>i_ID</a:t>
            </a:r>
            <a:r>
              <a:rPr lang="en-US" altLang="en-US" sz="1300" i="1" dirty="0"/>
              <a:t>) &amp; </a:t>
            </a:r>
            <a:r>
              <a:rPr lang="en-US" altLang="en-US" sz="1300" dirty="0">
                <a:ea typeface="ＭＳ Ｐゴシック" pitchFamily="34" charset="-128"/>
                <a:sym typeface="Symbol" pitchFamily="18" charset="2"/>
              </a:rPr>
              <a:t>(</a:t>
            </a:r>
            <a:r>
              <a:rPr lang="en-US" altLang="en-US" sz="1300" i="1" dirty="0" err="1"/>
              <a:t>i_ID</a:t>
            </a:r>
            <a:r>
              <a:rPr lang="en-US" altLang="en-US" sz="1300" i="1" dirty="0"/>
              <a:t>,  </a:t>
            </a:r>
            <a:r>
              <a:rPr lang="en-US" altLang="en-US" sz="1300" i="1" dirty="0" err="1">
                <a:sym typeface="Symbol" pitchFamily="18" charset="2"/>
              </a:rPr>
              <a:t>dept_name</a:t>
            </a:r>
            <a:r>
              <a:rPr lang="en-US" altLang="en-US" sz="1300" i="1" dirty="0"/>
              <a:t>)  does not preserve </a:t>
            </a:r>
            <a:r>
              <a:rPr lang="en-US" altLang="en-US" sz="1300" i="1" dirty="0" err="1"/>
              <a:t>s_ID</a:t>
            </a:r>
            <a:r>
              <a:rPr lang="en-US" altLang="en-US" sz="1300" i="1" dirty="0"/>
              <a:t>, </a:t>
            </a:r>
            <a:r>
              <a:rPr lang="en-US" altLang="en-US" sz="1300" i="1" dirty="0" err="1">
                <a:sym typeface="Symbol" pitchFamily="18" charset="2"/>
              </a:rPr>
              <a:t>dept_name</a:t>
            </a:r>
            <a:r>
              <a:rPr lang="en-US" altLang="en-US" sz="1300" i="1" dirty="0"/>
              <a:t> </a:t>
            </a:r>
            <a:r>
              <a:rPr lang="en-US" altLang="en-US" sz="1300" i="1" dirty="0">
                <a:sym typeface="Symbol" pitchFamily="18" charset="2"/>
              </a:rPr>
              <a:t> </a:t>
            </a:r>
            <a:r>
              <a:rPr lang="en-US" altLang="en-US" sz="1300" i="1" dirty="0" err="1">
                <a:sym typeface="Symbol" pitchFamily="18" charset="2"/>
              </a:rPr>
              <a:t>i_ID</a:t>
            </a:r>
            <a:endParaRPr lang="en-US" altLang="en-US" sz="1300" i="1" dirty="0">
              <a:sym typeface="Symbol" pitchFamily="18" charset="2"/>
            </a:endParaRPr>
          </a:p>
          <a:p>
            <a:pPr>
              <a:defRPr/>
            </a:pPr>
            <a:endParaRPr lang="en-US" altLang="en-US" sz="18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84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Lossless-join Decomposition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6738" y="1489075"/>
            <a:ext cx="8097837" cy="3794125"/>
          </a:xfrm>
        </p:spPr>
        <p:txBody>
          <a:bodyPr/>
          <a:lstStyle/>
          <a:p>
            <a:pPr eaLnBrk="1" hangingPunct="1">
              <a:tabLst>
                <a:tab pos="2292350" algn="l"/>
                <a:tab pos="2976563" algn="l"/>
              </a:tabLst>
            </a:pPr>
            <a:r>
              <a:rPr lang="en-US" sz="2000" dirty="0"/>
              <a:t>For the case of</a:t>
            </a:r>
            <a:r>
              <a:rPr lang="en-US" sz="2000" i="1" dirty="0"/>
              <a:t> R</a:t>
            </a:r>
            <a:r>
              <a:rPr lang="en-US" sz="2000" dirty="0"/>
              <a:t> = (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i="1" dirty="0"/>
              <a:t>, R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  <a:r>
              <a:rPr lang="en-US" sz="2000" i="1" dirty="0"/>
              <a:t>,</a:t>
            </a:r>
            <a:r>
              <a:rPr lang="en-US" sz="2000" dirty="0"/>
              <a:t> we require that for all possible relations </a:t>
            </a:r>
            <a:r>
              <a:rPr lang="en-US" sz="2000" i="1" dirty="0"/>
              <a:t>r</a:t>
            </a:r>
            <a:r>
              <a:rPr lang="en-US" sz="2000" dirty="0"/>
              <a:t> on schema </a:t>
            </a:r>
            <a:r>
              <a:rPr lang="en-US" sz="2000" i="1" dirty="0"/>
              <a:t>R</a:t>
            </a:r>
          </a:p>
          <a:p>
            <a:pPr eaLnBrk="1" hangingPunct="1"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r>
              <a:rPr lang="en-US" sz="2000" baseline="-25000" dirty="0"/>
              <a:t>		</a:t>
            </a:r>
            <a:r>
              <a:rPr lang="en-US" sz="2000" i="1" dirty="0"/>
              <a:t>r = </a:t>
            </a:r>
            <a:r>
              <a:rPr lang="en-US" sz="2000" dirty="0">
                <a:sym typeface="Symbol" panose="05050102010706020507" pitchFamily="18" charset="2"/>
              </a:rPr>
              <a:t></a:t>
            </a:r>
            <a:r>
              <a:rPr lang="en-US" sz="2000" i="1" baseline="-25000" dirty="0">
                <a:sym typeface="Symbol" panose="05050102010706020507" pitchFamily="18" charset="2"/>
              </a:rPr>
              <a:t>R1</a:t>
            </a:r>
            <a:r>
              <a:rPr lang="en-US" sz="2000" baseline="-25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(</a:t>
            </a:r>
            <a:r>
              <a:rPr lang="en-US" sz="2000" i="1" dirty="0">
                <a:sym typeface="Symbol" panose="05050102010706020507" pitchFamily="18" charset="2"/>
              </a:rPr>
              <a:t>r </a:t>
            </a:r>
            <a:r>
              <a:rPr lang="en-US" sz="2000" dirty="0">
                <a:sym typeface="Symbol" panose="05050102010706020507" pitchFamily="18" charset="2"/>
              </a:rPr>
              <a:t>)    </a:t>
            </a:r>
            <a:r>
              <a:rPr lang="en-US" sz="2000" i="1" baseline="-25000" dirty="0">
                <a:sym typeface="Symbol" panose="05050102010706020507" pitchFamily="18" charset="2"/>
              </a:rPr>
              <a:t>R2</a:t>
            </a:r>
            <a:r>
              <a:rPr lang="en-US" sz="2000" baseline="-25000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(</a:t>
            </a:r>
            <a:r>
              <a:rPr lang="en-US" sz="2000" i="1" dirty="0">
                <a:sym typeface="Symbol" panose="05050102010706020507" pitchFamily="18" charset="2"/>
              </a:rPr>
              <a:t>r </a:t>
            </a:r>
            <a:r>
              <a:rPr lang="en-US" sz="2000" dirty="0">
                <a:sym typeface="Symbol" panose="05050102010706020507" pitchFamily="18" charset="2"/>
              </a:rPr>
              <a:t>) </a:t>
            </a:r>
          </a:p>
          <a:p>
            <a:pPr eaLnBrk="1" hangingPunct="1">
              <a:tabLst>
                <a:tab pos="2292350" algn="l"/>
                <a:tab pos="2976563" algn="l"/>
              </a:tabLst>
            </a:pPr>
            <a:r>
              <a:rPr lang="en-US" sz="2000" dirty="0"/>
              <a:t>A decomposition of </a:t>
            </a:r>
            <a:r>
              <a:rPr lang="en-US" sz="2000" i="1" dirty="0"/>
              <a:t>R</a:t>
            </a:r>
            <a:r>
              <a:rPr lang="en-US" sz="2000" dirty="0"/>
              <a:t> into 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is lossless join if and only if </a:t>
            </a:r>
            <a:r>
              <a:rPr lang="en-US" sz="1800" b="1" dirty="0">
                <a:solidFill>
                  <a:srgbClr val="FF0000"/>
                </a:solidFill>
              </a:rPr>
              <a:t>at least one</a:t>
            </a:r>
            <a:r>
              <a:rPr lang="en-US" sz="1800" dirty="0"/>
              <a:t> </a:t>
            </a:r>
            <a:r>
              <a:rPr lang="en-US" sz="2000" dirty="0"/>
              <a:t>of the following dependencies holds is in </a:t>
            </a:r>
            <a:r>
              <a:rPr lang="en-US" sz="2000" i="1" dirty="0"/>
              <a:t>F</a:t>
            </a:r>
            <a:r>
              <a:rPr lang="en-US" sz="2400" baseline="30000" dirty="0"/>
              <a:t>+</a:t>
            </a:r>
            <a:r>
              <a:rPr lang="en-US" sz="2000" dirty="0"/>
              <a:t>:</a:t>
            </a:r>
          </a:p>
          <a:p>
            <a:pPr lvl="1" eaLnBrk="1" hangingPunct="1">
              <a:tabLst>
                <a:tab pos="2292350" algn="l"/>
                <a:tab pos="2976563" algn="l"/>
              </a:tabLst>
            </a:pP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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</a:p>
          <a:p>
            <a:pPr lvl="1" eaLnBrk="1" hangingPunct="1">
              <a:tabLst>
                <a:tab pos="2292350" algn="l"/>
                <a:tab pos="2976563" algn="l"/>
              </a:tabLst>
            </a:pP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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endParaRPr lang="en-US" sz="2000" dirty="0"/>
          </a:p>
          <a:p>
            <a:pPr eaLnBrk="1" hangingPunct="1">
              <a:buFont typeface="Monotype Sorts" pitchFamily="2" charset="2"/>
              <a:buNone/>
              <a:tabLst>
                <a:tab pos="2292350" algn="l"/>
                <a:tab pos="2976563" algn="l"/>
              </a:tabLst>
            </a:pPr>
            <a:endParaRPr lang="en-US" sz="2000" dirty="0">
              <a:sym typeface="Symbol" panose="05050102010706020507" pitchFamily="18" charset="2"/>
            </a:endParaRPr>
          </a:p>
        </p:txBody>
      </p:sp>
      <p:sp>
        <p:nvSpPr>
          <p:cNvPr id="54276" name="Freeform 4"/>
          <p:cNvSpPr>
            <a:spLocks/>
          </p:cNvSpPr>
          <p:nvPr/>
        </p:nvSpPr>
        <p:spPr bwMode="auto">
          <a:xfrm>
            <a:off x="4189413" y="2314575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6 h 182"/>
              <a:gd name="T4" fmla="*/ 2147483646 w 182"/>
              <a:gd name="T5" fmla="*/ 0 h 182"/>
              <a:gd name="T6" fmla="*/ 2147483646 w 182"/>
              <a:gd name="T7" fmla="*/ 2147483646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4CC2416-0C2B-40A3-A0B4-4D709AE1B057}" type="slidenum">
              <a:rPr lang="en-US" smtClean="0">
                <a:solidFill>
                  <a:srgbClr val="7B9899"/>
                </a:solidFill>
              </a:rPr>
              <a:pPr/>
              <a:t>38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4278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C4CA12-1B55-4820-9F7E-8D82DAFD74FA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30363"/>
            <a:ext cx="8259763" cy="4614862"/>
          </a:xfrm>
        </p:spPr>
        <p:txBody>
          <a:bodyPr/>
          <a:lstStyle/>
          <a:p>
            <a:pPr eaLnBrk="1" hangingPunct="1">
              <a:tabLst>
                <a:tab pos="2054225" algn="l"/>
              </a:tabLst>
            </a:pPr>
            <a:r>
              <a:rPr lang="en-US" sz="1800" i="1" dirty="0"/>
              <a:t>R = (A, B, C)</a:t>
            </a:r>
            <a:br>
              <a:rPr lang="en-US" sz="1800" i="1" dirty="0"/>
            </a:br>
            <a:r>
              <a:rPr lang="en-US" sz="1800" i="1" dirty="0"/>
              <a:t>F = {A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B, B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C)</a:t>
            </a:r>
          </a:p>
          <a:p>
            <a:pPr lvl="1" eaLnBrk="1" hangingPunct="1"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Can be decomposed in two different ways</a:t>
            </a:r>
          </a:p>
          <a:p>
            <a:pPr eaLnBrk="1" hangingPunct="1">
              <a:tabLst>
                <a:tab pos="20542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</a:t>
            </a:r>
            <a:r>
              <a:rPr lang="en-US" sz="1800" i="1" dirty="0">
                <a:sym typeface="Monotype Sorts" pitchFamily="2" charset="2"/>
              </a:rPr>
              <a:t> = (A, B),   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i="1" dirty="0">
                <a:sym typeface="Monotype Sorts" pitchFamily="2" charset="2"/>
              </a:rPr>
              <a:t> = (B, C)</a:t>
            </a:r>
          </a:p>
          <a:p>
            <a:pPr lvl="1" eaLnBrk="1" hangingPunct="1"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Lossless-join decomposition:</a:t>
            </a:r>
          </a:p>
          <a:p>
            <a:pPr lvl="1" eaLnBrk="1" hangingPunct="1">
              <a:buFont typeface="Monotype Sorts" pitchFamily="2" charset="2"/>
              <a:buNone/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		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  </a:t>
            </a:r>
            <a:r>
              <a:rPr lang="en-US" sz="1800" dirty="0">
                <a:sym typeface="Symbol" panose="05050102010706020507" pitchFamily="18" charset="2"/>
              </a:rPr>
              <a:t>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i="1" dirty="0">
                <a:sym typeface="Monotype Sorts" pitchFamily="2" charset="2"/>
              </a:rPr>
              <a:t> = </a:t>
            </a:r>
            <a:r>
              <a:rPr lang="en-US" sz="1800" dirty="0">
                <a:sym typeface="Monotype Sorts" pitchFamily="2" charset="2"/>
              </a:rPr>
              <a:t>{</a:t>
            </a:r>
            <a:r>
              <a:rPr lang="en-US" sz="1800" i="1" dirty="0">
                <a:sym typeface="Monotype Sorts" pitchFamily="2" charset="2"/>
              </a:rPr>
              <a:t>B</a:t>
            </a:r>
            <a:r>
              <a:rPr lang="en-US" sz="1800" dirty="0">
                <a:sym typeface="Monotype Sorts" pitchFamily="2" charset="2"/>
              </a:rPr>
              <a:t>}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dirty="0">
                <a:sym typeface="Monotype Sorts" pitchFamily="2" charset="2"/>
              </a:rPr>
              <a:t>and </a:t>
            </a:r>
            <a:r>
              <a:rPr lang="en-US" sz="1800" i="1" dirty="0">
                <a:sym typeface="Monotype Sorts" pitchFamily="2" charset="2"/>
              </a:rPr>
              <a:t>B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BC</a:t>
            </a:r>
          </a:p>
          <a:p>
            <a:pPr lvl="1" eaLnBrk="1" hangingPunct="1">
              <a:buFont typeface="Monotype Sorts" pitchFamily="2" charset="2"/>
              <a:buNone/>
              <a:tabLst>
                <a:tab pos="2054225" algn="l"/>
              </a:tabLst>
            </a:pPr>
            <a:endParaRPr lang="en-US" sz="1800" dirty="0">
              <a:sym typeface="Monotype Sorts" pitchFamily="2" charset="2"/>
            </a:endParaRPr>
          </a:p>
          <a:p>
            <a:pPr eaLnBrk="1" hangingPunct="1">
              <a:tabLst>
                <a:tab pos="20542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i="1" baseline="-25000" dirty="0">
                <a:sym typeface="Monotype Sorts" pitchFamily="2" charset="2"/>
              </a:rPr>
              <a:t>1 </a:t>
            </a:r>
            <a:r>
              <a:rPr lang="en-US" sz="1800" i="1" dirty="0">
                <a:sym typeface="Monotype Sorts" pitchFamily="2" charset="2"/>
              </a:rPr>
              <a:t>= (A, B),   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i="1" dirty="0">
                <a:sym typeface="Monotype Sorts" pitchFamily="2" charset="2"/>
              </a:rPr>
              <a:t> = (A, C)</a:t>
            </a:r>
          </a:p>
          <a:p>
            <a:pPr lvl="1" eaLnBrk="1" hangingPunct="1"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Lossless-join decomposition:</a:t>
            </a:r>
          </a:p>
          <a:p>
            <a:pPr lvl="1" eaLnBrk="1" hangingPunct="1">
              <a:buFont typeface="Monotype Sorts" pitchFamily="2" charset="2"/>
              <a:buNone/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		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  </a:t>
            </a:r>
            <a:r>
              <a:rPr lang="en-US" sz="1800" dirty="0">
                <a:sym typeface="Symbol" panose="05050102010706020507" pitchFamily="18" charset="2"/>
              </a:rPr>
              <a:t>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i="1" dirty="0">
                <a:sym typeface="Monotype Sorts" pitchFamily="2" charset="2"/>
              </a:rPr>
              <a:t> =</a:t>
            </a:r>
            <a:r>
              <a:rPr lang="en-US" sz="1800" dirty="0">
                <a:sym typeface="Monotype Sorts" pitchFamily="2" charset="2"/>
              </a:rPr>
              <a:t> {</a:t>
            </a:r>
            <a:r>
              <a:rPr lang="en-US" sz="1800" i="1" dirty="0">
                <a:sym typeface="Monotype Sorts" pitchFamily="2" charset="2"/>
              </a:rPr>
              <a:t>A</a:t>
            </a:r>
            <a:r>
              <a:rPr lang="en-US" sz="1800" dirty="0">
                <a:sym typeface="Monotype Sorts" pitchFamily="2" charset="2"/>
              </a:rPr>
              <a:t>}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dirty="0">
                <a:sym typeface="Monotype Sorts" pitchFamily="2" charset="2"/>
              </a:rPr>
              <a:t>and </a:t>
            </a:r>
            <a:r>
              <a:rPr lang="en-US" sz="1800" i="1" dirty="0">
                <a:sym typeface="Monotype Sorts" pitchFamily="2" charset="2"/>
              </a:rPr>
              <a:t>A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A</a:t>
            </a:r>
            <a:r>
              <a:rPr lang="en-US" sz="1800" i="1" dirty="0">
                <a:sym typeface="Monotype Sorts" pitchFamily="2" charset="2"/>
              </a:rPr>
              <a:t>B</a:t>
            </a:r>
          </a:p>
          <a:p>
            <a:pPr lvl="1" eaLnBrk="1" hangingPunct="1">
              <a:tabLst>
                <a:tab pos="2054225" algn="l"/>
              </a:tabLst>
            </a:pPr>
            <a:r>
              <a:rPr lang="en-US" sz="1800" dirty="0">
                <a:sym typeface="Monotype Sorts" pitchFamily="2" charset="2"/>
              </a:rPr>
              <a:t>Not dependency preserving </a:t>
            </a:r>
            <a:br>
              <a:rPr lang="en-US" sz="1800" dirty="0">
                <a:sym typeface="Monotype Sorts" pitchFamily="2" charset="2"/>
              </a:rPr>
            </a:br>
            <a:r>
              <a:rPr lang="en-US" sz="1800" dirty="0">
                <a:sym typeface="Monotype Sorts" pitchFamily="2" charset="2"/>
              </a:rPr>
              <a:t>(cannot check </a:t>
            </a:r>
            <a:r>
              <a:rPr lang="en-US" sz="1800" i="1" dirty="0">
                <a:sym typeface="Monotype Sorts" pitchFamily="2" charset="2"/>
              </a:rPr>
              <a:t>B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C </a:t>
            </a:r>
            <a:r>
              <a:rPr lang="en-US" sz="1800" dirty="0">
                <a:sym typeface="Monotype Sorts" pitchFamily="2" charset="2"/>
              </a:rPr>
              <a:t>without computing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i="1" baseline="-25000" dirty="0">
                <a:sym typeface="Monotype Sorts" pitchFamily="2" charset="2"/>
              </a:rPr>
              <a:t>1 </a:t>
            </a:r>
            <a:r>
              <a:rPr lang="en-US" sz="1800" dirty="0">
                <a:sym typeface="Monotype Sorts" pitchFamily="2" charset="2"/>
              </a:rPr>
              <a:t>   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dirty="0">
                <a:sym typeface="Monotype Sorts" pitchFamily="2" charset="2"/>
              </a:rPr>
              <a:t>)</a:t>
            </a:r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938" y="5222875"/>
            <a:ext cx="2349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E5BDCFF-208B-45D1-AD76-655EB5967B4A}" type="slidenum">
              <a:rPr lang="en-US" smtClean="0">
                <a:solidFill>
                  <a:srgbClr val="7B9899"/>
                </a:solidFill>
              </a:rPr>
              <a:pPr/>
              <a:t>39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5302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C648B4-EE11-4B04-985F-A4CE400AFCB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uiExpand="1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88988" y="290513"/>
            <a:ext cx="7710487" cy="6731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Dependency Preservation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38749" y="1452876"/>
            <a:ext cx="8170863" cy="4083764"/>
          </a:xfrm>
        </p:spPr>
        <p:txBody>
          <a:bodyPr/>
          <a:lstStyle/>
          <a:p>
            <a:pPr eaLnBrk="1" hangingPunct="1"/>
            <a:r>
              <a:rPr lang="en-US" sz="2400" dirty="0"/>
              <a:t> Let </a:t>
            </a:r>
            <a:r>
              <a:rPr lang="en-US" sz="2400" i="1" dirty="0"/>
              <a:t>F</a:t>
            </a:r>
            <a:r>
              <a:rPr lang="en-US" sz="2400" i="1" baseline="-25000" dirty="0"/>
              <a:t>i</a:t>
            </a:r>
            <a:r>
              <a:rPr lang="en-US" sz="2400" i="1" dirty="0"/>
              <a:t> </a:t>
            </a:r>
            <a:r>
              <a:rPr lang="en-US" sz="2400" dirty="0"/>
              <a:t>be the set of dependencies </a:t>
            </a:r>
            <a:r>
              <a:rPr lang="en-US" sz="2400" i="1" dirty="0"/>
              <a:t>F </a:t>
            </a:r>
            <a:r>
              <a:rPr lang="en-US" sz="2800" i="1" baseline="30000" dirty="0"/>
              <a:t>+</a:t>
            </a:r>
            <a:r>
              <a:rPr lang="en-US" sz="2400" dirty="0"/>
              <a:t> that include only attributes in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endParaRPr lang="en-US" sz="2400" i="1" dirty="0"/>
          </a:p>
          <a:p>
            <a:pPr lvl="2" eaLnBrk="1" hangingPunct="1"/>
            <a:r>
              <a:rPr lang="en-US" sz="2400" dirty="0"/>
              <a:t> A  decomposition is  </a:t>
            </a:r>
            <a:r>
              <a:rPr lang="en-US" sz="2400" dirty="0">
                <a:solidFill>
                  <a:schemeClr val="tx2"/>
                </a:solidFill>
              </a:rPr>
              <a:t>dependency preserving</a:t>
            </a:r>
            <a:r>
              <a:rPr lang="en-US" sz="2400" dirty="0"/>
              <a:t>,  if</a:t>
            </a:r>
          </a:p>
          <a:p>
            <a:pPr lvl="2" eaLnBrk="1" hangingPunct="1">
              <a:buFont typeface="Webdings" panose="05030102010509060703" pitchFamily="18" charset="2"/>
              <a:buNone/>
            </a:pPr>
            <a:r>
              <a:rPr lang="en-US" sz="2400" dirty="0"/>
              <a:t>         (</a:t>
            </a:r>
            <a:r>
              <a:rPr lang="en-US" sz="2400" i="1" dirty="0"/>
              <a:t>F</a:t>
            </a:r>
            <a:r>
              <a:rPr lang="en-US" sz="2400" baseline="-25000" dirty="0"/>
              <a:t>1</a:t>
            </a:r>
            <a:r>
              <a:rPr lang="en-US" sz="2400" i="1" dirty="0"/>
              <a:t> </a:t>
            </a:r>
            <a:r>
              <a:rPr lang="en-US" sz="2400" dirty="0">
                <a:sym typeface="Symbol" panose="05050102010706020507" pitchFamily="18" charset="2"/>
              </a:rPr>
              <a:t></a:t>
            </a:r>
            <a:r>
              <a:rPr lang="en-US" sz="2400" i="1" dirty="0">
                <a:sym typeface="Symbol" panose="05050102010706020507" pitchFamily="18" charset="2"/>
              </a:rPr>
              <a:t> F</a:t>
            </a:r>
            <a:r>
              <a:rPr lang="en-US" sz="2400" baseline="-25000" dirty="0">
                <a:sym typeface="Symbol" panose="05050102010706020507" pitchFamily="18" charset="2"/>
              </a:rPr>
              <a:t>2 </a:t>
            </a:r>
            <a:r>
              <a:rPr lang="en-US" sz="2400" dirty="0">
                <a:sym typeface="Symbol" panose="05050102010706020507" pitchFamily="18" charset="2"/>
              </a:rPr>
              <a:t></a:t>
            </a:r>
            <a:r>
              <a:rPr lang="en-US" sz="2400" i="1" dirty="0">
                <a:sym typeface="Symbol" panose="05050102010706020507" pitchFamily="18" charset="2"/>
              </a:rPr>
              <a:t> …</a:t>
            </a:r>
            <a:r>
              <a:rPr lang="en-US" sz="2400" dirty="0">
                <a:sym typeface="Symbol" panose="05050102010706020507" pitchFamily="18" charset="2"/>
              </a:rPr>
              <a:t> </a:t>
            </a:r>
            <a:r>
              <a:rPr lang="en-US" sz="2400" i="1" dirty="0">
                <a:sym typeface="Symbol" panose="05050102010706020507" pitchFamily="18" charset="2"/>
              </a:rPr>
              <a:t> </a:t>
            </a:r>
            <a:r>
              <a:rPr lang="en-US" sz="2400" i="1" dirty="0" err="1">
                <a:sym typeface="Symbol" panose="05050102010706020507" pitchFamily="18" charset="2"/>
              </a:rPr>
              <a:t>F</a:t>
            </a:r>
            <a:r>
              <a:rPr 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sz="2400" baseline="-25000" dirty="0">
                <a:sym typeface="Symbol" panose="05050102010706020507" pitchFamily="18" charset="2"/>
              </a:rPr>
              <a:t> 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r>
              <a:rPr lang="en-US" sz="2800" baseline="30000" dirty="0">
                <a:sym typeface="Symbol" panose="05050102010706020507" pitchFamily="18" charset="2"/>
              </a:rPr>
              <a:t>+</a:t>
            </a:r>
            <a:r>
              <a:rPr lang="en-US" sz="2400" dirty="0">
                <a:sym typeface="Symbol" panose="05050102010706020507" pitchFamily="18" charset="2"/>
              </a:rPr>
              <a:t> = </a:t>
            </a:r>
            <a:r>
              <a:rPr lang="en-US" sz="2400" i="1" dirty="0">
                <a:sym typeface="Symbol" panose="05050102010706020507" pitchFamily="18" charset="2"/>
              </a:rPr>
              <a:t>F </a:t>
            </a:r>
            <a:r>
              <a:rPr lang="en-US" sz="2800" i="1" baseline="30000" dirty="0">
                <a:sym typeface="Symbol" panose="05050102010706020507" pitchFamily="18" charset="2"/>
              </a:rPr>
              <a:t>+</a:t>
            </a:r>
          </a:p>
          <a:p>
            <a:pPr lvl="2" eaLnBrk="1" hangingPunct="1"/>
            <a:r>
              <a:rPr lang="en-US" sz="2400" dirty="0"/>
              <a:t>If it is not, then checking updates for violation of functional dependencies</a:t>
            </a:r>
          </a:p>
          <a:p>
            <a:pPr lvl="2" eaLnBrk="1" hangingPunct="1"/>
            <a:r>
              <a:rPr lang="en-US" sz="2400" dirty="0"/>
              <a:t>require computing joins, which is expensive.</a:t>
            </a: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D9BE62D-7294-4F3B-A24D-29444DEBE5FD}" type="slidenum">
              <a:rPr lang="en-US" smtClean="0">
                <a:solidFill>
                  <a:srgbClr val="7B9899"/>
                </a:solidFill>
              </a:rPr>
              <a:pPr/>
              <a:t>40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63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38D0AC-565C-4A90-9237-16BF1300FEC0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03263" y="336550"/>
            <a:ext cx="8077200" cy="609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accent3">
                    <a:shade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Dependency Preservation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7663" y="1524000"/>
            <a:ext cx="8375650" cy="4703763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>
                <a:sym typeface="Symbol" panose="05050102010706020507" pitchFamily="18" charset="2"/>
              </a:rPr>
              <a:t>To check if a dependency    is preserved in a decomposition of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into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400" baseline="-25000" dirty="0">
                <a:sym typeface="Symbol" panose="05050102010706020507" pitchFamily="18" charset="2"/>
              </a:rPr>
              <a:t>1</a:t>
            </a:r>
            <a:r>
              <a:rPr lang="en-US" sz="2000" dirty="0">
                <a:sym typeface="Symbol" panose="05050102010706020507" pitchFamily="18" charset="2"/>
              </a:rPr>
              <a:t>,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400" baseline="-25000" dirty="0">
                <a:sym typeface="Symbol" panose="05050102010706020507" pitchFamily="18" charset="2"/>
              </a:rPr>
              <a:t>2</a:t>
            </a:r>
            <a:r>
              <a:rPr lang="en-US" sz="2000" dirty="0">
                <a:sym typeface="Symbol" panose="05050102010706020507" pitchFamily="18" charset="2"/>
              </a:rPr>
              <a:t>, …, </a:t>
            </a:r>
            <a:r>
              <a:rPr lang="en-US" sz="2000" i="1" dirty="0" err="1">
                <a:sym typeface="Symbol" panose="05050102010706020507" pitchFamily="18" charset="2"/>
              </a:rPr>
              <a:t>R</a:t>
            </a:r>
            <a:r>
              <a:rPr 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sz="2000" dirty="0">
                <a:sym typeface="Symbol" panose="05050102010706020507" pitchFamily="18" charset="2"/>
              </a:rPr>
              <a:t> we apply the following test </a:t>
            </a:r>
          </a:p>
          <a:p>
            <a:pPr eaLnBrk="1" hangingPunct="1">
              <a:defRPr/>
            </a:pPr>
            <a:endParaRPr lang="en-US" sz="2000" dirty="0">
              <a:sym typeface="Symbol" panose="05050102010706020507" pitchFamily="18" charset="2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sz="2000" i="1" dirty="0"/>
              <a:t>           result </a:t>
            </a:r>
            <a:r>
              <a:rPr lang="en-US" sz="2000" dirty="0"/>
              <a:t>=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br>
              <a:rPr lang="en-US" sz="2000" dirty="0">
                <a:sym typeface="Symbol" panose="05050102010706020507" pitchFamily="18" charset="2"/>
              </a:rPr>
            </a:br>
            <a:r>
              <a:rPr lang="en-US" sz="2000" dirty="0">
                <a:sym typeface="Symbol" panose="05050102010706020507" pitchFamily="18" charset="2"/>
              </a:rPr>
              <a:t>       </a:t>
            </a:r>
            <a:r>
              <a:rPr lang="en-US" sz="2000" b="1" dirty="0">
                <a:sym typeface="Symbol" panose="05050102010706020507" pitchFamily="18" charset="2"/>
              </a:rPr>
              <a:t>while</a:t>
            </a:r>
            <a:r>
              <a:rPr lang="en-US" sz="2000" dirty="0">
                <a:sym typeface="Symbol" panose="05050102010706020507" pitchFamily="18" charset="2"/>
              </a:rPr>
              <a:t> (changes to </a:t>
            </a:r>
            <a:r>
              <a:rPr lang="en-US" sz="2000" i="1" dirty="0">
                <a:sym typeface="Symbol" panose="05050102010706020507" pitchFamily="18" charset="2"/>
              </a:rPr>
              <a:t>result</a:t>
            </a:r>
            <a:r>
              <a:rPr lang="en-US" sz="2000" dirty="0">
                <a:sym typeface="Symbol" panose="05050102010706020507" pitchFamily="18" charset="2"/>
              </a:rPr>
              <a:t>) do</a:t>
            </a:r>
            <a:br>
              <a:rPr lang="en-US" sz="2000" dirty="0">
                <a:sym typeface="Symbol" panose="05050102010706020507" pitchFamily="18" charset="2"/>
              </a:rPr>
            </a:br>
            <a:r>
              <a:rPr lang="en-US" sz="2000" dirty="0">
                <a:sym typeface="Symbol" panose="05050102010706020507" pitchFamily="18" charset="2"/>
              </a:rPr>
              <a:t>	</a:t>
            </a:r>
            <a:r>
              <a:rPr lang="en-US" sz="2000" b="1" dirty="0">
                <a:sym typeface="Symbol" panose="05050102010706020507" pitchFamily="18" charset="2"/>
              </a:rPr>
              <a:t>for each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en-US" sz="2000" i="1" dirty="0" err="1">
                <a:sym typeface="Symbol" panose="05050102010706020507" pitchFamily="18" charset="2"/>
              </a:rPr>
              <a:t>R</a:t>
            </a:r>
            <a:r>
              <a:rPr lang="en-US" sz="2000" i="1" baseline="-25000" dirty="0" err="1">
                <a:sym typeface="Symbol" panose="05050102010706020507" pitchFamily="18" charset="2"/>
              </a:rPr>
              <a:t>i</a:t>
            </a:r>
            <a:r>
              <a:rPr lang="en-US" sz="2000" i="1" dirty="0"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in the decomposition</a:t>
            </a:r>
            <a:br>
              <a:rPr lang="en-US" sz="2000" dirty="0">
                <a:sym typeface="Symbol" panose="05050102010706020507" pitchFamily="18" charset="2"/>
              </a:rPr>
            </a:b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  <a:r>
              <a:rPr lang="en-US" sz="2000" dirty="0">
                <a:sym typeface="Symbol" panose="05050102010706020507" pitchFamily="18" charset="2"/>
              </a:rPr>
              <a:t> = (</a:t>
            </a:r>
            <a:r>
              <a:rPr lang="en-US" sz="2000" i="1" dirty="0">
                <a:sym typeface="Symbol" panose="05050102010706020507" pitchFamily="18" charset="2"/>
              </a:rPr>
              <a:t>result </a:t>
            </a:r>
            <a:r>
              <a:rPr lang="en-US" sz="2000" dirty="0">
                <a:sym typeface="Symbol" panose="05050102010706020507" pitchFamily="18" charset="2"/>
              </a:rPr>
              <a:t> </a:t>
            </a:r>
            <a:r>
              <a:rPr lang="en-US" sz="2000" i="1" dirty="0" err="1">
                <a:sym typeface="Symbol" panose="05050102010706020507" pitchFamily="18" charset="2"/>
              </a:rPr>
              <a:t>R</a:t>
            </a:r>
            <a:r>
              <a:rPr lang="en-US" sz="2000" i="1" baseline="-25000" dirty="0" err="1">
                <a:sym typeface="Symbol" panose="05050102010706020507" pitchFamily="18" charset="2"/>
              </a:rPr>
              <a:t>i</a:t>
            </a:r>
            <a:r>
              <a:rPr lang="en-US" sz="2000" dirty="0">
                <a:sym typeface="Symbol" panose="05050102010706020507" pitchFamily="18" charset="2"/>
              </a:rPr>
              <a:t>)</a:t>
            </a:r>
            <a:r>
              <a:rPr lang="en-US" sz="2000" baseline="30000" dirty="0">
                <a:sym typeface="Symbol" panose="05050102010706020507" pitchFamily="18" charset="2"/>
              </a:rPr>
              <a:t>+ </a:t>
            </a:r>
            <a:r>
              <a:rPr lang="en-US" sz="2000" dirty="0">
                <a:sym typeface="Symbol" panose="05050102010706020507" pitchFamily="18" charset="2"/>
              </a:rPr>
              <a:t> </a:t>
            </a:r>
            <a:r>
              <a:rPr lang="en-US" sz="2000" i="1" dirty="0" err="1">
                <a:sym typeface="Symbol" panose="05050102010706020507" pitchFamily="18" charset="2"/>
              </a:rPr>
              <a:t>R</a:t>
            </a:r>
            <a:r>
              <a:rPr lang="en-US" sz="2000" i="1" baseline="-25000" dirty="0" err="1">
                <a:sym typeface="Symbol" panose="05050102010706020507" pitchFamily="18" charset="2"/>
              </a:rPr>
              <a:t>i</a:t>
            </a:r>
            <a:r>
              <a:rPr lang="en-US" sz="2000" i="1" baseline="-25000" dirty="0">
                <a:sym typeface="Symbol" panose="05050102010706020507" pitchFamily="18" charset="2"/>
              </a:rPr>
              <a:t/>
            </a:r>
            <a:br>
              <a:rPr lang="en-US" sz="2000" i="1" baseline="-25000" dirty="0">
                <a:sym typeface="Symbol" panose="05050102010706020507" pitchFamily="18" charset="2"/>
              </a:rPr>
            </a:br>
            <a:r>
              <a:rPr lang="en-US" sz="2000" i="1" baseline="-25000" dirty="0">
                <a:sym typeface="Symbol" panose="05050102010706020507" pitchFamily="18" charset="2"/>
              </a:rPr>
              <a:t>		</a:t>
            </a:r>
            <a:r>
              <a:rPr lang="en-US" sz="2000" i="1" dirty="0">
                <a:sym typeface="Symbol" panose="05050102010706020507" pitchFamily="18" charset="2"/>
              </a:rPr>
              <a:t>result  =  result  </a:t>
            </a:r>
            <a:r>
              <a:rPr lang="en-US" sz="2000" dirty="0">
                <a:sym typeface="Symbol" panose="05050102010706020507" pitchFamily="18" charset="2"/>
              </a:rPr>
              <a:t> </a:t>
            </a:r>
            <a:r>
              <a:rPr lang="en-US" sz="2000" i="1" dirty="0">
                <a:sym typeface="Symbol" panose="05050102010706020507" pitchFamily="18" charset="2"/>
              </a:rPr>
              <a:t>t</a:t>
            </a:r>
          </a:p>
          <a:p>
            <a:pPr eaLnBrk="1" hangingPunct="1">
              <a:defRPr/>
            </a:pPr>
            <a:endParaRPr lang="en-US" sz="2000" dirty="0">
              <a:sym typeface="Symbol" panose="05050102010706020507" pitchFamily="18" charset="2"/>
            </a:endParaRPr>
          </a:p>
          <a:p>
            <a:pPr eaLnBrk="1" hangingPunct="1">
              <a:defRPr/>
            </a:pPr>
            <a:r>
              <a:rPr lang="en-US" sz="2000" dirty="0">
                <a:sym typeface="Symbol" panose="05050102010706020507" pitchFamily="18" charset="2"/>
              </a:rPr>
              <a:t>If </a:t>
            </a:r>
            <a:r>
              <a:rPr lang="en-US" sz="2000" i="1" dirty="0">
                <a:sym typeface="Symbol" panose="05050102010706020507" pitchFamily="18" charset="2"/>
              </a:rPr>
              <a:t>result</a:t>
            </a:r>
            <a:r>
              <a:rPr lang="en-US" sz="2000" dirty="0">
                <a:sym typeface="Symbol" panose="05050102010706020507" pitchFamily="18" charset="2"/>
              </a:rPr>
              <a:t> contains all attributes in , then the functional dependency     is preserved.</a:t>
            </a:r>
          </a:p>
          <a:p>
            <a:pPr eaLnBrk="1" hangingPunct="1">
              <a:defRPr/>
            </a:pPr>
            <a:r>
              <a:rPr lang="en-US" sz="2000" dirty="0">
                <a:sym typeface="Symbol" panose="05050102010706020507" pitchFamily="18" charset="2"/>
              </a:rPr>
              <a:t>We apply the test on all dependencies in </a:t>
            </a:r>
            <a:r>
              <a:rPr lang="en-US" sz="2000" i="1" dirty="0">
                <a:sym typeface="Symbol" panose="05050102010706020507" pitchFamily="18" charset="2"/>
              </a:rPr>
              <a:t>F</a:t>
            </a:r>
            <a:r>
              <a:rPr lang="en-US" sz="2000" dirty="0">
                <a:sym typeface="Symbol" panose="05050102010706020507" pitchFamily="18" charset="2"/>
              </a:rPr>
              <a:t>  to check if a decomposition is dependency preserving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1773A7C-A607-4889-9114-41D5D58DD657}" type="slidenum">
              <a:rPr lang="en-US" smtClean="0">
                <a:solidFill>
                  <a:srgbClr val="7B9899"/>
                </a:solidFill>
              </a:rPr>
              <a:pPr/>
              <a:t>41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154211-0DFB-4E1B-9B5C-459BC04F66F1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349250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0525" y="1755775"/>
            <a:ext cx="7848600" cy="3498850"/>
          </a:xfrm>
        </p:spPr>
        <p:txBody>
          <a:bodyPr/>
          <a:lstStyle/>
          <a:p>
            <a:pPr eaLnBrk="1" hangingPunct="1">
              <a:tabLst>
                <a:tab pos="744538" algn="l"/>
              </a:tabLst>
            </a:pPr>
            <a:r>
              <a:rPr lang="en-US" sz="1800" i="1"/>
              <a:t>R = </a:t>
            </a:r>
            <a:r>
              <a:rPr lang="en-US" sz="1800"/>
              <a:t>(</a:t>
            </a:r>
            <a:r>
              <a:rPr lang="en-US" sz="1800" i="1"/>
              <a:t>A, B, C </a:t>
            </a:r>
            <a:r>
              <a:rPr lang="en-US" sz="1800"/>
              <a:t>)</a:t>
            </a:r>
            <a:r>
              <a:rPr lang="en-US" sz="1800" i="1"/>
              <a:t/>
            </a:r>
            <a:br>
              <a:rPr lang="en-US" sz="1800" i="1"/>
            </a:br>
            <a:r>
              <a:rPr lang="en-US" sz="1800" i="1"/>
              <a:t>F = </a:t>
            </a:r>
            <a:r>
              <a:rPr lang="en-US" sz="1800"/>
              <a:t>{</a:t>
            </a:r>
            <a:r>
              <a:rPr lang="en-US" sz="1800" i="1"/>
              <a:t>A</a:t>
            </a:r>
            <a:r>
              <a:rPr lang="en-US" sz="1800"/>
              <a:t> </a:t>
            </a:r>
            <a:r>
              <a:rPr lang="en-US" sz="1800">
                <a:sym typeface="Symbol" panose="05050102010706020507" pitchFamily="18" charset="2"/>
              </a:rPr>
              <a:t></a:t>
            </a:r>
            <a:r>
              <a:rPr lang="en-US" sz="1800">
                <a:sym typeface="Monotype Sorts" pitchFamily="2" charset="2"/>
              </a:rPr>
              <a:t> </a:t>
            </a:r>
            <a:r>
              <a:rPr lang="en-US" sz="1800" i="1">
                <a:sym typeface="Monotype Sorts" pitchFamily="2" charset="2"/>
              </a:rPr>
              <a:t>B</a:t>
            </a:r>
            <a:br>
              <a:rPr lang="en-US" sz="1800" i="1">
                <a:sym typeface="Monotype Sorts" pitchFamily="2" charset="2"/>
              </a:rPr>
            </a:br>
            <a:r>
              <a:rPr lang="en-US" sz="1800" i="1">
                <a:sym typeface="Monotype Sorts" pitchFamily="2" charset="2"/>
              </a:rPr>
              <a:t>	 B </a:t>
            </a:r>
            <a:r>
              <a:rPr lang="en-US" sz="1800">
                <a:sym typeface="Symbol" panose="05050102010706020507" pitchFamily="18" charset="2"/>
              </a:rPr>
              <a:t></a:t>
            </a:r>
            <a:r>
              <a:rPr lang="en-US" sz="1800" i="1">
                <a:sym typeface="Monotype Sorts" pitchFamily="2" charset="2"/>
              </a:rPr>
              <a:t> C</a:t>
            </a:r>
            <a:r>
              <a:rPr lang="en-US" sz="1800">
                <a:sym typeface="Monotype Sorts" pitchFamily="2" charset="2"/>
              </a:rPr>
              <a:t>}</a:t>
            </a:r>
            <a:br>
              <a:rPr lang="en-US" sz="1800">
                <a:sym typeface="Monotype Sorts" pitchFamily="2" charset="2"/>
              </a:rPr>
            </a:br>
            <a:r>
              <a:rPr lang="en-US" sz="1800">
                <a:sym typeface="Monotype Sorts" pitchFamily="2" charset="2"/>
              </a:rPr>
              <a:t>Key = {</a:t>
            </a:r>
            <a:r>
              <a:rPr lang="en-US" sz="1800" i="1">
                <a:sym typeface="Monotype Sorts" pitchFamily="2" charset="2"/>
              </a:rPr>
              <a:t>A</a:t>
            </a:r>
            <a:r>
              <a:rPr lang="en-US" sz="1800">
                <a:sym typeface="Monotype Sorts" pitchFamily="2" charset="2"/>
              </a:rPr>
              <a:t>}</a:t>
            </a:r>
          </a:p>
          <a:p>
            <a:pPr eaLnBrk="1" hangingPunct="1">
              <a:tabLst>
                <a:tab pos="744538" algn="l"/>
              </a:tabLst>
            </a:pPr>
            <a:r>
              <a:rPr lang="en-US" sz="1800" i="1">
                <a:sym typeface="Monotype Sorts" pitchFamily="2" charset="2"/>
              </a:rPr>
              <a:t>R</a:t>
            </a:r>
            <a:r>
              <a:rPr lang="en-US" sz="1800">
                <a:sym typeface="Monotype Sorts" pitchFamily="2" charset="2"/>
              </a:rPr>
              <a:t> is not in BCNF</a:t>
            </a:r>
          </a:p>
          <a:p>
            <a:pPr eaLnBrk="1" hangingPunct="1">
              <a:tabLst>
                <a:tab pos="744538" algn="l"/>
              </a:tabLst>
            </a:pPr>
            <a:r>
              <a:rPr lang="en-US" sz="1800">
                <a:sym typeface="Monotype Sorts" pitchFamily="2" charset="2"/>
              </a:rPr>
              <a:t>Decomposition </a:t>
            </a:r>
            <a:r>
              <a:rPr lang="en-US" sz="1800" i="1">
                <a:sym typeface="Monotype Sorts" pitchFamily="2" charset="2"/>
              </a:rPr>
              <a:t>R</a:t>
            </a:r>
            <a:r>
              <a:rPr lang="en-US" sz="1800" baseline="-25000">
                <a:sym typeface="Monotype Sorts" pitchFamily="2" charset="2"/>
              </a:rPr>
              <a:t>1</a:t>
            </a:r>
            <a:r>
              <a:rPr lang="en-US" sz="1800">
                <a:sym typeface="Monotype Sorts" pitchFamily="2" charset="2"/>
              </a:rPr>
              <a:t> = (</a:t>
            </a:r>
            <a:r>
              <a:rPr lang="en-US" sz="1800" i="1">
                <a:sym typeface="Monotype Sorts" pitchFamily="2" charset="2"/>
              </a:rPr>
              <a:t>A, B),  R</a:t>
            </a:r>
            <a:r>
              <a:rPr lang="en-US" sz="1800" baseline="-25000">
                <a:sym typeface="Monotype Sorts" pitchFamily="2" charset="2"/>
              </a:rPr>
              <a:t>2</a:t>
            </a:r>
            <a:r>
              <a:rPr lang="en-US" sz="1800">
                <a:sym typeface="Monotype Sorts" pitchFamily="2" charset="2"/>
              </a:rPr>
              <a:t> = </a:t>
            </a:r>
            <a:r>
              <a:rPr lang="en-US" sz="1800" i="1">
                <a:sym typeface="Monotype Sorts" pitchFamily="2" charset="2"/>
              </a:rPr>
              <a:t>(B, C)</a:t>
            </a:r>
          </a:p>
          <a:p>
            <a:pPr lvl="1" eaLnBrk="1" hangingPunct="1">
              <a:tabLst>
                <a:tab pos="744538" algn="l"/>
              </a:tabLst>
            </a:pPr>
            <a:r>
              <a:rPr lang="en-US" sz="1800" i="1">
                <a:sym typeface="Monotype Sorts" pitchFamily="2" charset="2"/>
              </a:rPr>
              <a:t>R</a:t>
            </a:r>
            <a:r>
              <a:rPr lang="en-US" sz="1800" baseline="-25000">
                <a:sym typeface="Monotype Sorts" pitchFamily="2" charset="2"/>
              </a:rPr>
              <a:t>1</a:t>
            </a:r>
            <a:r>
              <a:rPr lang="en-US" sz="1800" i="1" baseline="-25000">
                <a:sym typeface="Monotype Sorts" pitchFamily="2" charset="2"/>
              </a:rPr>
              <a:t> </a:t>
            </a:r>
            <a:r>
              <a:rPr lang="en-US" sz="1800">
                <a:sym typeface="Monotype Sorts" pitchFamily="2" charset="2"/>
              </a:rPr>
              <a:t>and </a:t>
            </a:r>
            <a:r>
              <a:rPr lang="en-US" sz="1800" i="1">
                <a:sym typeface="Monotype Sorts" pitchFamily="2" charset="2"/>
              </a:rPr>
              <a:t>R</a:t>
            </a:r>
            <a:r>
              <a:rPr lang="en-US" sz="1800" baseline="-25000">
                <a:sym typeface="Monotype Sorts" pitchFamily="2" charset="2"/>
              </a:rPr>
              <a:t>2</a:t>
            </a:r>
            <a:r>
              <a:rPr lang="en-US" sz="1800">
                <a:sym typeface="Monotype Sorts" pitchFamily="2" charset="2"/>
              </a:rPr>
              <a:t> in BCNF</a:t>
            </a:r>
          </a:p>
          <a:p>
            <a:pPr lvl="1" eaLnBrk="1" hangingPunct="1">
              <a:tabLst>
                <a:tab pos="744538" algn="l"/>
              </a:tabLst>
            </a:pPr>
            <a:r>
              <a:rPr lang="en-US" sz="1800">
                <a:sym typeface="Monotype Sorts" pitchFamily="2" charset="2"/>
              </a:rPr>
              <a:t>Lossless-join decomposition</a:t>
            </a:r>
          </a:p>
          <a:p>
            <a:pPr lvl="1" eaLnBrk="1" hangingPunct="1">
              <a:tabLst>
                <a:tab pos="744538" algn="l"/>
              </a:tabLst>
            </a:pPr>
            <a:r>
              <a:rPr lang="en-US" sz="1800">
                <a:sym typeface="Monotype Sorts" pitchFamily="2" charset="2"/>
              </a:rPr>
              <a:t>Dependency preserving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6541004-7204-42CF-A4B0-A1236C25F511}" type="slidenum">
              <a:rPr lang="en-US" smtClean="0">
                <a:solidFill>
                  <a:srgbClr val="7B9899"/>
                </a:solidFill>
              </a:rPr>
              <a:pPr/>
              <a:t>42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83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777D12-7C04-4B7B-BE99-A0D523C4139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93725" y="277813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BCNF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19732" y="1473793"/>
            <a:ext cx="8472575" cy="4511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To check if a non-trivial dependency </a:t>
            </a:r>
            <a:r>
              <a:rPr lang="en-US" sz="18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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1800" i="1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 </a:t>
            </a:r>
            <a:r>
              <a:rPr lang="en-US" sz="2000" dirty="0"/>
              <a:t>causes a violation of BCNF</a:t>
            </a:r>
          </a:p>
          <a:p>
            <a:pPr lvl="1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/>
              <a:t>1.  compute </a:t>
            </a:r>
            <a:r>
              <a:rPr lang="en-US" sz="1800" dirty="0">
                <a:sym typeface="Symbol" panose="05050102010706020507" pitchFamily="18" charset="2"/>
              </a:rPr>
              <a:t></a:t>
            </a:r>
            <a:r>
              <a:rPr lang="en-US" sz="2000" baseline="30000" dirty="0"/>
              <a:t>+</a:t>
            </a:r>
            <a:r>
              <a:rPr lang="en-US" sz="2000" dirty="0"/>
              <a:t> (the attribute closure of </a:t>
            </a:r>
            <a:r>
              <a:rPr lang="en-US" sz="1800" dirty="0">
                <a:sym typeface="Symbol" panose="05050102010706020507" pitchFamily="18" charset="2"/>
              </a:rPr>
              <a:t></a:t>
            </a:r>
            <a:r>
              <a:rPr lang="en-US" sz="2000" dirty="0"/>
              <a:t>), and </a:t>
            </a:r>
          </a:p>
          <a:p>
            <a:pPr marL="731838" lvl="1" indent="-457200" eaLnBrk="1" hangingPunct="1">
              <a:lnSpc>
                <a:spcPct val="90000"/>
              </a:lnSpc>
              <a:buFont typeface="Monotype Sorts" pitchFamily="2" charset="2"/>
              <a:buAutoNum type="arabicPeriod" startAt="2"/>
            </a:pPr>
            <a:r>
              <a:rPr lang="en-US" sz="2000" dirty="0"/>
              <a:t>verify that it includes all attributes of </a:t>
            </a:r>
            <a:r>
              <a:rPr lang="en-US" sz="2000" i="1" dirty="0"/>
              <a:t>R</a:t>
            </a:r>
            <a:r>
              <a:rPr lang="en-US" sz="2000" dirty="0"/>
              <a:t>, that is, it is a </a:t>
            </a:r>
            <a:r>
              <a:rPr lang="en-US" sz="2000" dirty="0" err="1"/>
              <a:t>superkey</a:t>
            </a:r>
            <a:r>
              <a:rPr lang="en-US" sz="2000" dirty="0"/>
              <a:t> of </a:t>
            </a:r>
            <a:r>
              <a:rPr lang="en-US" sz="2000" i="1" dirty="0"/>
              <a:t>R</a:t>
            </a:r>
            <a:r>
              <a:rPr lang="en-US" sz="2000" dirty="0"/>
              <a:t>.</a:t>
            </a:r>
          </a:p>
          <a:p>
            <a:pPr marL="731838" lvl="1" indent="-457200" eaLnBrk="1" hangingPunct="1">
              <a:lnSpc>
                <a:spcPct val="90000"/>
              </a:lnSpc>
              <a:buFont typeface="Monotype Sorts" pitchFamily="2" charset="2"/>
              <a:buAutoNum type="arabicPeriod" startAt="2"/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</a:rPr>
              <a:t>Simplified test</a:t>
            </a:r>
            <a:r>
              <a:rPr lang="en-US" sz="2000" dirty="0"/>
              <a:t>: To check if a relation schema </a:t>
            </a:r>
            <a:r>
              <a:rPr lang="en-US" sz="2000" i="1" dirty="0"/>
              <a:t>R</a:t>
            </a:r>
            <a:r>
              <a:rPr lang="en-US" sz="2000" dirty="0"/>
              <a:t> is in BCNF, </a:t>
            </a:r>
            <a:r>
              <a:rPr lang="en-US" sz="2000" dirty="0">
                <a:solidFill>
                  <a:srgbClr val="FF0000"/>
                </a:solidFill>
              </a:rPr>
              <a:t>it suffices to check only the dependencies in the given set </a:t>
            </a:r>
            <a:r>
              <a:rPr lang="en-US" sz="2000" i="1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 for violation of BCNF</a:t>
            </a:r>
            <a:r>
              <a:rPr lang="en-US" sz="2000" dirty="0"/>
              <a:t>, rather than checking all dependencies in </a:t>
            </a:r>
            <a:r>
              <a:rPr lang="en-US" sz="2000" i="1" dirty="0"/>
              <a:t>F</a:t>
            </a:r>
            <a:r>
              <a:rPr lang="en-US" sz="2000" baseline="30000" dirty="0"/>
              <a:t>+</a:t>
            </a:r>
            <a:r>
              <a:rPr lang="en-US" sz="2000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If none of the dependencies in </a:t>
            </a:r>
            <a:r>
              <a:rPr lang="en-US" sz="2000" i="1" dirty="0"/>
              <a:t>F</a:t>
            </a:r>
            <a:r>
              <a:rPr lang="en-US" sz="2000" dirty="0"/>
              <a:t> causes a violation of BCNF, then none of the dependencies in </a:t>
            </a:r>
            <a:r>
              <a:rPr lang="en-US" sz="2000" i="1" dirty="0"/>
              <a:t>F</a:t>
            </a:r>
            <a:r>
              <a:rPr lang="en-US" sz="2000" baseline="30000" dirty="0"/>
              <a:t>+</a:t>
            </a:r>
            <a:r>
              <a:rPr lang="en-US" sz="2000" dirty="0"/>
              <a:t> will cause a violation of BCNF either.</a:t>
            </a: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BA2A345-7710-4785-AACE-913E2522118B}" type="slidenum">
              <a:rPr lang="en-US" smtClean="0">
                <a:solidFill>
                  <a:srgbClr val="7B9899"/>
                </a:solidFill>
              </a:rPr>
              <a:pPr/>
              <a:t>43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5939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7D4C26-8E63-4E63-9ED1-722FB3E8A2B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uiExpand="1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BCNF Decomposition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00125" y="1690688"/>
            <a:ext cx="6338888" cy="2982912"/>
          </a:xfrm>
        </p:spPr>
        <p:txBody>
          <a:bodyPr/>
          <a:lstStyle/>
          <a:p>
            <a:pPr eaLnBrk="1" hangingPunct="1">
              <a:tabLst>
                <a:tab pos="744538" algn="l"/>
              </a:tabLst>
            </a:pPr>
            <a:r>
              <a:rPr lang="en-US" sz="1800" i="1" dirty="0"/>
              <a:t>R = </a:t>
            </a:r>
            <a:r>
              <a:rPr lang="en-US" sz="1800" dirty="0"/>
              <a:t>(</a:t>
            </a:r>
            <a:r>
              <a:rPr lang="en-US" sz="1800" i="1" dirty="0"/>
              <a:t>A, B, C </a:t>
            </a:r>
            <a:r>
              <a:rPr lang="en-US" sz="1800" dirty="0"/>
              <a:t>)</a:t>
            </a:r>
            <a:r>
              <a:rPr lang="en-US" sz="1800" i="1" dirty="0"/>
              <a:t/>
            </a:r>
            <a:br>
              <a:rPr lang="en-US" sz="1800" i="1" dirty="0"/>
            </a:br>
            <a:r>
              <a:rPr lang="en-US" sz="1800" i="1" dirty="0"/>
              <a:t>F = </a:t>
            </a:r>
            <a:r>
              <a:rPr lang="en-US" sz="1800" dirty="0"/>
              <a:t>{</a:t>
            </a:r>
            <a:r>
              <a:rPr lang="en-US" sz="1800" i="1" dirty="0"/>
              <a:t>A</a:t>
            </a:r>
            <a:r>
              <a:rPr lang="en-US" sz="1800" dirty="0"/>
              <a:t>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B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 B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i="1" dirty="0">
                <a:sym typeface="Monotype Sorts" pitchFamily="2" charset="2"/>
              </a:rPr>
              <a:t> C</a:t>
            </a:r>
            <a:r>
              <a:rPr lang="en-US" sz="1800" dirty="0">
                <a:sym typeface="Monotype Sorts" pitchFamily="2" charset="2"/>
              </a:rPr>
              <a:t>}</a:t>
            </a:r>
            <a:br>
              <a:rPr lang="en-US" sz="1800" dirty="0">
                <a:sym typeface="Monotype Sorts" pitchFamily="2" charset="2"/>
              </a:rPr>
            </a:br>
            <a:r>
              <a:rPr lang="en-US" sz="1800" dirty="0">
                <a:sym typeface="Monotype Sorts" pitchFamily="2" charset="2"/>
              </a:rPr>
              <a:t>Key = {</a:t>
            </a:r>
            <a:r>
              <a:rPr lang="en-US" sz="1800" i="1" dirty="0">
                <a:sym typeface="Monotype Sorts" pitchFamily="2" charset="2"/>
              </a:rPr>
              <a:t>A</a:t>
            </a:r>
            <a:r>
              <a:rPr lang="en-US" sz="1800" dirty="0">
                <a:sym typeface="Monotype Sorts" pitchFamily="2" charset="2"/>
              </a:rPr>
              <a:t>}</a:t>
            </a:r>
          </a:p>
          <a:p>
            <a:pPr eaLnBrk="1" hangingPunct="1">
              <a:tabLst>
                <a:tab pos="744538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dirty="0">
                <a:sym typeface="Monotype Sorts" pitchFamily="2" charset="2"/>
              </a:rPr>
              <a:t> is not in BCNF (</a:t>
            </a:r>
            <a:r>
              <a:rPr lang="en-US" sz="1800" i="1" dirty="0">
                <a:sym typeface="Monotype Sorts" pitchFamily="2" charset="2"/>
              </a:rPr>
              <a:t>B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i="1" dirty="0">
                <a:sym typeface="Monotype Sorts" pitchFamily="2" charset="2"/>
              </a:rPr>
              <a:t> C </a:t>
            </a:r>
            <a:r>
              <a:rPr lang="en-US" sz="1800" dirty="0">
                <a:sym typeface="Monotype Sorts" pitchFamily="2" charset="2"/>
              </a:rPr>
              <a:t>but</a:t>
            </a:r>
            <a:r>
              <a:rPr lang="en-US" sz="1800" i="1" dirty="0">
                <a:sym typeface="Monotype Sorts" pitchFamily="2" charset="2"/>
              </a:rPr>
              <a:t> B </a:t>
            </a:r>
            <a:r>
              <a:rPr lang="en-US" sz="1800" dirty="0">
                <a:sym typeface="Monotype Sorts" pitchFamily="2" charset="2"/>
              </a:rPr>
              <a:t>is not  </a:t>
            </a:r>
            <a:r>
              <a:rPr lang="en-US" sz="1800" dirty="0" err="1">
                <a:sym typeface="Monotype Sorts" pitchFamily="2" charset="2"/>
              </a:rPr>
              <a:t>superkey</a:t>
            </a:r>
            <a:r>
              <a:rPr lang="en-US" sz="1800" dirty="0">
                <a:sym typeface="Monotype Sorts" pitchFamily="2" charset="2"/>
              </a:rPr>
              <a:t>)</a:t>
            </a:r>
          </a:p>
          <a:p>
            <a:pPr eaLnBrk="1" hangingPunct="1">
              <a:tabLst>
                <a:tab pos="744538" algn="l"/>
              </a:tabLst>
            </a:pPr>
            <a:r>
              <a:rPr lang="en-US" sz="1800" dirty="0">
                <a:sym typeface="Monotype Sorts" pitchFamily="2" charset="2"/>
              </a:rPr>
              <a:t>Decomposition</a:t>
            </a:r>
          </a:p>
          <a:p>
            <a:pPr lvl="1" eaLnBrk="1" hangingPunct="1">
              <a:tabLst>
                <a:tab pos="744538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</a:t>
            </a:r>
            <a:r>
              <a:rPr lang="en-US" sz="1800" dirty="0">
                <a:sym typeface="Monotype Sorts" pitchFamily="2" charset="2"/>
              </a:rPr>
              <a:t> = (</a:t>
            </a:r>
            <a:r>
              <a:rPr lang="en-US" sz="1800" i="1" dirty="0">
                <a:sym typeface="Monotype Sorts" pitchFamily="2" charset="2"/>
              </a:rPr>
              <a:t>B, C)</a:t>
            </a:r>
            <a:endParaRPr lang="en-US" sz="1800" dirty="0">
              <a:sym typeface="Monotype Sorts" pitchFamily="2" charset="2"/>
            </a:endParaRPr>
          </a:p>
          <a:p>
            <a:pPr lvl="1" eaLnBrk="1" hangingPunct="1">
              <a:tabLst>
                <a:tab pos="744538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dirty="0">
                <a:sym typeface="Monotype Sorts" pitchFamily="2" charset="2"/>
              </a:rPr>
              <a:t> = </a:t>
            </a:r>
            <a:r>
              <a:rPr lang="en-US" sz="1800" i="1" dirty="0">
                <a:sym typeface="Monotype Sorts" pitchFamily="2" charset="2"/>
              </a:rPr>
              <a:t>(A,B)</a:t>
            </a:r>
          </a:p>
          <a:p>
            <a:pPr lvl="1" eaLnBrk="1" hangingPunct="1">
              <a:buFont typeface="Monotype Sorts" pitchFamily="2" charset="2"/>
              <a:buNone/>
              <a:tabLst>
                <a:tab pos="744538" algn="l"/>
              </a:tabLst>
            </a:pPr>
            <a:endParaRPr lang="en-US" sz="1800" dirty="0">
              <a:sym typeface="Monotype Sorts" pitchFamily="2" charset="2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E87A92D5-A91C-48AC-85FB-F3B49DEC113F}" type="slidenum">
              <a:rPr lang="en-US" smtClean="0">
                <a:solidFill>
                  <a:srgbClr val="7B9899"/>
                </a:solidFill>
              </a:rPr>
              <a:pPr/>
              <a:t>44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144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E5B6B-5EFE-4A7C-9A71-467A7EE3DF94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2638" y="363538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BCNF Decomposition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92113" y="1465263"/>
            <a:ext cx="8220075" cy="427234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eaLnBrk="1" hangingPunct="1">
              <a:tabLst>
                <a:tab pos="744538" algn="l"/>
                <a:tab pos="2574925" algn="l"/>
              </a:tabLst>
            </a:pPr>
            <a:r>
              <a:rPr lang="en-US" sz="1800" dirty="0"/>
              <a:t>Original relation</a:t>
            </a:r>
            <a:r>
              <a:rPr lang="en-US" sz="1800" i="1" dirty="0"/>
              <a:t> R </a:t>
            </a:r>
            <a:r>
              <a:rPr lang="en-US" sz="1800" dirty="0"/>
              <a:t>and</a:t>
            </a:r>
            <a:r>
              <a:rPr lang="en-US" sz="1800" i="1" dirty="0"/>
              <a:t> </a:t>
            </a:r>
            <a:r>
              <a:rPr lang="en-US" sz="1800" dirty="0"/>
              <a:t>functional dependency</a:t>
            </a:r>
            <a:r>
              <a:rPr lang="en-US" sz="1800" i="1" dirty="0"/>
              <a:t> F</a:t>
            </a:r>
          </a:p>
          <a:p>
            <a:pPr eaLnBrk="1" hangingPunct="1">
              <a:buFont typeface="Monotype Sorts" pitchFamily="2" charset="2"/>
              <a:buNone/>
              <a:tabLst>
                <a:tab pos="744538" algn="l"/>
                <a:tab pos="2574925" algn="l"/>
              </a:tabLst>
            </a:pPr>
            <a:r>
              <a:rPr lang="en-US" sz="1800" i="1" dirty="0"/>
              <a:t>         R </a:t>
            </a:r>
            <a:r>
              <a:rPr lang="en-US" sz="1800" dirty="0"/>
              <a:t>=</a:t>
            </a:r>
            <a:r>
              <a:rPr lang="en-US" sz="1800" i="1" dirty="0"/>
              <a:t> </a:t>
            </a:r>
            <a:r>
              <a:rPr lang="en-US" sz="1800" dirty="0"/>
              <a:t>(</a:t>
            </a:r>
            <a:r>
              <a:rPr lang="en-US" sz="1800" i="1" dirty="0" err="1"/>
              <a:t>branch_name</a:t>
            </a:r>
            <a:r>
              <a:rPr lang="en-US" sz="1800" i="1" dirty="0"/>
              <a:t>, </a:t>
            </a:r>
            <a:r>
              <a:rPr lang="en-US" sz="1800" i="1" dirty="0" err="1"/>
              <a:t>branch_city</a:t>
            </a:r>
            <a:r>
              <a:rPr lang="en-US" sz="1800" i="1" dirty="0"/>
              <a:t>, assets,</a:t>
            </a:r>
          </a:p>
          <a:p>
            <a:pPr lvl="1" eaLnBrk="1" hangingPunct="1">
              <a:buFont typeface="Monotype Sorts" pitchFamily="2" charset="2"/>
              <a:buNone/>
              <a:tabLst>
                <a:tab pos="744538" algn="l"/>
                <a:tab pos="2574925" algn="l"/>
              </a:tabLst>
            </a:pPr>
            <a:r>
              <a:rPr lang="en-US" sz="1800" i="1" dirty="0"/>
              <a:t>		</a:t>
            </a:r>
            <a:r>
              <a:rPr lang="en-US" sz="1800" i="1" dirty="0">
                <a:solidFill>
                  <a:schemeClr val="tx1"/>
                </a:solidFill>
              </a:rPr>
              <a:t>       </a:t>
            </a:r>
            <a:r>
              <a:rPr lang="en-US" sz="1800" i="1" dirty="0" err="1">
                <a:solidFill>
                  <a:schemeClr val="tx1"/>
                </a:solidFill>
              </a:rPr>
              <a:t>customer_name</a:t>
            </a:r>
            <a:r>
              <a:rPr lang="en-US" sz="1800" i="1" dirty="0">
                <a:solidFill>
                  <a:schemeClr val="tx1"/>
                </a:solidFill>
              </a:rPr>
              <a:t>, </a:t>
            </a:r>
            <a:r>
              <a:rPr lang="en-US" sz="1800" i="1" dirty="0" err="1">
                <a:solidFill>
                  <a:schemeClr val="tx1"/>
                </a:solidFill>
              </a:rPr>
              <a:t>loan_number</a:t>
            </a:r>
            <a:r>
              <a:rPr lang="en-US" sz="1800" i="1" dirty="0">
                <a:solidFill>
                  <a:schemeClr val="tx1"/>
                </a:solidFill>
              </a:rPr>
              <a:t>, amount 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i="1" dirty="0">
              <a:solidFill>
                <a:schemeClr val="tx1"/>
              </a:solidFill>
            </a:endParaRPr>
          </a:p>
          <a:p>
            <a:pPr lvl="1" eaLnBrk="1" hangingPunct="1">
              <a:buFont typeface="Monotype Sorts" pitchFamily="2" charset="2"/>
              <a:buNone/>
              <a:tabLst>
                <a:tab pos="744538" algn="l"/>
                <a:tab pos="2574925" algn="l"/>
              </a:tabLst>
            </a:pPr>
            <a:r>
              <a:rPr lang="en-US" sz="1800" i="1" dirty="0"/>
              <a:t>   F </a:t>
            </a:r>
            <a:r>
              <a:rPr lang="en-US" sz="1800" dirty="0"/>
              <a:t>=</a:t>
            </a:r>
            <a:r>
              <a:rPr lang="en-US" sz="1800" i="1" dirty="0"/>
              <a:t> </a:t>
            </a:r>
            <a:r>
              <a:rPr lang="en-US" sz="1800" dirty="0"/>
              <a:t>{</a:t>
            </a:r>
            <a:r>
              <a:rPr lang="en-US" sz="1800" i="1" dirty="0" err="1"/>
              <a:t>branch_name</a:t>
            </a:r>
            <a:r>
              <a:rPr lang="en-US" sz="1800" i="1" dirty="0"/>
              <a:t>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assets </a:t>
            </a:r>
            <a:r>
              <a:rPr lang="en-US" sz="1800" i="1" dirty="0" err="1">
                <a:sym typeface="Monotype Sorts" pitchFamily="2" charset="2"/>
              </a:rPr>
              <a:t>branch_city</a:t>
            </a:r>
            <a:endParaRPr lang="en-US" sz="1800" i="1" dirty="0">
              <a:sym typeface="Monotype Sorts" pitchFamily="2" charset="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744538" algn="l"/>
                <a:tab pos="2574925" algn="l"/>
              </a:tabLst>
            </a:pPr>
            <a:r>
              <a:rPr lang="en-US" sz="1800" i="1" dirty="0">
                <a:sym typeface="Monotype Sorts" pitchFamily="2" charset="2"/>
              </a:rPr>
              <a:t>	      </a:t>
            </a:r>
            <a:r>
              <a:rPr lang="en-US" sz="1800" i="1" dirty="0" err="1">
                <a:sym typeface="Monotype Sorts" pitchFamily="2" charset="2"/>
              </a:rPr>
              <a:t>loan_number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amount </a:t>
            </a:r>
            <a:r>
              <a:rPr lang="en-US" sz="1800" i="1" dirty="0" err="1">
                <a:sym typeface="Monotype Sorts" pitchFamily="2" charset="2"/>
              </a:rPr>
              <a:t>branch_name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dirty="0">
                <a:sym typeface="Monotype Sorts" pitchFamily="2" charset="2"/>
              </a:rPr>
              <a:t>}</a:t>
            </a:r>
            <a:endParaRPr lang="en-US" sz="1800" i="1" dirty="0">
              <a:sym typeface="Monotype Sorts" pitchFamily="2" charset="2"/>
            </a:endParaRPr>
          </a:p>
          <a:p>
            <a:pPr lvl="1" eaLnBrk="1" hangingPunct="1">
              <a:buFont typeface="Monotype Sorts" pitchFamily="2" charset="2"/>
              <a:buNone/>
              <a:tabLst>
                <a:tab pos="744538" algn="l"/>
                <a:tab pos="2574925" algn="l"/>
              </a:tabLst>
            </a:pPr>
            <a:r>
              <a:rPr lang="en-US" sz="1800" dirty="0">
                <a:sym typeface="Monotype Sorts" pitchFamily="2" charset="2"/>
              </a:rPr>
              <a:t>	Key =</a:t>
            </a:r>
            <a:r>
              <a:rPr lang="en-US" sz="1800" i="1" dirty="0">
                <a:sym typeface="Monotype Sorts" pitchFamily="2" charset="2"/>
              </a:rPr>
              <a:t> {</a:t>
            </a:r>
            <a:r>
              <a:rPr lang="en-US" sz="1800" i="1" dirty="0" err="1">
                <a:sym typeface="Monotype Sorts" pitchFamily="2" charset="2"/>
              </a:rPr>
              <a:t>loan_number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customer_name</a:t>
            </a:r>
            <a:r>
              <a:rPr lang="en-US" sz="1800" dirty="0">
                <a:sym typeface="Monotype Sorts" pitchFamily="2" charset="2"/>
              </a:rPr>
              <a:t>}</a:t>
            </a:r>
            <a:endParaRPr lang="en-US" sz="1800" i="1" dirty="0">
              <a:sym typeface="Monotype Sorts" pitchFamily="2" charset="2"/>
            </a:endParaRPr>
          </a:p>
          <a:p>
            <a:pPr eaLnBrk="1" hangingPunct="1">
              <a:tabLst>
                <a:tab pos="744538" algn="l"/>
                <a:tab pos="2574925" algn="l"/>
              </a:tabLst>
            </a:pPr>
            <a:r>
              <a:rPr lang="en-US" sz="1800" dirty="0">
                <a:sym typeface="Monotype Sorts" pitchFamily="2" charset="2"/>
              </a:rPr>
              <a:t>Decomposition</a:t>
            </a:r>
          </a:p>
          <a:p>
            <a:pPr lvl="1" eaLnBrk="1" hangingPunct="1">
              <a:tabLst>
                <a:tab pos="744538" algn="l"/>
                <a:tab pos="25749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</a:t>
            </a:r>
            <a:r>
              <a:rPr lang="en-US" sz="1800" dirty="0">
                <a:sym typeface="Monotype Sorts" pitchFamily="2" charset="2"/>
              </a:rPr>
              <a:t> = (</a:t>
            </a:r>
            <a:r>
              <a:rPr lang="en-US" sz="1800" i="1" dirty="0" err="1">
                <a:sym typeface="Monotype Sorts" pitchFamily="2" charset="2"/>
              </a:rPr>
              <a:t>branch_name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branch_city</a:t>
            </a:r>
            <a:r>
              <a:rPr lang="en-US" sz="1800" i="1" dirty="0">
                <a:sym typeface="Monotype Sorts" pitchFamily="2" charset="2"/>
              </a:rPr>
              <a:t>, assets </a:t>
            </a:r>
            <a:r>
              <a:rPr lang="en-US" sz="1800" dirty="0">
                <a:sym typeface="Monotype Sorts" pitchFamily="2" charset="2"/>
              </a:rPr>
              <a:t>)</a:t>
            </a:r>
            <a:endParaRPr lang="en-US" sz="1800" i="1" dirty="0">
              <a:sym typeface="Monotype Sorts" pitchFamily="2" charset="2"/>
            </a:endParaRPr>
          </a:p>
          <a:p>
            <a:pPr lvl="1" eaLnBrk="1" hangingPunct="1">
              <a:tabLst>
                <a:tab pos="744538" algn="l"/>
                <a:tab pos="25749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2</a:t>
            </a:r>
            <a:r>
              <a:rPr lang="en-US" sz="1800" dirty="0">
                <a:sym typeface="Monotype Sorts" pitchFamily="2" charset="2"/>
              </a:rPr>
              <a:t> = (</a:t>
            </a:r>
            <a:r>
              <a:rPr lang="en-US" sz="1800" i="1" dirty="0" err="1">
                <a:sym typeface="Monotype Sorts" pitchFamily="2" charset="2"/>
              </a:rPr>
              <a:t>branch_name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customer_name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loan_number</a:t>
            </a:r>
            <a:r>
              <a:rPr lang="en-US" sz="1800" i="1" dirty="0">
                <a:sym typeface="Monotype Sorts" pitchFamily="2" charset="2"/>
              </a:rPr>
              <a:t>, amount </a:t>
            </a:r>
            <a:r>
              <a:rPr lang="en-US" sz="1800" dirty="0">
                <a:sym typeface="Monotype Sorts" pitchFamily="2" charset="2"/>
              </a:rPr>
              <a:t>)</a:t>
            </a:r>
            <a:endParaRPr lang="en-US" sz="1800" i="1" dirty="0">
              <a:sym typeface="Monotype Sorts" pitchFamily="2" charset="2"/>
            </a:endParaRPr>
          </a:p>
          <a:p>
            <a:pPr lvl="1" eaLnBrk="1" hangingPunct="1">
              <a:tabLst>
                <a:tab pos="744538" algn="l"/>
                <a:tab pos="25749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3</a:t>
            </a:r>
            <a:r>
              <a:rPr lang="en-US" sz="1800" dirty="0">
                <a:sym typeface="Monotype Sorts" pitchFamily="2" charset="2"/>
              </a:rPr>
              <a:t> = (</a:t>
            </a:r>
            <a:r>
              <a:rPr lang="en-US" sz="1800" i="1" dirty="0" err="1">
                <a:sym typeface="Monotype Sorts" pitchFamily="2" charset="2"/>
              </a:rPr>
              <a:t>branch_name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loan_number</a:t>
            </a:r>
            <a:r>
              <a:rPr lang="en-US" sz="1800" i="1" dirty="0">
                <a:sym typeface="Monotype Sorts" pitchFamily="2" charset="2"/>
              </a:rPr>
              <a:t>, amount </a:t>
            </a:r>
            <a:r>
              <a:rPr lang="en-US" sz="1800" dirty="0">
                <a:sym typeface="Monotype Sorts" pitchFamily="2" charset="2"/>
              </a:rPr>
              <a:t>)</a:t>
            </a:r>
            <a:endParaRPr lang="en-US" sz="1800" i="1" dirty="0">
              <a:sym typeface="Monotype Sorts" pitchFamily="2" charset="2"/>
            </a:endParaRPr>
          </a:p>
          <a:p>
            <a:pPr lvl="1" eaLnBrk="1" hangingPunct="1">
              <a:tabLst>
                <a:tab pos="744538" algn="l"/>
                <a:tab pos="2574925" algn="l"/>
              </a:tabLst>
            </a:pP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4</a:t>
            </a:r>
            <a:r>
              <a:rPr lang="en-US" sz="1800" dirty="0">
                <a:sym typeface="Monotype Sorts" pitchFamily="2" charset="2"/>
              </a:rPr>
              <a:t> = (</a:t>
            </a:r>
            <a:r>
              <a:rPr lang="en-US" sz="1800" i="1" dirty="0" err="1">
                <a:sym typeface="Monotype Sorts" pitchFamily="2" charset="2"/>
              </a:rPr>
              <a:t>customer_name</a:t>
            </a:r>
            <a:r>
              <a:rPr lang="en-US" sz="1800" i="1" dirty="0">
                <a:sym typeface="Monotype Sorts" pitchFamily="2" charset="2"/>
              </a:rPr>
              <a:t>, </a:t>
            </a:r>
            <a:r>
              <a:rPr lang="en-US" sz="1800" i="1" dirty="0" err="1">
                <a:sym typeface="Monotype Sorts" pitchFamily="2" charset="2"/>
              </a:rPr>
              <a:t>loan_number</a:t>
            </a:r>
            <a:r>
              <a:rPr lang="en-US" sz="1800" i="1" dirty="0">
                <a:sym typeface="Monotype Sorts" pitchFamily="2" charset="2"/>
              </a:rPr>
              <a:t> </a:t>
            </a:r>
            <a:r>
              <a:rPr lang="en-US" sz="1800" dirty="0">
                <a:sym typeface="Monotype Sorts" pitchFamily="2" charset="2"/>
              </a:rPr>
              <a:t>)</a:t>
            </a:r>
            <a:endParaRPr lang="en-US" sz="1800" i="1" dirty="0">
              <a:sym typeface="Monotype Sorts" pitchFamily="2" charset="2"/>
            </a:endParaRPr>
          </a:p>
          <a:p>
            <a:pPr eaLnBrk="1" hangingPunct="1">
              <a:tabLst>
                <a:tab pos="744538" algn="l"/>
                <a:tab pos="2574925" algn="l"/>
              </a:tabLst>
            </a:pPr>
            <a:r>
              <a:rPr lang="en-US" sz="1800" dirty="0">
                <a:sym typeface="Monotype Sorts" pitchFamily="2" charset="2"/>
              </a:rPr>
              <a:t>Final decomposition </a:t>
            </a:r>
            <a:br>
              <a:rPr lang="en-US" sz="1800" dirty="0">
                <a:sym typeface="Monotype Sorts" pitchFamily="2" charset="2"/>
              </a:rPr>
            </a:br>
            <a:r>
              <a:rPr lang="en-US" sz="1800" dirty="0">
                <a:sym typeface="Monotype Sorts" pitchFamily="2" charset="2"/>
              </a:rPr>
              <a:t>		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1</a:t>
            </a:r>
            <a:r>
              <a:rPr lang="en-US" sz="1600" i="1" dirty="0">
                <a:sym typeface="Monotype Sorts" pitchFamily="2" charset="2"/>
              </a:rPr>
              <a:t>,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3</a:t>
            </a:r>
            <a:r>
              <a:rPr lang="en-US" sz="1600" i="1" dirty="0">
                <a:sym typeface="Monotype Sorts" pitchFamily="2" charset="2"/>
              </a:rPr>
              <a:t>,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baseline="-25000" dirty="0">
                <a:sym typeface="Monotype Sorts" pitchFamily="2" charset="2"/>
              </a:rPr>
              <a:t>4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CB9591E-7BDF-4D36-B746-E59E1D6638E3}" type="slidenum">
              <a:rPr lang="en-US" smtClean="0">
                <a:solidFill>
                  <a:srgbClr val="7B9899"/>
                </a:solidFill>
              </a:rPr>
              <a:pPr/>
              <a:t>45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24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BA44E-0C98-4CC0-A098-A9AC4A896E37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33403" y="5782493"/>
            <a:ext cx="5759077" cy="6668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  <a:tabLst>
                <a:tab pos="744538" algn="l"/>
                <a:tab pos="2574925" algn="l"/>
              </a:tabLst>
            </a:pPr>
            <a:r>
              <a:rPr lang="en-US" sz="2400" b="1" baseline="-25000" dirty="0">
                <a:sym typeface="Monotype Sorts" pitchFamily="2" charset="2"/>
              </a:rPr>
              <a:t>Test for BCNF ..                                                 </a:t>
            </a:r>
            <a:r>
              <a:rPr lang="en-US" sz="2800" b="1" baseline="-25000" dirty="0">
                <a:sym typeface="Monotype Sorts" pitchFamily="2" charset="2"/>
              </a:rPr>
              <a:t>Home task</a:t>
            </a:r>
          </a:p>
          <a:p>
            <a:pPr marL="0" indent="0" eaLnBrk="1" hangingPunct="1">
              <a:buNone/>
              <a:tabLst>
                <a:tab pos="744538" algn="l"/>
                <a:tab pos="2574925" algn="l"/>
              </a:tabLst>
            </a:pPr>
            <a:endParaRPr lang="en-US" sz="2800" b="1" baseline="-25000" dirty="0">
              <a:sym typeface="Monotype Sorts" pitchFamily="2" charset="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01650" y="314325"/>
            <a:ext cx="7831138" cy="623888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BCNF and Dependency Preservation</a:t>
            </a:r>
          </a:p>
        </p:txBody>
      </p:sp>
      <p:sp>
        <p:nvSpPr>
          <p:cNvPr id="73733" name="Text Box 5"/>
          <p:cNvSpPr>
            <a:spLocks noGrp="1" noChangeArrowheads="1"/>
          </p:cNvSpPr>
          <p:nvPr>
            <p:ph sz="quarter" idx="1"/>
          </p:nvPr>
        </p:nvSpPr>
        <p:spPr>
          <a:xfrm>
            <a:off x="522288" y="2455863"/>
            <a:ext cx="7881937" cy="3465512"/>
          </a:xfrm>
        </p:spPr>
        <p:txBody>
          <a:bodyPr/>
          <a:lstStyle/>
          <a:p>
            <a:pPr eaLnBrk="1" hangingPunct="1">
              <a:tabLst>
                <a:tab pos="744538" algn="l"/>
                <a:tab pos="2679700" algn="l"/>
              </a:tabLst>
            </a:pPr>
            <a:r>
              <a:rPr lang="en-US" sz="1800" i="1" dirty="0"/>
              <a:t>R = </a:t>
            </a:r>
            <a:r>
              <a:rPr lang="en-US" sz="1800" dirty="0"/>
              <a:t>(</a:t>
            </a:r>
            <a:r>
              <a:rPr lang="en-US" sz="1800" i="1" dirty="0"/>
              <a:t>J, K, L </a:t>
            </a:r>
            <a:r>
              <a:rPr lang="en-US" sz="1800" dirty="0"/>
              <a:t>)</a:t>
            </a:r>
            <a:r>
              <a:rPr lang="en-US" sz="1800" i="1" dirty="0"/>
              <a:t/>
            </a:r>
            <a:br>
              <a:rPr lang="en-US" sz="1800" i="1" dirty="0"/>
            </a:br>
            <a:r>
              <a:rPr lang="en-US" sz="1800" i="1" dirty="0"/>
              <a:t>F = </a:t>
            </a:r>
            <a:r>
              <a:rPr lang="en-US" sz="1800" dirty="0"/>
              <a:t>{</a:t>
            </a:r>
            <a:r>
              <a:rPr lang="en-US" sz="1800" i="1" dirty="0"/>
              <a:t>JK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L</a:t>
            </a:r>
            <a:br>
              <a:rPr lang="en-US" sz="1800" i="1" dirty="0">
                <a:sym typeface="Monotype Sorts" pitchFamily="2" charset="2"/>
              </a:rPr>
            </a:br>
            <a:r>
              <a:rPr lang="en-US" sz="1800" i="1" dirty="0">
                <a:sym typeface="Monotype Sorts" pitchFamily="2" charset="2"/>
              </a:rPr>
              <a:t>	  L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K </a:t>
            </a:r>
            <a:r>
              <a:rPr lang="en-US" sz="1800" dirty="0">
                <a:sym typeface="Monotype Sorts" pitchFamily="2" charset="2"/>
              </a:rPr>
              <a:t>}</a:t>
            </a:r>
            <a:br>
              <a:rPr lang="en-US" sz="1800" dirty="0">
                <a:sym typeface="Monotype Sorts" pitchFamily="2" charset="2"/>
              </a:rPr>
            </a:br>
            <a:r>
              <a:rPr lang="en-US" sz="1800" dirty="0">
                <a:sym typeface="Monotype Sorts" pitchFamily="2" charset="2"/>
              </a:rPr>
              <a:t>Two candidate keys = </a:t>
            </a:r>
            <a:r>
              <a:rPr lang="en-US" sz="1800" i="1" dirty="0">
                <a:sym typeface="Monotype Sorts" pitchFamily="2" charset="2"/>
              </a:rPr>
              <a:t>JK </a:t>
            </a:r>
            <a:r>
              <a:rPr lang="en-US" sz="1800" dirty="0">
                <a:sym typeface="Monotype Sorts" pitchFamily="2" charset="2"/>
              </a:rPr>
              <a:t>and </a:t>
            </a:r>
            <a:r>
              <a:rPr lang="en-US" sz="1800" i="1" dirty="0">
                <a:sym typeface="Monotype Sorts" pitchFamily="2" charset="2"/>
              </a:rPr>
              <a:t>JL</a:t>
            </a:r>
          </a:p>
          <a:p>
            <a:pPr eaLnBrk="1" hangingPunct="1">
              <a:tabLst>
                <a:tab pos="744538" algn="l"/>
                <a:tab pos="2679700" algn="l"/>
              </a:tabLst>
            </a:pPr>
            <a:endParaRPr lang="en-US" sz="1800" i="1" dirty="0">
              <a:solidFill>
                <a:schemeClr val="bg1"/>
              </a:solidFill>
              <a:sym typeface="Monotype Sorts" pitchFamily="2" charset="2"/>
            </a:endParaRPr>
          </a:p>
          <a:p>
            <a:pPr eaLnBrk="1" hangingPunct="1">
              <a:tabLst>
                <a:tab pos="744538" algn="l"/>
                <a:tab pos="2679700" algn="l"/>
              </a:tabLst>
            </a:pPr>
            <a:r>
              <a:rPr lang="en-US" sz="1800" i="1" dirty="0">
                <a:sym typeface="Monotype Sorts" pitchFamily="2" charset="2"/>
              </a:rPr>
              <a:t>R </a:t>
            </a:r>
            <a:r>
              <a:rPr lang="en-US" sz="1800" dirty="0">
                <a:sym typeface="Monotype Sorts" pitchFamily="2" charset="2"/>
              </a:rPr>
              <a:t>is not in BCNF</a:t>
            </a:r>
          </a:p>
          <a:p>
            <a:pPr eaLnBrk="1" hangingPunct="1">
              <a:tabLst>
                <a:tab pos="744538" algn="l"/>
                <a:tab pos="2679700" algn="l"/>
              </a:tabLst>
            </a:pPr>
            <a:endParaRPr lang="en-US" sz="1800" dirty="0">
              <a:sym typeface="Monotype Sorts" pitchFamily="2" charset="2"/>
            </a:endParaRPr>
          </a:p>
          <a:p>
            <a:pPr eaLnBrk="1" hangingPunct="1">
              <a:tabLst>
                <a:tab pos="744538" algn="l"/>
                <a:tab pos="2679700" algn="l"/>
              </a:tabLst>
            </a:pPr>
            <a:r>
              <a:rPr lang="en-US" sz="1800" dirty="0">
                <a:sym typeface="Monotype Sorts" pitchFamily="2" charset="2"/>
              </a:rPr>
              <a:t>Any decomposition of </a:t>
            </a:r>
            <a:r>
              <a:rPr lang="en-US" sz="1800" i="1" dirty="0">
                <a:sym typeface="Monotype Sorts" pitchFamily="2" charset="2"/>
              </a:rPr>
              <a:t>R</a:t>
            </a:r>
            <a:r>
              <a:rPr lang="en-US" sz="1800" dirty="0">
                <a:sym typeface="Monotype Sorts" pitchFamily="2" charset="2"/>
              </a:rPr>
              <a:t> will fail to preserve</a:t>
            </a:r>
          </a:p>
          <a:p>
            <a:pPr eaLnBrk="1" hangingPunct="1">
              <a:buFont typeface="Monotype Sorts" pitchFamily="2" charset="2"/>
              <a:buNone/>
              <a:tabLst>
                <a:tab pos="744538" algn="l"/>
                <a:tab pos="2679700" algn="l"/>
              </a:tabLst>
            </a:pPr>
            <a:r>
              <a:rPr lang="en-US" sz="1800" dirty="0"/>
              <a:t>			</a:t>
            </a:r>
            <a:r>
              <a:rPr lang="en-US" sz="1800" i="1" dirty="0"/>
              <a:t>JK </a:t>
            </a:r>
            <a:r>
              <a:rPr lang="en-US" sz="1800" dirty="0">
                <a:sym typeface="Symbol" panose="05050102010706020507" pitchFamily="18" charset="2"/>
              </a:rPr>
              <a:t></a:t>
            </a:r>
            <a:r>
              <a:rPr lang="en-US" sz="1800" dirty="0">
                <a:sym typeface="Monotype Sorts" pitchFamily="2" charset="2"/>
              </a:rPr>
              <a:t> </a:t>
            </a:r>
            <a:r>
              <a:rPr lang="en-US" sz="1800" i="1" dirty="0">
                <a:sym typeface="Monotype Sorts" pitchFamily="2" charset="2"/>
              </a:rPr>
              <a:t>L</a:t>
            </a:r>
          </a:p>
          <a:p>
            <a:pPr eaLnBrk="1" hangingPunct="1">
              <a:tabLst>
                <a:tab pos="744538" algn="l"/>
                <a:tab pos="2679700" algn="l"/>
              </a:tabLst>
            </a:pPr>
            <a:endParaRPr lang="en-US" sz="1800" dirty="0"/>
          </a:p>
        </p:txBody>
      </p:sp>
      <p:sp>
        <p:nvSpPr>
          <p:cNvPr id="61444" name="Text Box 6"/>
          <p:cNvSpPr txBox="1">
            <a:spLocks noChangeArrowheads="1"/>
          </p:cNvSpPr>
          <p:nvPr/>
        </p:nvSpPr>
        <p:spPr bwMode="auto">
          <a:xfrm>
            <a:off x="536575" y="1435100"/>
            <a:ext cx="8229600" cy="646113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1800" b="1" dirty="0">
                <a:latin typeface="+mn-lt"/>
              </a:rPr>
              <a:t>It is not always possible to get a BCNF decomposition that is  dependency preserving</a:t>
            </a:r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1F9FB6A4-9E5C-43D4-B60B-F76070C5F4B1}" type="slidenum">
              <a:rPr lang="en-US" smtClean="0">
                <a:solidFill>
                  <a:srgbClr val="7B9899"/>
                </a:solidFill>
              </a:rPr>
              <a:pPr/>
              <a:t>46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3494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FF95C7-863A-4F6A-85C4-7E55925C8D95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261938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Third Normal Form: Motivation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3616" y="1557494"/>
            <a:ext cx="8328305" cy="3277996"/>
          </a:xfrm>
        </p:spPr>
        <p:txBody>
          <a:bodyPr/>
          <a:lstStyle/>
          <a:p>
            <a:pPr eaLnBrk="1" hangingPunct="1"/>
            <a:r>
              <a:rPr lang="en-US" sz="2200" dirty="0"/>
              <a:t>Because it is </a:t>
            </a:r>
            <a:r>
              <a:rPr lang="en-US" sz="2200" b="1" dirty="0">
                <a:solidFill>
                  <a:srgbClr val="0033CC"/>
                </a:solidFill>
              </a:rPr>
              <a:t>not always possible</a:t>
            </a:r>
            <a:r>
              <a:rPr lang="en-US" sz="2200" dirty="0"/>
              <a:t> to achieve both BCNF and dependency preservation, we consider a </a:t>
            </a:r>
            <a:r>
              <a:rPr lang="en-US" sz="2200" dirty="0">
                <a:solidFill>
                  <a:srgbClr val="0033CC"/>
                </a:solidFill>
              </a:rPr>
              <a:t>weaker normal form</a:t>
            </a:r>
            <a:r>
              <a:rPr lang="en-US" sz="2200" dirty="0"/>
              <a:t>, known as </a:t>
            </a:r>
            <a:r>
              <a:rPr lang="en-US" sz="2200" i="1" dirty="0">
                <a:solidFill>
                  <a:srgbClr val="0033CC"/>
                </a:solidFill>
              </a:rPr>
              <a:t>third normal form</a:t>
            </a:r>
            <a:r>
              <a:rPr lang="en-US" sz="2200" i="1" dirty="0"/>
              <a:t>.</a:t>
            </a:r>
          </a:p>
          <a:p>
            <a:pPr eaLnBrk="1" hangingPunct="1"/>
            <a:endParaRPr lang="en-US" sz="2200" dirty="0"/>
          </a:p>
          <a:p>
            <a:pPr eaLnBrk="1" hangingPunct="1"/>
            <a:r>
              <a:rPr lang="en-US" sz="2200" dirty="0"/>
              <a:t>There are some situations where </a:t>
            </a:r>
          </a:p>
          <a:p>
            <a:pPr lvl="1" eaLnBrk="1" hangingPunct="1"/>
            <a:r>
              <a:rPr lang="en-US" dirty="0">
                <a:solidFill>
                  <a:schemeClr val="tx1"/>
                </a:solidFill>
              </a:rPr>
              <a:t>BCNF is not dependency preserving, and </a:t>
            </a:r>
          </a:p>
          <a:p>
            <a:pPr lvl="1" eaLnBrk="1" hangingPunct="1"/>
            <a:r>
              <a:rPr lang="en-US" dirty="0">
                <a:solidFill>
                  <a:schemeClr val="tx1"/>
                </a:solidFill>
              </a:rPr>
              <a:t>Efficient checking for FD violation on updates is important</a:t>
            </a: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212334D-D8AB-42F5-A8F2-900C558D925B}" type="slidenum">
              <a:rPr lang="en-US" smtClean="0">
                <a:solidFill>
                  <a:srgbClr val="7B9899"/>
                </a:solidFill>
              </a:rPr>
              <a:pPr/>
              <a:t>47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451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CA6FE4-790A-4BB8-AA27-367D16E6D388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Third Normal Form</a:t>
            </a:r>
            <a:endParaRPr lang="en-GB" dirty="0"/>
          </a:p>
        </p:txBody>
      </p:sp>
      <p:sp>
        <p:nvSpPr>
          <p:cNvPr id="65539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400" dirty="0"/>
              <a:t>Solution: define a weaker normal form, called Third                    Normal Form (3NF)</a:t>
            </a:r>
          </a:p>
          <a:p>
            <a:pPr lvl="1" eaLnBrk="1" hangingPunct="1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Allows some redundancy </a:t>
            </a:r>
          </a:p>
          <a:p>
            <a:pPr lvl="1" eaLnBrk="1" hangingPunct="1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But functional dependencies can be checked on individual relations without computing a join.</a:t>
            </a:r>
          </a:p>
          <a:p>
            <a:pPr lvl="1" eaLnBrk="1" hangingPunct="1"/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There is always a lossless-join, dependency-preserving decomposition into 3NF.</a:t>
            </a:r>
          </a:p>
          <a:p>
            <a:endParaRPr lang="en-GB" dirty="0"/>
          </a:p>
        </p:txBody>
      </p:sp>
      <p:sp>
        <p:nvSpPr>
          <p:cNvPr id="6554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65541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420248D9-9A6E-4E9D-90CF-80B332F4F9C7}" type="slidenum">
              <a:rPr lang="en-US" smtClean="0">
                <a:solidFill>
                  <a:srgbClr val="7B9899"/>
                </a:solidFill>
              </a:rPr>
              <a:pPr/>
              <a:t>48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663193-6BFB-41AD-B278-54E290BB6E2B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34963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Third Normal Form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9182" y="1530363"/>
            <a:ext cx="8352884" cy="4739804"/>
          </a:xfrm>
        </p:spPr>
        <p:txBody>
          <a:bodyPr/>
          <a:lstStyle/>
          <a:p>
            <a:pPr eaLnBrk="1" hangingPunct="1">
              <a:tabLst>
                <a:tab pos="2738438" algn="l"/>
              </a:tabLst>
            </a:pPr>
            <a:r>
              <a:rPr lang="en-US" sz="2000" dirty="0"/>
              <a:t>A relation schema </a:t>
            </a:r>
            <a:r>
              <a:rPr lang="en-US" sz="2000" i="1" dirty="0"/>
              <a:t>R</a:t>
            </a:r>
            <a:r>
              <a:rPr lang="en-US" sz="2000" dirty="0"/>
              <a:t> is in third normal form (3NF) if for all:</a:t>
            </a:r>
          </a:p>
          <a:p>
            <a:pPr eaLnBrk="1" hangingPunct="1">
              <a:buFont typeface="Monotype Sorts" pitchFamily="2" charset="2"/>
              <a:buNone/>
              <a:tabLst>
                <a:tab pos="2738438" algn="l"/>
              </a:tabLst>
            </a:pPr>
            <a:r>
              <a:rPr lang="en-US" sz="2000" dirty="0"/>
              <a:t>		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 smtClean="0">
                <a:sym typeface="Monotype Sorts" pitchFamily="2" charset="2"/>
              </a:rPr>
              <a:t> in </a:t>
            </a:r>
            <a:r>
              <a:rPr lang="en-US" sz="2000" i="1" dirty="0">
                <a:sym typeface="Monotype Sorts" pitchFamily="2" charset="2"/>
              </a:rPr>
              <a:t>F</a:t>
            </a:r>
            <a:r>
              <a:rPr lang="en-US" sz="2000" baseline="30000" dirty="0">
                <a:sym typeface="Monotype Sorts" pitchFamily="2" charset="2"/>
              </a:rPr>
              <a:t>+</a:t>
            </a:r>
            <a:r>
              <a:rPr lang="en-US" sz="2000" dirty="0">
                <a:sym typeface="Monotype Sorts" pitchFamily="2" charset="2"/>
              </a:rPr>
              <a:t/>
            </a:r>
            <a:br>
              <a:rPr lang="en-US" sz="2000" dirty="0">
                <a:sym typeface="Monotype Sorts" pitchFamily="2" charset="2"/>
              </a:rPr>
            </a:br>
            <a:r>
              <a:rPr lang="en-US" sz="2000" dirty="0">
                <a:sym typeface="Monotype Sorts" pitchFamily="2" charset="2"/>
              </a:rPr>
              <a:t>at least one of the following holds:</a:t>
            </a:r>
          </a:p>
          <a:p>
            <a:pPr lvl="1" eaLnBrk="1" hangingPunct="1">
              <a:tabLst>
                <a:tab pos="2738438" algn="l"/>
              </a:tabLst>
            </a:pP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</a:t>
            </a:r>
            <a:r>
              <a:rPr lang="en-US" sz="2000" dirty="0">
                <a:sym typeface="Greek Symbols" pitchFamily="18" charset="2"/>
              </a:rPr>
              <a:t>is trivial (i.e.,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 </a:t>
            </a:r>
            <a:r>
              <a:rPr lang="en-US" sz="2000" dirty="0">
                <a:sym typeface="Greek Symbols" pitchFamily="18" charset="2"/>
              </a:rPr>
              <a:t>)</a:t>
            </a:r>
          </a:p>
          <a:p>
            <a:pPr lvl="1" eaLnBrk="1" hangingPunct="1">
              <a:tabLst>
                <a:tab pos="2738438" algn="l"/>
              </a:tabLst>
            </a:pP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is a super key for </a:t>
            </a:r>
            <a:r>
              <a:rPr lang="en-US" sz="2000" i="1" dirty="0">
                <a:sym typeface="Greek Symbols" pitchFamily="18" charset="2"/>
              </a:rPr>
              <a:t>R</a:t>
            </a:r>
            <a:endParaRPr lang="en-US" sz="2000" dirty="0">
              <a:sym typeface="Greek Symbols" pitchFamily="18" charset="2"/>
            </a:endParaRPr>
          </a:p>
          <a:p>
            <a:pPr lvl="1" eaLnBrk="1" hangingPunct="1">
              <a:tabLst>
                <a:tab pos="2738438" algn="l"/>
              </a:tabLst>
            </a:pPr>
            <a:r>
              <a:rPr lang="en-US" sz="2000" dirty="0">
                <a:sym typeface="Greek Symbols" pitchFamily="18" charset="2"/>
              </a:rPr>
              <a:t>Each attribute </a:t>
            </a:r>
            <a:r>
              <a:rPr lang="en-US" sz="2000" i="1" dirty="0">
                <a:sym typeface="Greek Symbols" pitchFamily="18" charset="2"/>
              </a:rPr>
              <a:t>A</a:t>
            </a:r>
            <a:r>
              <a:rPr lang="en-US" sz="2000" dirty="0">
                <a:sym typeface="Greek Symbols" pitchFamily="18" charset="2"/>
              </a:rPr>
              <a:t> in </a:t>
            </a:r>
            <a:r>
              <a:rPr lang="en-US" sz="2000" i="1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 –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is contained in a candidate key for </a:t>
            </a:r>
            <a:r>
              <a:rPr lang="en-US" sz="2000" i="1" dirty="0">
                <a:sym typeface="Greek Symbols" pitchFamily="18" charset="2"/>
              </a:rPr>
              <a:t>R. </a:t>
            </a:r>
          </a:p>
          <a:p>
            <a:pPr marL="274638" lvl="1" indent="0" eaLnBrk="1" hangingPunct="1">
              <a:buNone/>
              <a:tabLst>
                <a:tab pos="2738438" algn="l"/>
              </a:tabLst>
            </a:pPr>
            <a:r>
              <a:rPr lang="en-US" sz="2000" i="1" dirty="0">
                <a:sym typeface="Greek Symbols" pitchFamily="18" charset="2"/>
              </a:rPr>
              <a:t>E</a:t>
            </a:r>
            <a:r>
              <a:rPr lang="en-US" sz="2000" dirty="0">
                <a:sym typeface="Greek Symbols" pitchFamily="18" charset="2"/>
              </a:rPr>
              <a:t>ach attribute may be in a different candidate key</a:t>
            </a:r>
            <a:endParaRPr lang="en-US" sz="2000" i="1" dirty="0">
              <a:sym typeface="Greek Symbols" pitchFamily="18" charset="2"/>
            </a:endParaRPr>
          </a:p>
          <a:p>
            <a:pPr eaLnBrk="1" hangingPunct="1">
              <a:tabLst>
                <a:tab pos="2738438" algn="l"/>
              </a:tabLst>
            </a:pPr>
            <a:endParaRPr lang="en-US" sz="1600" dirty="0">
              <a:sym typeface="Greek Symbols" pitchFamily="18" charset="2"/>
            </a:endParaRPr>
          </a:p>
          <a:p>
            <a:pPr eaLnBrk="1" hangingPunct="1">
              <a:tabLst>
                <a:tab pos="2738438" algn="l"/>
              </a:tabLst>
            </a:pPr>
            <a:r>
              <a:rPr lang="en-US" sz="2000" dirty="0">
                <a:sym typeface="Greek Symbols" pitchFamily="18" charset="2"/>
              </a:rPr>
              <a:t>If a relation is in BCNF it is in 3NF (since in BCNF one of the first two conditions above must hold).</a:t>
            </a:r>
          </a:p>
          <a:p>
            <a:pPr eaLnBrk="1" hangingPunct="1">
              <a:tabLst>
                <a:tab pos="2738438" algn="l"/>
              </a:tabLst>
            </a:pPr>
            <a:r>
              <a:rPr lang="en-US" sz="2000" dirty="0"/>
              <a:t>Third condition is a minimal relaxation of BCNF to ensure dependency preservation .</a:t>
            </a:r>
          </a:p>
          <a:p>
            <a:pPr eaLnBrk="1" hangingPunct="1">
              <a:buFont typeface="Wingdings 2" panose="05020102010507070707" pitchFamily="18" charset="2"/>
              <a:buNone/>
              <a:tabLst>
                <a:tab pos="2738438" algn="l"/>
              </a:tabLst>
            </a:pPr>
            <a:endParaRPr lang="en-US" sz="2000" dirty="0">
              <a:sym typeface="Greek Symbols" pitchFamily="18" charset="2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E7522DB-3E21-428D-A79E-CA7D6B75D716}" type="slidenum">
              <a:rPr lang="en-US" smtClean="0">
                <a:solidFill>
                  <a:srgbClr val="7B9899"/>
                </a:solidFill>
              </a:rPr>
              <a:pPr/>
              <a:t>49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22B36A-8464-4D69-9CAA-7A88628CA7C2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7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92100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3NF Example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36182" y="1625269"/>
            <a:ext cx="7564438" cy="3011487"/>
          </a:xfrm>
        </p:spPr>
        <p:txBody>
          <a:bodyPr/>
          <a:lstStyle/>
          <a:p>
            <a:pPr eaLnBrk="1" hangingPunct="1">
              <a:tabLst>
                <a:tab pos="1027113" algn="l"/>
                <a:tab pos="2455863" algn="l"/>
              </a:tabLst>
            </a:pPr>
            <a:r>
              <a:rPr lang="en-US" sz="1800" dirty="0"/>
              <a:t>Relation R:</a:t>
            </a:r>
          </a:p>
          <a:p>
            <a:pPr lvl="1" eaLnBrk="1" hangingPunct="1">
              <a:tabLst>
                <a:tab pos="1027113" algn="l"/>
                <a:tab pos="2455863" algn="l"/>
              </a:tabLst>
            </a:pPr>
            <a:r>
              <a:rPr lang="en-US" sz="1800" i="1" dirty="0">
                <a:solidFill>
                  <a:schemeClr val="tx1"/>
                </a:solidFill>
              </a:rPr>
              <a:t>R = 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i="1" dirty="0">
                <a:solidFill>
                  <a:schemeClr val="tx1"/>
                </a:solidFill>
              </a:rPr>
              <a:t>J, K, L 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n-US" sz="1800" i="1" dirty="0">
                <a:solidFill>
                  <a:schemeClr val="tx1"/>
                </a:solidFill>
              </a:rPr>
              <a:t/>
            </a:r>
            <a:br>
              <a:rPr lang="en-US" sz="1800" i="1" dirty="0">
                <a:solidFill>
                  <a:schemeClr val="tx1"/>
                </a:solidFill>
              </a:rPr>
            </a:br>
            <a:r>
              <a:rPr lang="en-US" sz="1800" i="1" dirty="0">
                <a:solidFill>
                  <a:schemeClr val="tx1"/>
                </a:solidFill>
              </a:rPr>
              <a:t>F = </a:t>
            </a:r>
            <a:r>
              <a:rPr lang="en-US" sz="1800" dirty="0">
                <a:solidFill>
                  <a:schemeClr val="tx1"/>
                </a:solidFill>
              </a:rPr>
              <a:t>{</a:t>
            </a:r>
            <a:r>
              <a:rPr lang="en-US" sz="1800" i="1" dirty="0">
                <a:solidFill>
                  <a:schemeClr val="tx1"/>
                </a:solidFill>
              </a:rPr>
              <a:t>JK </a:t>
            </a:r>
            <a:r>
              <a:rPr 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L, L </a:t>
            </a:r>
            <a:r>
              <a:rPr 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K 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}</a:t>
            </a:r>
          </a:p>
          <a:p>
            <a:pPr lvl="1" eaLnBrk="1" hangingPunct="1">
              <a:tabLst>
                <a:tab pos="1027113" algn="l"/>
                <a:tab pos="2455863" algn="l"/>
              </a:tabLst>
            </a:pP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Two candidate keys: 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JK 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and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JL</a:t>
            </a:r>
          </a:p>
          <a:p>
            <a:pPr lvl="1" eaLnBrk="1" hangingPunct="1">
              <a:tabLst>
                <a:tab pos="1027113" algn="l"/>
                <a:tab pos="2455863" algn="l"/>
              </a:tabLst>
            </a:pP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R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 is in 3NF</a:t>
            </a:r>
          </a:p>
          <a:p>
            <a:pPr lvl="1" eaLnBrk="1" hangingPunct="1">
              <a:buFont typeface="Monotype Sorts" pitchFamily="2" charset="2"/>
              <a:buNone/>
              <a:tabLst>
                <a:tab pos="1027113" algn="l"/>
                <a:tab pos="2455863" algn="l"/>
              </a:tabLst>
            </a:pP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		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JK </a:t>
            </a:r>
            <a:r>
              <a:rPr 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L	JK 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is a </a:t>
            </a:r>
            <a:r>
              <a:rPr lang="en-US" sz="1800" dirty="0" err="1">
                <a:solidFill>
                  <a:schemeClr val="tx1"/>
                </a:solidFill>
                <a:sym typeface="Monotype Sorts" pitchFamily="2" charset="2"/>
              </a:rPr>
              <a:t>superkey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/>
            </a:r>
            <a:br>
              <a:rPr lang="en-US" sz="1800" dirty="0">
                <a:solidFill>
                  <a:schemeClr val="tx1"/>
                </a:solidFill>
                <a:sym typeface="Monotype Sorts" pitchFamily="2" charset="2"/>
              </a:rPr>
            </a:b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	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L </a:t>
            </a:r>
            <a:r>
              <a:rPr lang="en-US" sz="1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 </a:t>
            </a:r>
            <a:r>
              <a:rPr lang="en-US" sz="1800" i="1" dirty="0">
                <a:solidFill>
                  <a:schemeClr val="tx1"/>
                </a:solidFill>
                <a:sym typeface="Monotype Sorts" pitchFamily="2" charset="2"/>
              </a:rPr>
              <a:t>K	K </a:t>
            </a:r>
            <a:r>
              <a:rPr lang="en-US" sz="1800" dirty="0">
                <a:solidFill>
                  <a:schemeClr val="tx1"/>
                </a:solidFill>
                <a:sym typeface="Monotype Sorts" pitchFamily="2" charset="2"/>
              </a:rPr>
              <a:t>is contained in a candidate key</a:t>
            </a:r>
          </a:p>
          <a:p>
            <a:pPr eaLnBrk="1" hangingPunct="1">
              <a:buFont typeface="Monotype Sorts" pitchFamily="2" charset="2"/>
              <a:buNone/>
              <a:tabLst>
                <a:tab pos="1027113" algn="l"/>
                <a:tab pos="2455863" algn="l"/>
              </a:tabLst>
            </a:pPr>
            <a:endParaRPr lang="en-US" sz="1800" dirty="0">
              <a:sym typeface="Symbol" panose="05050102010706020507" pitchFamily="18" charset="2"/>
            </a:endParaRPr>
          </a:p>
          <a:p>
            <a:pPr eaLnBrk="1" hangingPunct="1">
              <a:tabLst>
                <a:tab pos="1027113" algn="l"/>
                <a:tab pos="2455863" algn="l"/>
              </a:tabLst>
            </a:pPr>
            <a:endParaRPr lang="en-US" sz="1800" dirty="0">
              <a:sym typeface="Monotype Sorts" pitchFamily="2" charset="2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36BE8271-474A-4EB5-A84D-4B7257E47CFA}" type="slidenum">
              <a:rPr lang="en-US" smtClean="0">
                <a:solidFill>
                  <a:srgbClr val="7B9899"/>
                </a:solidFill>
              </a:rPr>
              <a:pPr/>
              <a:t>50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758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DFB24A-3974-4B0F-AA51-BC50EB7B7BD6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Comparison of BCNF and 3NF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7776" y="1625722"/>
            <a:ext cx="8370888" cy="3838575"/>
          </a:xfrm>
        </p:spPr>
        <p:txBody>
          <a:bodyPr/>
          <a:lstStyle/>
          <a:p>
            <a:pPr eaLnBrk="1" hangingPunct="1"/>
            <a:r>
              <a:rPr lang="en-US" sz="2400" dirty="0"/>
              <a:t>It is always possible to decompose a relation into a set of  relations that are in 3NF such that:</a:t>
            </a:r>
          </a:p>
          <a:p>
            <a:pPr lvl="1" eaLnBrk="1" hangingPunct="1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the decomposition is lossless</a:t>
            </a:r>
          </a:p>
          <a:p>
            <a:pPr lvl="1" eaLnBrk="1" hangingPunct="1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the dependencies are preserved</a:t>
            </a:r>
          </a:p>
          <a:p>
            <a:pPr eaLnBrk="1" hangingPunct="1"/>
            <a:r>
              <a:rPr lang="en-US" sz="2400" dirty="0"/>
              <a:t>It is always possible to decompose a relation into a set of relations that are in BCNF such that:</a:t>
            </a:r>
          </a:p>
          <a:p>
            <a:pPr lvl="1" eaLnBrk="1" hangingPunct="1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the decomposition is lossless</a:t>
            </a:r>
          </a:p>
          <a:p>
            <a:pPr lvl="1" eaLnBrk="1" hangingPunct="1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it may not be possible to preserve dependencies.</a:t>
            </a:r>
          </a:p>
          <a:p>
            <a:pPr lvl="1" eaLnBrk="1" hangingPunct="1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8612" name="Rectangle 5"/>
          <p:cNvSpPr>
            <a:spLocks noChangeArrowheads="1"/>
          </p:cNvSpPr>
          <p:nvPr/>
        </p:nvSpPr>
        <p:spPr bwMode="auto">
          <a:xfrm>
            <a:off x="596900" y="4064000"/>
            <a:ext cx="7283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endParaRPr kumimoji="1" lang="en-US" sz="1800" i="1">
              <a:sym typeface="Monotype Sorts" pitchFamily="2" charset="2"/>
            </a:endParaRPr>
          </a:p>
        </p:txBody>
      </p:sp>
      <p:sp>
        <p:nvSpPr>
          <p:cNvPr id="68613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BC24A53C-2D02-429D-8941-3C39A9800D45}" type="slidenum">
              <a:rPr lang="en-US" smtClean="0">
                <a:solidFill>
                  <a:srgbClr val="7B9899"/>
                </a:solidFill>
              </a:rPr>
              <a:pPr/>
              <a:t>51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8614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796C9D-87AF-4024-B0CC-C020325465A2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334963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Design Goals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36110" y="1552697"/>
            <a:ext cx="8229600" cy="4289425"/>
          </a:xfrm>
        </p:spPr>
        <p:txBody>
          <a:bodyPr/>
          <a:lstStyle/>
          <a:p>
            <a:pPr eaLnBrk="1" hangingPunct="1"/>
            <a:r>
              <a:rPr lang="en-US" sz="2400" dirty="0"/>
              <a:t>Goal for a relational database design is: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</a:rPr>
              <a:t>BCNF.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</a:rPr>
              <a:t>Lossless join.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</a:rPr>
              <a:t>Dependency preservation.</a:t>
            </a:r>
          </a:p>
          <a:p>
            <a:pPr lvl="1" eaLnBrk="1" hangingPunct="1"/>
            <a:endParaRPr lang="en-US" sz="2400" dirty="0">
              <a:solidFill>
                <a:schemeClr val="tx1"/>
              </a:solidFill>
            </a:endParaRPr>
          </a:p>
          <a:p>
            <a:pPr eaLnBrk="1" hangingPunct="1"/>
            <a:r>
              <a:rPr lang="en-US" sz="2400" dirty="0"/>
              <a:t>If we cannot achieve this, we accept one of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</a:rPr>
              <a:t>Lack of dependency preservation 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</a:rPr>
              <a:t>Redundancy due to use of 3NF</a:t>
            </a: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EE6930C-629E-4E8A-9989-8E1802FB4480}" type="slidenum">
              <a:rPr lang="en-US" smtClean="0">
                <a:solidFill>
                  <a:srgbClr val="7B9899"/>
                </a:solidFill>
              </a:rPr>
              <a:pPr/>
              <a:t>52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6963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653937-3C7D-489E-903D-D978F2769510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0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463" y="231775"/>
            <a:ext cx="7772400" cy="8604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Normalization performance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52011" y="1792288"/>
            <a:ext cx="8499106" cy="216369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2800" dirty="0"/>
              <a:t>A store has 20 buyers, 50 products and 100 companies?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/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20 x 50 x 100 = 1,00,000 total records,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 if only one table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323E45-3099-4991-893F-74026CB2C2C7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CC61A1-A59C-45AB-95D4-0570908F8C63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19088"/>
            <a:ext cx="7772400" cy="6715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Normalization Solution</a:t>
            </a:r>
          </a:p>
        </p:txBody>
      </p:sp>
      <p:graphicFrame>
        <p:nvGraphicFramePr>
          <p:cNvPr id="110632" name="Group 40"/>
          <p:cNvGraphicFramePr>
            <a:graphicFrameLocks noGrp="1"/>
          </p:cNvGraphicFramePr>
          <p:nvPr/>
        </p:nvGraphicFramePr>
        <p:xfrm>
          <a:off x="3581400" y="2057400"/>
          <a:ext cx="2160588" cy="1714501"/>
        </p:xfrm>
        <a:graphic>
          <a:graphicData uri="http://schemas.openxmlformats.org/drawingml/2006/table">
            <a:tbl>
              <a:tblPr/>
              <a:tblGrid>
                <a:gridCol w="9747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858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*Buyer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*Product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Chris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Jeans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Chris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Shirts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Lori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Jeans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772" name="Text Box 20"/>
          <p:cNvSpPr txBox="1">
            <a:spLocks noChangeArrowheads="1"/>
          </p:cNvSpPr>
          <p:nvPr/>
        </p:nvSpPr>
        <p:spPr bwMode="auto">
          <a:xfrm>
            <a:off x="3505200" y="1524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anose="02020603050405020304" pitchFamily="18" charset="0"/>
              </a:rPr>
              <a:t>Buyers</a:t>
            </a:r>
          </a:p>
        </p:txBody>
      </p:sp>
      <p:graphicFrame>
        <p:nvGraphicFramePr>
          <p:cNvPr id="110634" name="Group 42"/>
          <p:cNvGraphicFramePr>
            <a:graphicFrameLocks noGrp="1"/>
          </p:cNvGraphicFramePr>
          <p:nvPr/>
        </p:nvGraphicFramePr>
        <p:xfrm>
          <a:off x="1828800" y="4419600"/>
          <a:ext cx="2555875" cy="1714501"/>
        </p:xfrm>
        <a:graphic>
          <a:graphicData uri="http://schemas.openxmlformats.org/drawingml/2006/table">
            <a:tbl>
              <a:tblPr/>
              <a:tblGrid>
                <a:gridCol w="1185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00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*Product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*Company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Jeans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Wrangler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Jeans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Levi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Shirts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Levi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790" name="Text Box 38"/>
          <p:cNvSpPr txBox="1">
            <a:spLocks noChangeArrowheads="1"/>
          </p:cNvSpPr>
          <p:nvPr/>
        </p:nvSpPr>
        <p:spPr bwMode="auto">
          <a:xfrm>
            <a:off x="1752600" y="39624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anose="02020603050405020304" pitchFamily="18" charset="0"/>
              </a:rPr>
              <a:t>Products</a:t>
            </a:r>
          </a:p>
        </p:txBody>
      </p:sp>
      <p:graphicFrame>
        <p:nvGraphicFramePr>
          <p:cNvPr id="110635" name="Group 43"/>
          <p:cNvGraphicFramePr>
            <a:graphicFrameLocks noGrp="1"/>
          </p:cNvGraphicFramePr>
          <p:nvPr/>
        </p:nvGraphicFramePr>
        <p:xfrm>
          <a:off x="5181600" y="4419600"/>
          <a:ext cx="2555875" cy="1714501"/>
        </p:xfrm>
        <a:graphic>
          <a:graphicData uri="http://schemas.openxmlformats.org/drawingml/2006/table">
            <a:tbl>
              <a:tblPr/>
              <a:tblGrid>
                <a:gridCol w="118586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00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*Buyer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*Company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Chris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Wrangler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Chris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Levi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Lori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Levi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808" name="Text Box 60"/>
          <p:cNvSpPr txBox="1">
            <a:spLocks noChangeArrowheads="1"/>
          </p:cNvSpPr>
          <p:nvPr/>
        </p:nvSpPr>
        <p:spPr bwMode="auto">
          <a:xfrm>
            <a:off x="5105400" y="39624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anose="02020603050405020304" pitchFamily="18" charset="0"/>
              </a:rPr>
              <a:t>Companies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0CE334-A8F0-4BE6-B192-03712582B017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CC61A1-A59C-45AB-95D4-0570908F8C63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584200" y="333375"/>
            <a:ext cx="7772400" cy="6826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Normalization performance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59881" y="1447800"/>
            <a:ext cx="8556859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If our company has 20 buyers, 50 products and 100 companies?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Buyers = 20 x 50 = 1000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Products = 50 x 100 = 5000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Companies = 20 x 100 = 2000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/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/>
              <a:t>8,000 total records instead of 100,000!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FC56D6-1AD0-425B-9936-5E441919D164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82823-2AA1-4824-837B-9CD728C1E6D0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Normalization</a:t>
            </a:r>
          </a:p>
        </p:txBody>
      </p:sp>
      <p:grpSp>
        <p:nvGrpSpPr>
          <p:cNvPr id="546844" name="Group 28"/>
          <p:cNvGrpSpPr>
            <a:grpSpLocks/>
          </p:cNvGrpSpPr>
          <p:nvPr/>
        </p:nvGrpSpPr>
        <p:grpSpPr bwMode="auto">
          <a:xfrm>
            <a:off x="2353766" y="1555275"/>
            <a:ext cx="5383466" cy="4443591"/>
            <a:chOff x="1536" y="816"/>
            <a:chExt cx="3600" cy="2976"/>
          </a:xfrm>
        </p:grpSpPr>
        <p:sp>
          <p:nvSpPr>
            <p:cNvPr id="546819" name="Oval 3"/>
            <p:cNvSpPr>
              <a:spLocks noChangeArrowheads="1"/>
            </p:cNvSpPr>
            <p:nvPr/>
          </p:nvSpPr>
          <p:spPr bwMode="auto">
            <a:xfrm>
              <a:off x="1536" y="816"/>
              <a:ext cx="2976" cy="297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820" name="Oval 4"/>
            <p:cNvSpPr>
              <a:spLocks noChangeArrowheads="1"/>
            </p:cNvSpPr>
            <p:nvPr/>
          </p:nvSpPr>
          <p:spPr bwMode="auto">
            <a:xfrm>
              <a:off x="1776" y="1056"/>
              <a:ext cx="2496" cy="24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821" name="Oval 5"/>
            <p:cNvSpPr>
              <a:spLocks noChangeArrowheads="1"/>
            </p:cNvSpPr>
            <p:nvPr/>
          </p:nvSpPr>
          <p:spPr bwMode="auto">
            <a:xfrm>
              <a:off x="2016" y="1296"/>
              <a:ext cx="2016" cy="201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822" name="Oval 6"/>
            <p:cNvSpPr>
              <a:spLocks noChangeArrowheads="1"/>
            </p:cNvSpPr>
            <p:nvPr/>
          </p:nvSpPr>
          <p:spPr bwMode="auto">
            <a:xfrm>
              <a:off x="2256" y="1536"/>
              <a:ext cx="1536" cy="15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6823" name="WordArt 7"/>
            <p:cNvSpPr>
              <a:spLocks noChangeArrowheads="1" noChangeShapeType="1" noTextEdit="1"/>
            </p:cNvSpPr>
            <p:nvPr/>
          </p:nvSpPr>
          <p:spPr bwMode="auto">
            <a:xfrm>
              <a:off x="2064" y="960"/>
              <a:ext cx="1968" cy="1056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spcFirstLastPara="1" wrap="none" fromWordArt="1">
              <a:prstTxWarp prst="textArchUp">
                <a:avLst>
                  <a:gd name="adj" fmla="val 11051094"/>
                </a:avLst>
              </a:prstTxWarp>
            </a:bodyPr>
            <a:lstStyle/>
            <a:p>
              <a:r>
                <a:rPr lang="en-US" sz="1800" kern="10" dirty="0" err="1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cs typeface="Times New Roman" panose="02020603050405020304" pitchFamily="18" charset="0"/>
                </a:rPr>
                <a:t>Unnormalized</a:t>
              </a:r>
              <a:r>
                <a:rPr lang="en-US" sz="1800" kern="10" dirty="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cs typeface="Times New Roman" panose="02020603050405020304" pitchFamily="18" charset="0"/>
                </a:rPr>
                <a:t> Relations</a:t>
              </a:r>
            </a:p>
          </p:txBody>
        </p:sp>
        <p:sp>
          <p:nvSpPr>
            <p:cNvPr id="546824" name="WordArt 8"/>
            <p:cNvSpPr>
              <a:spLocks noChangeArrowheads="1" noChangeShapeType="1" noTextEdit="1"/>
            </p:cNvSpPr>
            <p:nvPr/>
          </p:nvSpPr>
          <p:spPr bwMode="auto">
            <a:xfrm>
              <a:off x="2208" y="1200"/>
              <a:ext cx="1680" cy="91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spcFirstLastPara="1" wrap="none" fromWordArt="1">
              <a:prstTxWarp prst="textArchUp">
                <a:avLst>
                  <a:gd name="adj" fmla="val 11110346"/>
                </a:avLst>
              </a:prstTxWarp>
            </a:bodyPr>
            <a:lstStyle/>
            <a:p>
              <a:r>
                <a:rPr lang="en-US" sz="1800" kern="10" dirty="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cs typeface="Times New Roman" panose="02020603050405020304" pitchFamily="18" charset="0"/>
                </a:rPr>
                <a:t>First normal form</a:t>
              </a:r>
            </a:p>
          </p:txBody>
        </p:sp>
        <p:sp>
          <p:nvSpPr>
            <p:cNvPr id="546825" name="WordArt 9"/>
            <p:cNvSpPr>
              <a:spLocks noChangeArrowheads="1" noChangeShapeType="1" noTextEdit="1"/>
            </p:cNvSpPr>
            <p:nvPr/>
          </p:nvSpPr>
          <p:spPr bwMode="auto">
            <a:xfrm>
              <a:off x="2208" y="1440"/>
              <a:ext cx="1584" cy="115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r>
                <a:rPr lang="en-US" sz="1800" kern="10" dirty="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cs typeface="Times New Roman" panose="02020603050405020304" pitchFamily="18" charset="0"/>
                </a:rPr>
                <a:t>Second normal form</a:t>
              </a:r>
            </a:p>
          </p:txBody>
        </p:sp>
        <p:sp>
          <p:nvSpPr>
            <p:cNvPr id="546826" name="Oval 10"/>
            <p:cNvSpPr>
              <a:spLocks noChangeArrowheads="1"/>
            </p:cNvSpPr>
            <p:nvPr/>
          </p:nvSpPr>
          <p:spPr bwMode="auto">
            <a:xfrm>
              <a:off x="2640" y="1920"/>
              <a:ext cx="768" cy="768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Boyce-</a:t>
              </a:r>
            </a:p>
            <a:p>
              <a:pPr eaLnBrk="0" hangingPunct="0"/>
              <a:r>
                <a:rPr lang="en-US" sz="1400" b="1" dirty="0" err="1">
                  <a:solidFill>
                    <a:schemeClr val="bg1"/>
                  </a:solidFill>
                  <a:latin typeface="Arial" panose="020B0604020202020204" pitchFamily="34" charset="0"/>
                </a:rPr>
                <a:t>Codd</a:t>
              </a:r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 and</a:t>
              </a:r>
            </a:p>
            <a:p>
              <a:pPr eaLnBrk="0" hangingPunct="0"/>
              <a:r>
                <a:rPr lang="en-US" sz="14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Higher</a:t>
              </a:r>
            </a:p>
          </p:txBody>
        </p:sp>
        <p:sp>
          <p:nvSpPr>
            <p:cNvPr id="546827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2400" y="1680"/>
              <a:ext cx="1186" cy="1104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r>
                <a:rPr lang="en-US" sz="1800" kern="10">
                  <a:ln w="9525">
                    <a:solidFill>
                      <a:schemeClr val="bg1"/>
                    </a:solidFill>
                    <a:round/>
                    <a:headEnd/>
                    <a:tailEnd/>
                  </a:ln>
                  <a:solidFill>
                    <a:schemeClr val="bg1"/>
                  </a:solidFill>
                  <a:cs typeface="Times New Roman" panose="02020603050405020304" pitchFamily="18" charset="0"/>
                </a:rPr>
                <a:t>Third normal form</a:t>
              </a:r>
            </a:p>
          </p:txBody>
        </p:sp>
        <p:sp>
          <p:nvSpPr>
            <p:cNvPr id="546833" name="Rectangle 17"/>
            <p:cNvSpPr>
              <a:spLocks noChangeArrowheads="1"/>
            </p:cNvSpPr>
            <p:nvPr/>
          </p:nvSpPr>
          <p:spPr bwMode="auto">
            <a:xfrm>
              <a:off x="4560" y="1776"/>
              <a:ext cx="57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6775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2638" y="334963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Multivalued Dependencies (MVDs)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82563" y="1426866"/>
            <a:ext cx="8778875" cy="4437359"/>
          </a:xfrm>
        </p:spPr>
        <p:txBody>
          <a:bodyPr/>
          <a:lstStyle/>
          <a:p>
            <a:pPr eaLnBrk="1" hangingPunct="1">
              <a:tabLst>
                <a:tab pos="1890713" algn="l"/>
                <a:tab pos="2798763" algn="l"/>
              </a:tabLst>
            </a:pPr>
            <a:r>
              <a:rPr lang="en-GB" sz="2000" dirty="0"/>
              <a:t>A </a:t>
            </a:r>
            <a:r>
              <a:rPr lang="en-GB" sz="2000" b="1" dirty="0"/>
              <a:t>multivalued dependency</a:t>
            </a:r>
            <a:r>
              <a:rPr lang="en-GB" sz="2000" dirty="0"/>
              <a:t> is a constraint between two sets of attributes in a relation.</a:t>
            </a:r>
            <a:endParaRPr lang="en-US" sz="2000" dirty="0"/>
          </a:p>
          <a:p>
            <a:pPr eaLnBrk="1" hangingPunct="1">
              <a:tabLst>
                <a:tab pos="1890713" algn="l"/>
                <a:tab pos="2798763" algn="l"/>
              </a:tabLst>
            </a:pPr>
            <a:endParaRPr lang="en-US" sz="2000" dirty="0" smtClean="0"/>
          </a:p>
          <a:p>
            <a:pPr eaLnBrk="1" hangingPunct="1">
              <a:tabLst>
                <a:tab pos="1890713" algn="l"/>
                <a:tab pos="2798763" algn="l"/>
              </a:tabLst>
            </a:pPr>
            <a:r>
              <a:rPr lang="en-US" sz="2000" dirty="0" smtClean="0"/>
              <a:t>Let </a:t>
            </a:r>
            <a:r>
              <a:rPr lang="en-US" sz="2000" i="1" dirty="0"/>
              <a:t>R</a:t>
            </a:r>
            <a:r>
              <a:rPr lang="en-US" sz="2000" dirty="0"/>
              <a:t> be a relation schema and let </a:t>
            </a:r>
            <a:r>
              <a:rPr lang="en-US" sz="2000" dirty="0">
                <a:sym typeface="Symbol" panose="05050102010706020507" pitchFamily="18" charset="2"/>
              </a:rPr>
              <a:t> 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and 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 </a:t>
            </a:r>
            <a:r>
              <a:rPr lang="en-US" sz="2000" i="1" dirty="0">
                <a:sym typeface="Symbol" panose="05050102010706020507" pitchFamily="18" charset="2"/>
              </a:rPr>
              <a:t>R. </a:t>
            </a:r>
            <a:r>
              <a:rPr lang="en-US" sz="2000" dirty="0">
                <a:sym typeface="Symbol" panose="05050102010706020507" pitchFamily="18" charset="2"/>
              </a:rPr>
              <a:t>  The </a:t>
            </a:r>
            <a:r>
              <a:rPr lang="en-US" sz="2000" i="1" dirty="0">
                <a:solidFill>
                  <a:schemeClr val="tx2"/>
                </a:solidFill>
                <a:sym typeface="Symbol" panose="05050102010706020507" pitchFamily="18" charset="2"/>
              </a:rPr>
              <a:t>multivalued dependency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endParaRPr lang="en-US" sz="2000" dirty="0"/>
          </a:p>
          <a:p>
            <a:pPr eaLnBrk="1" hangingPunct="1">
              <a:buFont typeface="Monotype Sorts" pitchFamily="2" charset="2"/>
              <a:buNone/>
              <a:tabLst>
                <a:tab pos="1890713" algn="l"/>
                <a:tab pos="2798763" algn="l"/>
              </a:tabLst>
            </a:pPr>
            <a:r>
              <a:rPr lang="en-US" sz="2000" dirty="0">
                <a:sym typeface="Greek Symbols" pitchFamily="18" charset="2"/>
              </a:rPr>
              <a:t>			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endParaRPr lang="en-US" sz="2000" i="1" dirty="0">
              <a:sym typeface="Greek Symbols" pitchFamily="18" charset="2"/>
            </a:endParaRPr>
          </a:p>
          <a:p>
            <a:pPr eaLnBrk="1" hangingPunct="1">
              <a:buFont typeface="Monotype Sorts" pitchFamily="2" charset="2"/>
              <a:buNone/>
              <a:tabLst>
                <a:tab pos="1890713" algn="l"/>
                <a:tab pos="2798763" algn="l"/>
              </a:tabLst>
            </a:pPr>
            <a:r>
              <a:rPr lang="en-US" sz="2000" i="1" dirty="0">
                <a:sym typeface="Greek Symbols" pitchFamily="18" charset="2"/>
              </a:rPr>
              <a:t>	</a:t>
            </a:r>
            <a:r>
              <a:rPr lang="en-US" sz="2000" dirty="0">
                <a:sym typeface="Greek Symbols" pitchFamily="18" charset="2"/>
              </a:rPr>
              <a:t>holds on </a:t>
            </a:r>
            <a:r>
              <a:rPr lang="en-US" sz="2000" i="1" dirty="0">
                <a:sym typeface="Greek Symbols" pitchFamily="18" charset="2"/>
              </a:rPr>
              <a:t>R</a:t>
            </a:r>
            <a:r>
              <a:rPr lang="en-US" sz="2000" dirty="0">
                <a:sym typeface="Greek Symbols" pitchFamily="18" charset="2"/>
              </a:rPr>
              <a:t> if in any legal relation </a:t>
            </a:r>
            <a:r>
              <a:rPr lang="en-US" sz="2000" i="1" dirty="0">
                <a:sym typeface="Greek Symbols" pitchFamily="18" charset="2"/>
              </a:rPr>
              <a:t>r(R),</a:t>
            </a:r>
            <a:r>
              <a:rPr lang="en-US" sz="2000" dirty="0">
                <a:sym typeface="Greek Symbols" pitchFamily="18" charset="2"/>
              </a:rPr>
              <a:t> for all pairs for tuples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1 </a:t>
            </a:r>
            <a:r>
              <a:rPr lang="en-US" sz="2000" dirty="0">
                <a:sym typeface="Greek Symbols" pitchFamily="18" charset="2"/>
              </a:rPr>
              <a:t>and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i="1" baseline="-25000" dirty="0">
                <a:sym typeface="Greek Symbols" pitchFamily="18" charset="2"/>
              </a:rPr>
              <a:t>2</a:t>
            </a:r>
            <a:r>
              <a:rPr lang="en-US" sz="2000" dirty="0">
                <a:sym typeface="Greek Symbols" pitchFamily="18" charset="2"/>
              </a:rPr>
              <a:t> in </a:t>
            </a:r>
            <a:r>
              <a:rPr lang="en-US" sz="2000" i="1" dirty="0">
                <a:sym typeface="Greek Symbols" pitchFamily="18" charset="2"/>
              </a:rPr>
              <a:t>r</a:t>
            </a:r>
            <a:r>
              <a:rPr lang="en-US" sz="2000" dirty="0">
                <a:sym typeface="Greek Symbols" pitchFamily="18" charset="2"/>
              </a:rPr>
              <a:t> such that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1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 =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i="1" baseline="-25000" dirty="0">
                <a:sym typeface="Greek Symbols" pitchFamily="18" charset="2"/>
              </a:rPr>
              <a:t>2 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], there exist tuples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i="1" baseline="-25000" dirty="0">
                <a:sym typeface="Greek Symbols" pitchFamily="18" charset="2"/>
              </a:rPr>
              <a:t>3</a:t>
            </a:r>
            <a:r>
              <a:rPr lang="en-US" sz="2000" dirty="0">
                <a:sym typeface="Greek Symbols" pitchFamily="18" charset="2"/>
              </a:rPr>
              <a:t> and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4</a:t>
            </a:r>
            <a:r>
              <a:rPr lang="en-US" sz="2000" dirty="0">
                <a:sym typeface="Greek Symbols" pitchFamily="18" charset="2"/>
              </a:rPr>
              <a:t> in </a:t>
            </a:r>
            <a:r>
              <a:rPr lang="en-US" sz="2000" i="1" dirty="0">
                <a:sym typeface="Greek Symbols" pitchFamily="18" charset="2"/>
              </a:rPr>
              <a:t>r </a:t>
            </a:r>
            <a:r>
              <a:rPr lang="en-US" sz="2000" dirty="0">
                <a:sym typeface="Greek Symbols" pitchFamily="18" charset="2"/>
              </a:rPr>
              <a:t>such that: </a:t>
            </a:r>
          </a:p>
          <a:p>
            <a:pPr eaLnBrk="1" hangingPunct="1">
              <a:buFont typeface="Monotype Sorts" pitchFamily="2" charset="2"/>
              <a:buNone/>
              <a:tabLst>
                <a:tab pos="1890713" algn="l"/>
                <a:tab pos="2798763" algn="l"/>
              </a:tabLst>
            </a:pPr>
            <a:r>
              <a:rPr lang="en-US" sz="2000" dirty="0">
                <a:sym typeface="Greek Symbols" pitchFamily="18" charset="2"/>
              </a:rPr>
              <a:t>		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1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 =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i="1" baseline="-25000" dirty="0">
                <a:sym typeface="Greek Symbols" pitchFamily="18" charset="2"/>
              </a:rPr>
              <a:t>2 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 =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3</a:t>
            </a:r>
            <a:r>
              <a:rPr lang="en-US" sz="2000" dirty="0">
                <a:sym typeface="Greek Symbols" pitchFamily="18" charset="2"/>
              </a:rPr>
              <a:t> 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 =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4</a:t>
            </a:r>
            <a:r>
              <a:rPr lang="en-US" sz="2000" i="1" baseline="-25000" dirty="0">
                <a:sym typeface="Greek Symbols" pitchFamily="18" charset="2"/>
              </a:rPr>
              <a:t> 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]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	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3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 = 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1 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	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4 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  = 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2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  <a:tabLst>
                <a:tab pos="1890713" algn="l"/>
                <a:tab pos="2798763" algn="l"/>
              </a:tabLst>
            </a:pPr>
            <a:r>
              <a:rPr lang="en-US" sz="2000" i="1" dirty="0">
                <a:sym typeface="Greek Symbols" pitchFamily="18" charset="2"/>
              </a:rPr>
              <a:t>		 t</a:t>
            </a:r>
            <a:r>
              <a:rPr lang="en-US" sz="2000" baseline="-25000" dirty="0">
                <a:sym typeface="Greek Symbols" pitchFamily="18" charset="2"/>
              </a:rPr>
              <a:t>3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i="1" dirty="0">
                <a:sym typeface="Greek Symbols" pitchFamily="18" charset="2"/>
              </a:rPr>
              <a:t>R  –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= 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2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i="1" dirty="0">
                <a:sym typeface="Greek Symbols" pitchFamily="18" charset="2"/>
              </a:rPr>
              <a:t>R  –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</a:t>
            </a:r>
            <a:br>
              <a:rPr lang="en-US" sz="2000" dirty="0">
                <a:sym typeface="Greek Symbols" pitchFamily="18" charset="2"/>
              </a:rPr>
            </a:br>
            <a:r>
              <a:rPr lang="en-US" sz="2000" dirty="0">
                <a:sym typeface="Greek Symbols" pitchFamily="18" charset="2"/>
              </a:rPr>
              <a:t>	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4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i="1" dirty="0">
                <a:sym typeface="Greek Symbols" pitchFamily="18" charset="2"/>
              </a:rPr>
              <a:t>R  –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=  </a:t>
            </a:r>
            <a:r>
              <a:rPr lang="en-US" sz="2000" i="1" dirty="0">
                <a:sym typeface="Greek Symbols" pitchFamily="18" charset="2"/>
              </a:rPr>
              <a:t>t</a:t>
            </a:r>
            <a:r>
              <a:rPr lang="en-US" sz="2000" baseline="-25000" dirty="0">
                <a:sym typeface="Greek Symbols" pitchFamily="18" charset="2"/>
              </a:rPr>
              <a:t>1</a:t>
            </a:r>
            <a:r>
              <a:rPr lang="en-US" sz="2000" dirty="0">
                <a:sym typeface="Greek Symbols" pitchFamily="18" charset="2"/>
              </a:rPr>
              <a:t>[</a:t>
            </a:r>
            <a:r>
              <a:rPr lang="en-US" sz="2000" i="1" dirty="0">
                <a:sym typeface="Greek Symbols" pitchFamily="18" charset="2"/>
              </a:rPr>
              <a:t>R  –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] </a:t>
            </a:r>
            <a:br>
              <a:rPr lang="en-US" sz="2000" dirty="0">
                <a:sym typeface="Greek Symbols" pitchFamily="18" charset="2"/>
              </a:rPr>
            </a:br>
            <a:endParaRPr lang="en-US" sz="2000" dirty="0">
              <a:sym typeface="Greek Symbols" pitchFamily="18" charset="2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D8446B11-79FF-4928-818A-85D282ECEA56}" type="slidenum">
              <a:rPr lang="en-US" smtClean="0">
                <a:solidFill>
                  <a:srgbClr val="7B9899"/>
                </a:solidFill>
              </a:rPr>
              <a:pPr/>
              <a:t>57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DD2ACE-C9C4-4D3A-8BE9-A50EDE86F75D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782638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61257" y="1468438"/>
            <a:ext cx="8500906" cy="4090987"/>
          </a:xfrm>
        </p:spPr>
        <p:txBody>
          <a:bodyPr/>
          <a:lstStyle/>
          <a:p>
            <a:pPr eaLnBrk="1" hangingPunct="1">
              <a:tabLst>
                <a:tab pos="1149350" algn="l"/>
                <a:tab pos="3311525" algn="ctr"/>
              </a:tabLst>
            </a:pPr>
            <a:r>
              <a:rPr lang="en-US" sz="2000" dirty="0"/>
              <a:t>Let </a:t>
            </a:r>
            <a:r>
              <a:rPr lang="en-US" sz="2000" i="1" dirty="0"/>
              <a:t>R</a:t>
            </a:r>
            <a:r>
              <a:rPr lang="en-US" sz="2000" dirty="0"/>
              <a:t> be a relation schema with a set of attributes that are partitioned into 3 nonempty subsets.</a:t>
            </a:r>
          </a:p>
          <a:p>
            <a:pPr eaLnBrk="1" hangingPunct="1">
              <a:buFont typeface="Monotype Sorts" pitchFamily="2" charset="2"/>
              <a:buNone/>
              <a:tabLst>
                <a:tab pos="1149350" algn="l"/>
                <a:tab pos="3311525" algn="ctr"/>
              </a:tabLst>
            </a:pPr>
            <a:r>
              <a:rPr lang="en-US" sz="2000" dirty="0"/>
              <a:t>			</a:t>
            </a:r>
            <a:r>
              <a:rPr lang="en-US" sz="2000" i="1" dirty="0"/>
              <a:t>Y, Z, W</a:t>
            </a:r>
          </a:p>
          <a:p>
            <a:pPr eaLnBrk="1" hangingPunct="1">
              <a:buFont typeface="Monotype Sorts" pitchFamily="2" charset="2"/>
              <a:buNone/>
              <a:tabLst>
                <a:tab pos="1149350" algn="l"/>
                <a:tab pos="3311525" algn="ctr"/>
              </a:tabLst>
            </a:pPr>
            <a:endParaRPr lang="en-US" sz="2000" i="1" dirty="0"/>
          </a:p>
          <a:p>
            <a:pPr eaLnBrk="1" hangingPunct="1">
              <a:tabLst>
                <a:tab pos="1149350" algn="l"/>
                <a:tab pos="3311525" algn="ctr"/>
              </a:tabLst>
            </a:pPr>
            <a:r>
              <a:rPr lang="en-US" sz="2000" dirty="0"/>
              <a:t>We say that </a:t>
            </a:r>
            <a:r>
              <a:rPr lang="en-US" sz="2000" i="1" dirty="0"/>
              <a:t>Y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Z </a:t>
            </a:r>
            <a:r>
              <a:rPr lang="en-US" sz="2000" dirty="0">
                <a:sym typeface="Monotype Sorts" pitchFamily="2" charset="2"/>
              </a:rPr>
              <a:t>(</a:t>
            </a:r>
            <a:r>
              <a:rPr lang="en-US" sz="2000" i="1" dirty="0">
                <a:sym typeface="Monotype Sorts" pitchFamily="2" charset="2"/>
              </a:rPr>
              <a:t>Y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dirty="0" err="1">
                <a:sym typeface="Monotype Sorts" pitchFamily="2" charset="2"/>
              </a:rPr>
              <a:t>multidetermines</a:t>
            </a:r>
            <a:r>
              <a:rPr lang="en-US" sz="2000" dirty="0">
                <a:sym typeface="Monotype Sorts" pitchFamily="2" charset="2"/>
              </a:rPr>
              <a:t> </a:t>
            </a:r>
            <a:r>
              <a:rPr lang="en-US" sz="2000" i="1" dirty="0">
                <a:sym typeface="Monotype Sorts" pitchFamily="2" charset="2"/>
              </a:rPr>
              <a:t>Z </a:t>
            </a:r>
            <a:r>
              <a:rPr lang="en-US" sz="2000" dirty="0">
                <a:sym typeface="Monotype Sorts" pitchFamily="2" charset="2"/>
              </a:rPr>
              <a:t>) if and only if for all possible relations </a:t>
            </a:r>
            <a:r>
              <a:rPr lang="en-US" sz="2000" i="1" dirty="0">
                <a:sym typeface="Monotype Sorts" pitchFamily="2" charset="2"/>
              </a:rPr>
              <a:t>r </a:t>
            </a:r>
            <a:r>
              <a:rPr lang="en-US" sz="2000" dirty="0">
                <a:sym typeface="Monotype Sorts" pitchFamily="2" charset="2"/>
              </a:rPr>
              <a:t>(</a:t>
            </a:r>
            <a:r>
              <a:rPr lang="en-US" sz="2000" i="1" dirty="0">
                <a:sym typeface="Monotype Sorts" pitchFamily="2" charset="2"/>
              </a:rPr>
              <a:t>R </a:t>
            </a:r>
            <a:r>
              <a:rPr lang="en-US" sz="2000" dirty="0">
                <a:sym typeface="Monotype Sorts" pitchFamily="2" charset="2"/>
              </a:rPr>
              <a:t>)</a:t>
            </a:r>
            <a:endParaRPr lang="en-US" sz="2000" i="1" dirty="0">
              <a:sym typeface="Monotype Sorts" pitchFamily="2" charset="2"/>
            </a:endParaRPr>
          </a:p>
          <a:p>
            <a:pPr eaLnBrk="1" hangingPunct="1">
              <a:buFont typeface="Monotype Sorts" pitchFamily="2" charset="2"/>
              <a:buNone/>
              <a:tabLst>
                <a:tab pos="1149350" algn="l"/>
                <a:tab pos="3311525" algn="ctr"/>
              </a:tabLst>
            </a:pPr>
            <a:r>
              <a:rPr lang="en-US" sz="2000" dirty="0">
                <a:sym typeface="Monotype Sorts" pitchFamily="2" charset="2"/>
              </a:rPr>
              <a:t>		&lt; </a:t>
            </a:r>
            <a:r>
              <a:rPr lang="en-US" sz="2000" i="1" dirty="0">
                <a:sym typeface="Monotype Sorts" pitchFamily="2" charset="2"/>
              </a:rPr>
              <a:t>y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z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w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 &gt;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and &lt; </a:t>
            </a:r>
            <a:r>
              <a:rPr lang="en-US" sz="2000" i="1" dirty="0">
                <a:sym typeface="Monotype Sorts" pitchFamily="2" charset="2"/>
              </a:rPr>
              <a:t>y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z</a:t>
            </a:r>
            <a:r>
              <a:rPr lang="en-US" sz="2000" baseline="-25000" dirty="0">
                <a:sym typeface="Monotype Sorts" pitchFamily="2" charset="2"/>
              </a:rPr>
              <a:t>2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w</a:t>
            </a:r>
            <a:r>
              <a:rPr lang="en-US" sz="2000" baseline="-25000" dirty="0">
                <a:sym typeface="Monotype Sorts" pitchFamily="2" charset="2"/>
              </a:rPr>
              <a:t>2</a:t>
            </a:r>
            <a:r>
              <a:rPr lang="en-US" sz="2000" dirty="0">
                <a:sym typeface="Monotype Sorts" pitchFamily="2" charset="2"/>
              </a:rPr>
              <a:t> &gt;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endParaRPr lang="en-US" sz="2000" dirty="0">
              <a:sym typeface="Symbol" panose="05050102010706020507" pitchFamily="18" charset="2"/>
            </a:endParaRPr>
          </a:p>
          <a:p>
            <a:pPr eaLnBrk="1" hangingPunct="1">
              <a:buFont typeface="Monotype Sorts" pitchFamily="2" charset="2"/>
              <a:buNone/>
              <a:tabLst>
                <a:tab pos="1149350" algn="l"/>
                <a:tab pos="3311525" algn="ctr"/>
              </a:tabLst>
            </a:pPr>
            <a:r>
              <a:rPr lang="en-US" sz="2000" dirty="0">
                <a:sym typeface="Symbol" panose="05050102010706020507" pitchFamily="18" charset="2"/>
              </a:rPr>
              <a:t>	then</a:t>
            </a:r>
          </a:p>
          <a:p>
            <a:pPr eaLnBrk="1" hangingPunct="1">
              <a:buFont typeface="Monotype Sorts" pitchFamily="2" charset="2"/>
              <a:buNone/>
              <a:tabLst>
                <a:tab pos="1149350" algn="l"/>
                <a:tab pos="3311525" algn="ctr"/>
              </a:tabLst>
            </a:pPr>
            <a:r>
              <a:rPr lang="en-US" sz="2000" dirty="0">
                <a:sym typeface="Symbol" panose="05050102010706020507" pitchFamily="18" charset="2"/>
              </a:rPr>
              <a:t>		</a:t>
            </a:r>
            <a:r>
              <a:rPr lang="en-US" sz="2000" dirty="0">
                <a:sym typeface="Monotype Sorts" pitchFamily="2" charset="2"/>
              </a:rPr>
              <a:t>&lt; </a:t>
            </a:r>
            <a:r>
              <a:rPr lang="en-US" sz="2000" i="1" dirty="0">
                <a:sym typeface="Monotype Sorts" pitchFamily="2" charset="2"/>
              </a:rPr>
              <a:t>y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z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w</a:t>
            </a:r>
            <a:r>
              <a:rPr lang="en-US" sz="2000" baseline="-25000" dirty="0">
                <a:sym typeface="Monotype Sorts" pitchFamily="2" charset="2"/>
              </a:rPr>
              <a:t>2</a:t>
            </a:r>
            <a:r>
              <a:rPr lang="en-US" sz="2000" dirty="0">
                <a:sym typeface="Monotype Sorts" pitchFamily="2" charset="2"/>
              </a:rPr>
              <a:t> &gt;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and &lt; </a:t>
            </a:r>
            <a:r>
              <a:rPr lang="en-US" sz="2000" i="1" dirty="0">
                <a:sym typeface="Monotype Sorts" pitchFamily="2" charset="2"/>
              </a:rPr>
              <a:t>y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z</a:t>
            </a:r>
            <a:r>
              <a:rPr lang="en-US" sz="2000" baseline="-25000" dirty="0">
                <a:sym typeface="Monotype Sorts" pitchFamily="2" charset="2"/>
              </a:rPr>
              <a:t>2</a:t>
            </a:r>
            <a:r>
              <a:rPr lang="en-US" sz="2000" dirty="0">
                <a:sym typeface="Monotype Sorts" pitchFamily="2" charset="2"/>
              </a:rPr>
              <a:t>, </a:t>
            </a:r>
            <a:r>
              <a:rPr lang="en-US" sz="2000" i="1" dirty="0">
                <a:sym typeface="Monotype Sorts" pitchFamily="2" charset="2"/>
              </a:rPr>
              <a:t>w</a:t>
            </a:r>
            <a:r>
              <a:rPr lang="en-US" sz="2000" baseline="-25000" dirty="0">
                <a:sym typeface="Monotype Sorts" pitchFamily="2" charset="2"/>
              </a:rPr>
              <a:t>1</a:t>
            </a:r>
            <a:r>
              <a:rPr lang="en-US" sz="2000" dirty="0">
                <a:sym typeface="Monotype Sorts" pitchFamily="2" charset="2"/>
              </a:rPr>
              <a:t> &gt; </a:t>
            </a:r>
            <a:r>
              <a:rPr lang="en-US" sz="2000" dirty="0">
                <a:sym typeface="Symbol" panose="05050102010706020507" pitchFamily="18" charset="2"/>
              </a:rPr>
              <a:t>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9C065B91-A19A-4148-AA1A-A4F21C27E072}" type="slidenum">
              <a:rPr lang="en-US" smtClean="0">
                <a:solidFill>
                  <a:srgbClr val="7B9899"/>
                </a:solidFill>
              </a:rPr>
              <a:pPr/>
              <a:t>58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7987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87C500-A072-4C77-BE7C-C6E20D198CD7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06388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(Cont.)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3038" y="1579563"/>
            <a:ext cx="8672512" cy="44577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  <a:tabLst>
                <a:tab pos="2463800" algn="l"/>
              </a:tabLst>
            </a:pPr>
            <a:r>
              <a:rPr lang="en-US" sz="2000" dirty="0"/>
              <a:t>		</a:t>
            </a:r>
            <a:r>
              <a:rPr lang="en-US" sz="2000" i="1" dirty="0"/>
              <a:t>course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dirty="0">
                <a:sym typeface="Monotype Sorts" pitchFamily="2" charset="2"/>
              </a:rPr>
              <a:t> teacher	</a:t>
            </a:r>
            <a:br>
              <a:rPr lang="en-US" sz="2000" dirty="0">
                <a:sym typeface="Monotype Sorts" pitchFamily="2" charset="2"/>
              </a:rPr>
            </a:br>
            <a:r>
              <a:rPr lang="en-US" sz="2000" dirty="0">
                <a:sym typeface="Monotype Sorts" pitchFamily="2" charset="2"/>
              </a:rPr>
              <a:t>	</a:t>
            </a:r>
            <a:r>
              <a:rPr lang="en-US" sz="2000" i="1" dirty="0">
                <a:sym typeface="Monotype Sorts" pitchFamily="2" charset="2"/>
              </a:rPr>
              <a:t>course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i="1" dirty="0">
                <a:sym typeface="Monotype Sorts" pitchFamily="2" charset="2"/>
              </a:rPr>
              <a:t> book</a:t>
            </a:r>
          </a:p>
          <a:p>
            <a:pPr eaLnBrk="1" hangingPunct="1">
              <a:buFont typeface="Monotype Sorts" pitchFamily="2" charset="2"/>
              <a:buNone/>
              <a:tabLst>
                <a:tab pos="2463800" algn="l"/>
              </a:tabLst>
            </a:pPr>
            <a:endParaRPr lang="en-US" sz="2000" i="1" dirty="0">
              <a:sym typeface="Monotype Sorts" pitchFamily="2" charset="2"/>
            </a:endParaRPr>
          </a:p>
          <a:p>
            <a:pPr eaLnBrk="1" hangingPunct="1">
              <a:tabLst>
                <a:tab pos="2463800" algn="l"/>
              </a:tabLst>
            </a:pPr>
            <a:r>
              <a:rPr lang="en-US" sz="2000" dirty="0">
                <a:sym typeface="Monotype Sorts" pitchFamily="2" charset="2"/>
              </a:rPr>
              <a:t>The above formal definition is supposed to formalize the notion that is given </a:t>
            </a:r>
            <a:r>
              <a:rPr lang="en-US" sz="2000" b="1" dirty="0">
                <a:solidFill>
                  <a:srgbClr val="FF0000"/>
                </a:solidFill>
                <a:sym typeface="Monotype Sorts" pitchFamily="2" charset="2"/>
              </a:rPr>
              <a:t>a particular value of </a:t>
            </a:r>
            <a:r>
              <a:rPr lang="en-US" sz="2000" b="1" i="1" dirty="0">
                <a:solidFill>
                  <a:srgbClr val="FF0000"/>
                </a:solidFill>
                <a:sym typeface="Monotype Sorts" pitchFamily="2" charset="2"/>
              </a:rPr>
              <a:t>course</a:t>
            </a:r>
            <a:r>
              <a:rPr lang="en-US" sz="2000" dirty="0">
                <a:sym typeface="Monotype Sorts" pitchFamily="2" charset="2"/>
              </a:rPr>
              <a:t> it has associated with it </a:t>
            </a:r>
            <a:r>
              <a:rPr lang="en-US" sz="2000" b="1" dirty="0">
                <a:solidFill>
                  <a:srgbClr val="FF0000"/>
                </a:solidFill>
                <a:sym typeface="Monotype Sorts" pitchFamily="2" charset="2"/>
              </a:rPr>
              <a:t>a set of </a:t>
            </a:r>
            <a:r>
              <a:rPr lang="en-US" sz="2000" b="1" i="1" dirty="0" smtClean="0">
                <a:solidFill>
                  <a:srgbClr val="FF0000"/>
                </a:solidFill>
                <a:sym typeface="Monotype Sorts" pitchFamily="2" charset="2"/>
              </a:rPr>
              <a:t>teacher</a:t>
            </a:r>
            <a:r>
              <a:rPr lang="en-US" sz="2000" i="1" dirty="0" smtClean="0">
                <a:sym typeface="Monotype Sorts" pitchFamily="2" charset="2"/>
              </a:rPr>
              <a:t> </a:t>
            </a:r>
            <a:r>
              <a:rPr lang="en-US" sz="2000" dirty="0">
                <a:sym typeface="Monotype Sorts" pitchFamily="2" charset="2"/>
              </a:rPr>
              <a:t>and </a:t>
            </a:r>
            <a:r>
              <a:rPr lang="en-US" sz="2000" b="1" dirty="0">
                <a:solidFill>
                  <a:srgbClr val="FF0000"/>
                </a:solidFill>
                <a:sym typeface="Monotype Sorts" pitchFamily="2" charset="2"/>
              </a:rPr>
              <a:t>a set of </a:t>
            </a:r>
            <a:r>
              <a:rPr lang="en-US" sz="2000" b="1" i="1" dirty="0" smtClean="0">
                <a:solidFill>
                  <a:srgbClr val="FF0000"/>
                </a:solidFill>
                <a:sym typeface="Monotype Sorts" pitchFamily="2" charset="2"/>
              </a:rPr>
              <a:t>books</a:t>
            </a:r>
            <a:r>
              <a:rPr lang="en-US" sz="2000" b="1" dirty="0" smtClean="0">
                <a:solidFill>
                  <a:srgbClr val="FF0000"/>
                </a:solidFill>
                <a:sym typeface="Monotype Sorts" pitchFamily="2" charset="2"/>
              </a:rPr>
              <a:t>,</a:t>
            </a:r>
            <a:r>
              <a:rPr lang="en-US" sz="2000" dirty="0" smtClean="0">
                <a:sym typeface="Monotype Sorts" pitchFamily="2" charset="2"/>
              </a:rPr>
              <a:t> </a:t>
            </a:r>
            <a:r>
              <a:rPr lang="en-US" sz="2000" dirty="0">
                <a:sym typeface="Monotype Sorts" pitchFamily="2" charset="2"/>
              </a:rPr>
              <a:t>and these two sets are in some sense independent of each other.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CBBDC8FB-233F-44DD-ABF1-3D58E59FC597}" type="slidenum">
              <a:rPr lang="en-US" smtClean="0">
                <a:solidFill>
                  <a:srgbClr val="7B9899"/>
                </a:solidFill>
              </a:rPr>
              <a:pPr/>
              <a:t>59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8090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15726E-F8AB-45E0-99EE-3E4A5DD39FAD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49250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Theory of MVDs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01613" y="1560513"/>
            <a:ext cx="8537575" cy="4637087"/>
          </a:xfrm>
        </p:spPr>
        <p:txBody>
          <a:bodyPr/>
          <a:lstStyle/>
          <a:p>
            <a:pPr eaLnBrk="1" hangingPunct="1"/>
            <a:r>
              <a:rPr lang="en-US" sz="2000" dirty="0"/>
              <a:t>From the definition of multivalued dependency, we can derive the following rule:</a:t>
            </a:r>
          </a:p>
          <a:p>
            <a:pPr lvl="1" eaLnBrk="1" hangingPunct="1"/>
            <a:r>
              <a:rPr lang="en-US" sz="2000" dirty="0"/>
              <a:t>If </a:t>
            </a:r>
            <a:r>
              <a:rPr lang="en-US" sz="2000" dirty="0">
                <a:sym typeface="Symbol" panose="05050102010706020507" pitchFamily="18" charset="2"/>
              </a:rPr>
              <a:t>  </a:t>
            </a:r>
            <a:r>
              <a:rPr lang="en-US" sz="2000" dirty="0"/>
              <a:t>, then </a:t>
            </a:r>
            <a:r>
              <a:rPr lang="en-US" sz="2000" dirty="0">
                <a:sym typeface="Symbol" panose="05050102010706020507" pitchFamily="18" charset="2"/>
              </a:rPr>
              <a:t>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dirty="0">
                <a:sym typeface="Symbol" panose="05050102010706020507" pitchFamily="18" charset="2"/>
              </a:rPr>
              <a:t> </a:t>
            </a:r>
            <a:endParaRPr lang="en-US" sz="2000" dirty="0"/>
          </a:p>
          <a:p>
            <a:pPr eaLnBrk="1" hangingPunct="1">
              <a:buFont typeface="Monotype Sorts" pitchFamily="2" charset="2"/>
              <a:buNone/>
            </a:pPr>
            <a:r>
              <a:rPr lang="en-US" sz="2000" dirty="0"/>
              <a:t>	That is, every functional dependency is also a multivalued dependency</a:t>
            </a:r>
          </a:p>
          <a:p>
            <a:pPr eaLnBrk="1" hangingPunct="1">
              <a:buFont typeface="Monotype Sorts" pitchFamily="2" charset="2"/>
              <a:buNone/>
            </a:pPr>
            <a:endParaRPr lang="en-US" sz="2000" dirty="0"/>
          </a:p>
          <a:p>
            <a:pPr eaLnBrk="1" hangingPunct="1"/>
            <a:r>
              <a:rPr lang="en-US" sz="2000" dirty="0"/>
              <a:t>The </a:t>
            </a:r>
            <a:r>
              <a:rPr lang="en-US" sz="2000" b="1" dirty="0"/>
              <a:t>closure</a:t>
            </a:r>
            <a:r>
              <a:rPr lang="en-US" sz="2000" dirty="0"/>
              <a:t> D</a:t>
            </a:r>
            <a:r>
              <a:rPr lang="en-US" sz="2000" baseline="30000" dirty="0"/>
              <a:t>+</a:t>
            </a:r>
            <a:r>
              <a:rPr lang="en-US" sz="2000" dirty="0"/>
              <a:t> of </a:t>
            </a:r>
            <a:r>
              <a:rPr lang="en-US" sz="2000" i="1" dirty="0"/>
              <a:t>D</a:t>
            </a:r>
            <a:r>
              <a:rPr lang="en-US" sz="2000" dirty="0"/>
              <a:t> is the set of all functional and multivalued dependencies logically implied by </a:t>
            </a:r>
            <a:r>
              <a:rPr lang="en-US" sz="2000" i="1" dirty="0"/>
              <a:t>D</a:t>
            </a:r>
            <a:r>
              <a:rPr lang="en-US" sz="2000" dirty="0"/>
              <a:t>. </a:t>
            </a:r>
          </a:p>
          <a:p>
            <a:pPr lvl="1" eaLnBrk="1" hangingPunct="1"/>
            <a:r>
              <a:rPr lang="en-US" sz="2000" dirty="0"/>
              <a:t>We can compute D</a:t>
            </a:r>
            <a:r>
              <a:rPr lang="en-US" sz="2000" baseline="30000" dirty="0"/>
              <a:t>+</a:t>
            </a:r>
            <a:r>
              <a:rPr lang="en-US" sz="2000" dirty="0"/>
              <a:t> from </a:t>
            </a:r>
            <a:r>
              <a:rPr lang="en-US" sz="2000" i="1" dirty="0"/>
              <a:t>D</a:t>
            </a:r>
            <a:r>
              <a:rPr lang="en-US" sz="2000" dirty="0"/>
              <a:t>, using the formal definitions of functional dependencies and multivalued dependencies.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01AC1CEA-4F5F-4966-9CE4-E783A9790DA5}" type="slidenum">
              <a:rPr lang="en-US" smtClean="0">
                <a:solidFill>
                  <a:srgbClr val="7B9899"/>
                </a:solidFill>
              </a:rPr>
              <a:pPr/>
              <a:t>60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8192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2B2969-515E-4480-B483-EDB12E05D2F5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Fourth Normal Form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0663" y="1685925"/>
            <a:ext cx="8624887" cy="4070350"/>
          </a:xfrm>
        </p:spPr>
        <p:txBody>
          <a:bodyPr/>
          <a:lstStyle/>
          <a:p>
            <a:pPr eaLnBrk="1" hangingPunct="1"/>
            <a:r>
              <a:rPr lang="en-US" sz="2000" dirty="0"/>
              <a:t>A relation schema </a:t>
            </a:r>
            <a:r>
              <a:rPr lang="en-US" sz="2000" i="1" dirty="0"/>
              <a:t>R</a:t>
            </a:r>
            <a:r>
              <a:rPr lang="en-US" sz="2000" dirty="0"/>
              <a:t> is in 4NF with respect to a set </a:t>
            </a:r>
            <a:r>
              <a:rPr lang="en-US" sz="2000" i="1" dirty="0"/>
              <a:t>D</a:t>
            </a:r>
            <a:r>
              <a:rPr lang="en-US" sz="2000" dirty="0"/>
              <a:t> of functional and multivalued dependencies if for all multivalued dependencies in </a:t>
            </a:r>
            <a:r>
              <a:rPr lang="en-US" sz="2000" i="1" dirty="0"/>
              <a:t>D</a:t>
            </a:r>
            <a:r>
              <a:rPr lang="en-US" sz="2000" baseline="30000" dirty="0"/>
              <a:t>+</a:t>
            </a:r>
            <a:r>
              <a:rPr lang="en-US" sz="2000" dirty="0"/>
              <a:t> of the form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i="1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, where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 </a:t>
            </a:r>
            <a:r>
              <a:rPr lang="en-US" sz="2000" i="1" dirty="0">
                <a:sym typeface="Symbol" panose="05050102010706020507" pitchFamily="18" charset="2"/>
              </a:rPr>
              <a:t>R</a:t>
            </a:r>
            <a:r>
              <a:rPr lang="en-US" sz="2000" dirty="0">
                <a:sym typeface="Symbol" panose="05050102010706020507" pitchFamily="18" charset="2"/>
              </a:rPr>
              <a:t> and </a:t>
            </a:r>
            <a:r>
              <a:rPr lang="en-US" sz="2000" i="1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 </a:t>
            </a:r>
            <a:r>
              <a:rPr lang="en-US" sz="2000" i="1" dirty="0">
                <a:sym typeface="Symbol" panose="05050102010706020507" pitchFamily="18" charset="2"/>
              </a:rPr>
              <a:t>R, </a:t>
            </a:r>
            <a:r>
              <a:rPr lang="en-US" sz="2000" dirty="0">
                <a:sym typeface="Symbol" panose="05050102010706020507" pitchFamily="18" charset="2"/>
              </a:rPr>
              <a:t>at least one of the following hold: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b="1" dirty="0">
                <a:sym typeface="Symbol" panose="05050102010706020507" pitchFamily="18" charset="2"/>
              </a:rPr>
              <a:t></a:t>
            </a:r>
            <a:r>
              <a:rPr lang="en-US" sz="2000" i="1" dirty="0">
                <a:sym typeface="Monotype Sorts" pitchFamily="2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dirty="0">
                <a:sym typeface="Greek Symbols" pitchFamily="18" charset="2"/>
              </a:rPr>
              <a:t> is trivial (i.e., </a:t>
            </a:r>
            <a:r>
              <a:rPr lang="en-US" sz="2000" dirty="0">
                <a:sym typeface="Symbol" panose="05050102010706020507" pitchFamily="18" charset="2"/>
              </a:rPr>
              <a:t></a:t>
            </a:r>
            <a:r>
              <a:rPr lang="en-US" sz="2000" i="1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 </a:t>
            </a:r>
            <a:r>
              <a:rPr lang="en-US" sz="2000" dirty="0">
                <a:sym typeface="Greek Symbols" pitchFamily="18" charset="2"/>
              </a:rPr>
              <a:t> or </a:t>
            </a:r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 </a:t>
            </a:r>
            <a:r>
              <a:rPr lang="en-US" sz="2000" i="1" dirty="0">
                <a:sym typeface="Greek Symbols" pitchFamily="18" charset="2"/>
              </a:rPr>
              <a:t> = R)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</a:t>
            </a:r>
            <a:r>
              <a:rPr lang="en-US" sz="2000" dirty="0">
                <a:sym typeface="Greek Symbols" pitchFamily="18" charset="2"/>
              </a:rPr>
              <a:t> is a </a:t>
            </a:r>
            <a:r>
              <a:rPr lang="en-US" sz="2000" dirty="0" err="1">
                <a:sym typeface="Greek Symbols" pitchFamily="18" charset="2"/>
              </a:rPr>
              <a:t>superkey</a:t>
            </a:r>
            <a:r>
              <a:rPr lang="en-US" sz="2000" dirty="0">
                <a:sym typeface="Greek Symbols" pitchFamily="18" charset="2"/>
              </a:rPr>
              <a:t> for schema </a:t>
            </a:r>
            <a:r>
              <a:rPr lang="en-US" sz="2000" i="1" dirty="0">
                <a:sym typeface="Greek Symbols" pitchFamily="18" charset="2"/>
              </a:rPr>
              <a:t>R</a:t>
            </a:r>
          </a:p>
          <a:p>
            <a:pPr eaLnBrk="1" hangingPunct="1"/>
            <a:r>
              <a:rPr lang="en-US" sz="2000" dirty="0">
                <a:sym typeface="Greek Symbols" pitchFamily="18" charset="2"/>
              </a:rPr>
              <a:t>If a relation is in 4NF it is in BCNF</a:t>
            </a: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8D79DC09-34D8-49FA-9AA0-79139EE66ED5}" type="slidenum">
              <a:rPr lang="en-US" smtClean="0">
                <a:solidFill>
                  <a:srgbClr val="7B9899"/>
                </a:solidFill>
              </a:rPr>
              <a:pPr/>
              <a:t>61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829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D6974D-3076-4D59-8CE6-7D6BA14609F9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320675"/>
            <a:ext cx="8077200" cy="609600"/>
          </a:xfrm>
          <a:solidFill>
            <a:srgbClr val="FFFFFF"/>
          </a:solidFill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68450"/>
            <a:ext cx="8526463" cy="4660900"/>
          </a:xfrm>
        </p:spPr>
        <p:txBody>
          <a:bodyPr/>
          <a:lstStyle/>
          <a:p>
            <a:pPr eaLnBrk="1" hangingPunct="1"/>
            <a:r>
              <a:rPr lang="en-US" sz="1800" i="1"/>
              <a:t>R</a:t>
            </a:r>
            <a:r>
              <a:rPr lang="en-US" sz="1800"/>
              <a:t> =(</a:t>
            </a:r>
            <a:r>
              <a:rPr lang="en-US" sz="1800" i="1"/>
              <a:t>A, B, C, G, H, I</a:t>
            </a:r>
            <a:r>
              <a:rPr lang="en-US" sz="1800"/>
              <a:t>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1800" i="1"/>
              <a:t>	D </a:t>
            </a:r>
            <a:r>
              <a:rPr lang="en-US" sz="1800"/>
              <a:t>={ </a:t>
            </a:r>
            <a:r>
              <a:rPr lang="en-US" sz="1800" i="1"/>
              <a:t>A </a:t>
            </a:r>
            <a:r>
              <a:rPr lang="en-US" sz="1600" b="1">
                <a:sym typeface="Symbol" panose="05050102010706020507" pitchFamily="18" charset="2"/>
              </a:rPr>
              <a:t></a:t>
            </a:r>
            <a:r>
              <a:rPr lang="en-US" sz="2000">
                <a:sym typeface="Symbol" panose="05050102010706020507" pitchFamily="18" charset="2"/>
              </a:rPr>
              <a:t> </a:t>
            </a:r>
            <a:r>
              <a:rPr lang="en-US" sz="1800" i="1"/>
              <a:t>B</a:t>
            </a:r>
            <a:endParaRPr lang="en-US" sz="1800"/>
          </a:p>
          <a:p>
            <a:pPr eaLnBrk="1" hangingPunct="1">
              <a:buFont typeface="Monotype Sorts" pitchFamily="2" charset="2"/>
              <a:buNone/>
            </a:pPr>
            <a:r>
              <a:rPr lang="en-US" sz="1800" i="1"/>
              <a:t>		B</a:t>
            </a:r>
            <a:r>
              <a:rPr lang="en-US" sz="1800"/>
              <a:t> </a:t>
            </a:r>
            <a:r>
              <a:rPr lang="en-US" sz="1600" b="1">
                <a:sym typeface="Symbol" panose="05050102010706020507" pitchFamily="18" charset="2"/>
              </a:rPr>
              <a:t></a:t>
            </a:r>
            <a:r>
              <a:rPr lang="en-US" sz="1800"/>
              <a:t> </a:t>
            </a:r>
            <a:r>
              <a:rPr lang="en-US" sz="1800" i="1"/>
              <a:t>HI</a:t>
            </a:r>
            <a:endParaRPr lang="en-US" sz="1800"/>
          </a:p>
          <a:p>
            <a:pPr eaLnBrk="1" hangingPunct="1">
              <a:buFont typeface="Monotype Sorts" pitchFamily="2" charset="2"/>
              <a:buNone/>
            </a:pPr>
            <a:r>
              <a:rPr lang="en-US" sz="1800" i="1"/>
              <a:t>		CG </a:t>
            </a:r>
            <a:r>
              <a:rPr lang="en-US" sz="1600" b="1">
                <a:sym typeface="Symbol" panose="05050102010706020507" pitchFamily="18" charset="2"/>
              </a:rPr>
              <a:t></a:t>
            </a:r>
            <a:r>
              <a:rPr lang="en-US" sz="1800">
                <a:sym typeface="Symbol" panose="05050102010706020507" pitchFamily="18" charset="2"/>
              </a:rPr>
              <a:t> </a:t>
            </a:r>
            <a:r>
              <a:rPr lang="en-US" sz="1800" i="1"/>
              <a:t>H</a:t>
            </a:r>
            <a:r>
              <a:rPr lang="en-US" sz="1800"/>
              <a:t> }</a:t>
            </a:r>
          </a:p>
          <a:p>
            <a:pPr eaLnBrk="1" hangingPunct="1"/>
            <a:r>
              <a:rPr lang="en-US" sz="1800" i="1"/>
              <a:t>R</a:t>
            </a:r>
            <a:r>
              <a:rPr lang="en-US" sz="1800"/>
              <a:t> is not in 4NF since </a:t>
            </a:r>
            <a:r>
              <a:rPr lang="en-US" sz="1800" i="1"/>
              <a:t>A</a:t>
            </a:r>
            <a:r>
              <a:rPr lang="en-US" sz="1800"/>
              <a:t> </a:t>
            </a:r>
            <a:r>
              <a:rPr lang="en-US" sz="1400" b="1">
                <a:sym typeface="Symbol" panose="05050102010706020507" pitchFamily="18" charset="2"/>
              </a:rPr>
              <a:t></a:t>
            </a:r>
            <a:r>
              <a:rPr lang="en-US" sz="1800"/>
              <a:t> </a:t>
            </a:r>
            <a:r>
              <a:rPr lang="en-US" sz="1800" i="1"/>
              <a:t>B</a:t>
            </a:r>
            <a:r>
              <a:rPr lang="en-US" sz="1800"/>
              <a:t> and </a:t>
            </a:r>
            <a:r>
              <a:rPr lang="en-US" sz="1800" i="1"/>
              <a:t>A</a:t>
            </a:r>
            <a:r>
              <a:rPr lang="en-US" sz="1800"/>
              <a:t> is not a superkey for </a:t>
            </a:r>
            <a:r>
              <a:rPr lang="en-US" sz="1800" i="1"/>
              <a:t>R</a:t>
            </a:r>
            <a:endParaRPr lang="en-US" sz="1800"/>
          </a:p>
          <a:p>
            <a:pPr eaLnBrk="1" hangingPunct="1"/>
            <a:r>
              <a:rPr lang="en-US" sz="1800"/>
              <a:t>Decomposition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1800"/>
              <a:t>	a) </a:t>
            </a:r>
            <a:r>
              <a:rPr lang="en-US" sz="1800" i="1"/>
              <a:t>R</a:t>
            </a:r>
            <a:r>
              <a:rPr lang="en-US" sz="1800" i="1" baseline="-25000"/>
              <a:t>1</a:t>
            </a:r>
            <a:r>
              <a:rPr lang="en-US" sz="1800"/>
              <a:t> = (</a:t>
            </a:r>
            <a:r>
              <a:rPr lang="en-US" sz="1800" i="1"/>
              <a:t>A, B</a:t>
            </a:r>
            <a:r>
              <a:rPr lang="en-US" sz="1800"/>
              <a:t>) 			(</a:t>
            </a:r>
            <a:r>
              <a:rPr lang="en-US" sz="1800" i="1"/>
              <a:t>R</a:t>
            </a:r>
            <a:r>
              <a:rPr lang="en-US" sz="1800" i="1" baseline="-25000"/>
              <a:t>1</a:t>
            </a:r>
            <a:r>
              <a:rPr lang="en-US" sz="1800"/>
              <a:t> is in 4NF)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1800"/>
              <a:t>	b) </a:t>
            </a:r>
            <a:r>
              <a:rPr lang="en-US" sz="1800" i="1"/>
              <a:t>R</a:t>
            </a:r>
            <a:r>
              <a:rPr lang="en-US" sz="1800" baseline="-25000"/>
              <a:t>2</a:t>
            </a:r>
            <a:r>
              <a:rPr lang="en-US" sz="1800"/>
              <a:t> = (</a:t>
            </a:r>
            <a:r>
              <a:rPr lang="en-US" sz="1800" i="1"/>
              <a:t>A, C, G, H, I</a:t>
            </a:r>
            <a:r>
              <a:rPr lang="en-US" sz="1800"/>
              <a:t>)  		(</a:t>
            </a:r>
            <a:r>
              <a:rPr lang="en-US" sz="1800" i="1"/>
              <a:t>R</a:t>
            </a:r>
            <a:r>
              <a:rPr lang="en-US" sz="1800" i="1" baseline="-25000"/>
              <a:t>2</a:t>
            </a:r>
            <a:r>
              <a:rPr lang="en-US" sz="1800"/>
              <a:t> is not in 4NF)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1800"/>
              <a:t>	c) </a:t>
            </a:r>
            <a:r>
              <a:rPr lang="en-US" sz="1800" i="1"/>
              <a:t>R</a:t>
            </a:r>
            <a:r>
              <a:rPr lang="en-US" sz="1800" baseline="-25000"/>
              <a:t>3</a:t>
            </a:r>
            <a:r>
              <a:rPr lang="en-US" sz="1800"/>
              <a:t> = (</a:t>
            </a:r>
            <a:r>
              <a:rPr lang="en-US" sz="1800" i="1"/>
              <a:t>C, G, H</a:t>
            </a:r>
            <a:r>
              <a:rPr lang="en-US" sz="1800"/>
              <a:t>) 		(</a:t>
            </a:r>
            <a:r>
              <a:rPr lang="en-US" sz="1800" i="1"/>
              <a:t>R</a:t>
            </a:r>
            <a:r>
              <a:rPr lang="en-US" sz="1800" baseline="-25000"/>
              <a:t>3</a:t>
            </a:r>
            <a:r>
              <a:rPr lang="en-US" sz="1800"/>
              <a:t> is in 4NF)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1800"/>
              <a:t>	d) </a:t>
            </a:r>
            <a:r>
              <a:rPr lang="en-US" sz="1800" i="1"/>
              <a:t>R</a:t>
            </a:r>
            <a:r>
              <a:rPr lang="en-US" sz="1800" i="1" baseline="-25000"/>
              <a:t>4</a:t>
            </a:r>
            <a:r>
              <a:rPr lang="en-US" sz="1800"/>
              <a:t> = (</a:t>
            </a:r>
            <a:r>
              <a:rPr lang="en-US" sz="1800" i="1"/>
              <a:t>A, C, G, I</a:t>
            </a:r>
            <a:r>
              <a:rPr lang="en-US" sz="1800"/>
              <a:t>)  		(</a:t>
            </a:r>
            <a:r>
              <a:rPr lang="en-US" sz="1800" i="1"/>
              <a:t>R</a:t>
            </a:r>
            <a:r>
              <a:rPr lang="en-US" sz="1800" i="1" baseline="-25000"/>
              <a:t>4</a:t>
            </a:r>
            <a:r>
              <a:rPr lang="en-US" sz="1800"/>
              <a:t> is not in 4NF)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23337F4B-B24B-4CDE-B75A-7C6DE0A0476D}" type="slidenum">
              <a:rPr lang="en-US" smtClean="0">
                <a:solidFill>
                  <a:srgbClr val="7B9899"/>
                </a:solidFill>
              </a:rPr>
              <a:pPr/>
              <a:t>62</a:t>
            </a:fld>
            <a:endParaRPr lang="en-US">
              <a:solidFill>
                <a:srgbClr val="7B9899"/>
              </a:solidFill>
            </a:endParaRPr>
          </a:p>
        </p:txBody>
      </p:sp>
      <p:sp>
        <p:nvSpPr>
          <p:cNvPr id="839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sz="1200">
                <a:solidFill>
                  <a:srgbClr val="FFFFFF"/>
                </a:solidFill>
              </a:rPr>
              <a:t>Dr. Azhar, KUET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15A1BC-AD94-471F-A7E6-802764F58D8C}" type="datetime4">
              <a:rPr lang="en-US" smtClean="0"/>
              <a:t>September 11, 2025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uiExpand="1" build="p" bldLvl="2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Overall Database Design Process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277730"/>
            <a:ext cx="8534400" cy="2980951"/>
          </a:xfrm>
        </p:spPr>
        <p:txBody>
          <a:bodyPr/>
          <a:lstStyle/>
          <a:p>
            <a:r>
              <a:rPr lang="en-US" altLang="en-US" sz="2000" i="1" dirty="0"/>
              <a:t>R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may be </a:t>
            </a:r>
            <a:r>
              <a:rPr lang="en-US" altLang="en-US" sz="2000" dirty="0"/>
              <a:t>generated when converting E-R diagram to a set of tables.</a:t>
            </a:r>
          </a:p>
          <a:p>
            <a:r>
              <a:rPr lang="en-US" altLang="en-US" sz="2000" i="1" dirty="0"/>
              <a:t>R</a:t>
            </a:r>
            <a:r>
              <a:rPr lang="en-US" altLang="en-US" sz="2000" dirty="0"/>
              <a:t> may be </a:t>
            </a:r>
            <a:r>
              <a:rPr lang="en-US" altLang="en-US" sz="2000" dirty="0" smtClean="0"/>
              <a:t> a </a:t>
            </a:r>
            <a:r>
              <a:rPr lang="en-US" altLang="en-US" sz="2000" dirty="0"/>
              <a:t>single relation containing </a:t>
            </a:r>
            <a:r>
              <a:rPr lang="en-US" altLang="en-US" sz="2000" i="1" dirty="0"/>
              <a:t>all</a:t>
            </a:r>
            <a:r>
              <a:rPr lang="en-US" altLang="en-US" sz="2000" dirty="0"/>
              <a:t> attributes that are of interest (called </a:t>
            </a:r>
            <a:r>
              <a:rPr lang="en-US" altLang="en-US" sz="2000" b="1" dirty="0">
                <a:solidFill>
                  <a:srgbClr val="002060"/>
                </a:solidFill>
              </a:rPr>
              <a:t>universal relation</a:t>
            </a:r>
            <a:r>
              <a:rPr lang="en-US" altLang="en-US" sz="2000" dirty="0"/>
              <a:t>).</a:t>
            </a:r>
          </a:p>
          <a:p>
            <a:r>
              <a:rPr lang="en-US" altLang="en-US" sz="2000" i="1" dirty="0" smtClean="0"/>
              <a:t>R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may be </a:t>
            </a:r>
            <a:r>
              <a:rPr lang="en-US" altLang="en-US" sz="2000" dirty="0" smtClean="0"/>
              <a:t> the </a:t>
            </a:r>
            <a:r>
              <a:rPr lang="en-US" altLang="en-US" sz="2000" dirty="0"/>
              <a:t>result of some ad hoc design of relations, which we </a:t>
            </a:r>
            <a:r>
              <a:rPr lang="en-US" altLang="en-US" sz="2000" dirty="0" smtClean="0"/>
              <a:t> </a:t>
            </a:r>
            <a:r>
              <a:rPr lang="en-US" altLang="en-US" sz="2000" dirty="0"/>
              <a:t>test/convert to normal form</a:t>
            </a:r>
            <a:r>
              <a:rPr lang="en-US" altLang="en-US" sz="2000" dirty="0" smtClean="0"/>
              <a:t>. </a:t>
            </a:r>
          </a:p>
          <a:p>
            <a:r>
              <a:rPr lang="en-US" altLang="en-US" sz="2000"/>
              <a:t> Normalization breaks </a:t>
            </a:r>
            <a:r>
              <a:rPr lang="en-US" altLang="en-US" sz="2000" i="1"/>
              <a:t>R</a:t>
            </a:r>
            <a:r>
              <a:rPr lang="en-US" altLang="en-US" sz="2000"/>
              <a:t> into smaller relations.</a:t>
            </a:r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663418" y="1523061"/>
            <a:ext cx="7280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+mn-lt"/>
              </a:rPr>
              <a:t>We have assumed schema </a:t>
            </a:r>
            <a:r>
              <a:rPr lang="en-US" altLang="en-US" sz="2000" i="1" dirty="0">
                <a:latin typeface="+mn-lt"/>
              </a:rPr>
              <a:t>R</a:t>
            </a:r>
            <a:r>
              <a:rPr lang="en-US" altLang="en-US" sz="2000" dirty="0">
                <a:latin typeface="+mn-lt"/>
              </a:rPr>
              <a:t> is given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B82CE4-E5E2-40AF-B6B8-9F59DF3B3E78}" type="datetime4">
              <a:rPr lang="en-US" smtClean="0"/>
              <a:t>September 11,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Azhar, KUET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11C7E-4C1B-450A-9A49-37A0401F8BF8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253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27088" y="2460625"/>
            <a:ext cx="7772400" cy="1143000"/>
          </a:xfrm>
        </p:spPr>
        <p:txBody>
          <a:bodyPr/>
          <a:lstStyle/>
          <a:p>
            <a:pPr eaLnBrk="1" hangingPunct="1"/>
            <a:r>
              <a:rPr lang="en-US" sz="7200">
                <a:latin typeface="Monotype Corsiva" panose="03010101010201010101" pitchFamily="66" charset="0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6671</TotalTime>
  <Words>3651</Words>
  <Application>Microsoft Office PowerPoint</Application>
  <PresentationFormat>On-screen Show (4:3)</PresentationFormat>
  <Paragraphs>755</Paragraphs>
  <Slides>64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83" baseType="lpstr">
      <vt:lpstr>MS PGothic</vt:lpstr>
      <vt:lpstr>MS PGothic</vt:lpstr>
      <vt:lpstr>Arial</vt:lpstr>
      <vt:lpstr>Calibri</vt:lpstr>
      <vt:lpstr>Georgia</vt:lpstr>
      <vt:lpstr>Greek Symbols</vt:lpstr>
      <vt:lpstr>Helvetica</vt:lpstr>
      <vt:lpstr>Iconic Symbols Ext</vt:lpstr>
      <vt:lpstr>Monotype Corsiva</vt:lpstr>
      <vt:lpstr>Monotype Sorts</vt:lpstr>
      <vt:lpstr>MS LineDraw</vt:lpstr>
      <vt:lpstr>ＭＳ Ｐ明朝</vt:lpstr>
      <vt:lpstr>Symbol</vt:lpstr>
      <vt:lpstr>Times</vt:lpstr>
      <vt:lpstr>Times New Roman</vt:lpstr>
      <vt:lpstr>Webdings</vt:lpstr>
      <vt:lpstr>Wingdings</vt:lpstr>
      <vt:lpstr>Wingdings 2</vt:lpstr>
      <vt:lpstr>Civic</vt:lpstr>
      <vt:lpstr>Relational  Database Design</vt:lpstr>
      <vt:lpstr>Pitfalls in Relational Database Design</vt:lpstr>
      <vt:lpstr>Pitfall Example</vt:lpstr>
      <vt:lpstr>Decomposition</vt:lpstr>
      <vt:lpstr>A Lossy Decomposition</vt:lpstr>
      <vt:lpstr>Lossless Decomposition</vt:lpstr>
      <vt:lpstr>Example of Lossless Decomposition </vt:lpstr>
      <vt:lpstr>Normalization Theory</vt:lpstr>
      <vt:lpstr>Importance</vt:lpstr>
      <vt:lpstr>First Normal Form</vt:lpstr>
      <vt:lpstr>First Normal Form</vt:lpstr>
      <vt:lpstr>Functional Dependencies</vt:lpstr>
      <vt:lpstr>Functional Dependencies (Cont.)</vt:lpstr>
      <vt:lpstr>Functional Dependencies (Cont.)</vt:lpstr>
      <vt:lpstr>Functional Dependencies (Cont.)</vt:lpstr>
      <vt:lpstr>Keys and Functional Dependencies(Cont.)</vt:lpstr>
      <vt:lpstr>Functional Dependencies (Cont.)</vt:lpstr>
      <vt:lpstr>Use of Functional Dependencies</vt:lpstr>
      <vt:lpstr>Functional Dependencies (Cont.)</vt:lpstr>
      <vt:lpstr>Closure of a Set of Functional Dependencies</vt:lpstr>
      <vt:lpstr>Closure of a Set of Functional Dependencies</vt:lpstr>
      <vt:lpstr>Example</vt:lpstr>
      <vt:lpstr>Procedure for Computing F+</vt:lpstr>
      <vt:lpstr>Closure of Functional Dependencies (Cont.)</vt:lpstr>
      <vt:lpstr>Closure of Attribute Sets</vt:lpstr>
      <vt:lpstr>Example of Attribute Set Closure</vt:lpstr>
      <vt:lpstr>Uses of Attribute Closure</vt:lpstr>
      <vt:lpstr>Canonical Cover</vt:lpstr>
      <vt:lpstr>Extraneous Attributes</vt:lpstr>
      <vt:lpstr>Testing if an Attribute is Extraneous</vt:lpstr>
      <vt:lpstr>Canonical Cover</vt:lpstr>
      <vt:lpstr>Computing a Canonical Cover</vt:lpstr>
      <vt:lpstr>Goals of Normalization</vt:lpstr>
      <vt:lpstr>Boyce-Codd Normal Form</vt:lpstr>
      <vt:lpstr>Boyce-Codd Normal Form (Cont.)</vt:lpstr>
      <vt:lpstr>Decomposing a Schema into BCNF</vt:lpstr>
      <vt:lpstr>BCNF and Dependency Preservation</vt:lpstr>
      <vt:lpstr>Lossless-join Decomposition</vt:lpstr>
      <vt:lpstr>Example</vt:lpstr>
      <vt:lpstr>Dependency Preservation</vt:lpstr>
      <vt:lpstr>Testing for Dependency Preservation</vt:lpstr>
      <vt:lpstr>Example</vt:lpstr>
      <vt:lpstr>Testing for BCNF</vt:lpstr>
      <vt:lpstr>Example of BCNF Decomposition</vt:lpstr>
      <vt:lpstr>Example of BCNF Decomposition</vt:lpstr>
      <vt:lpstr>BCNF and Dependency Preservation</vt:lpstr>
      <vt:lpstr>Third Normal Form: Motivation</vt:lpstr>
      <vt:lpstr>Third Normal Form</vt:lpstr>
      <vt:lpstr>Third Normal Form</vt:lpstr>
      <vt:lpstr>3NF Example</vt:lpstr>
      <vt:lpstr>Comparison of BCNF and 3NF</vt:lpstr>
      <vt:lpstr>Design Goals</vt:lpstr>
      <vt:lpstr>Normalization performance</vt:lpstr>
      <vt:lpstr>The Normalization Solution</vt:lpstr>
      <vt:lpstr>Normalization performance</vt:lpstr>
      <vt:lpstr>Normalization</vt:lpstr>
      <vt:lpstr>Multivalued Dependencies (MVDs)</vt:lpstr>
      <vt:lpstr>Example</vt:lpstr>
      <vt:lpstr>Example (Cont.)</vt:lpstr>
      <vt:lpstr>Theory of MVDs</vt:lpstr>
      <vt:lpstr>Fourth Normal Form</vt:lpstr>
      <vt:lpstr>Example</vt:lpstr>
      <vt:lpstr>Overall Database Design Process</vt:lpstr>
      <vt:lpstr>Thank You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381</cp:revision>
  <cp:lastPrinted>1999-06-28T19:27:31Z</cp:lastPrinted>
  <dcterms:created xsi:type="dcterms:W3CDTF">2000-02-23T18:58:38Z</dcterms:created>
  <dcterms:modified xsi:type="dcterms:W3CDTF">2025-09-11T04:28:04Z</dcterms:modified>
</cp:coreProperties>
</file>